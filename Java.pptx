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62" r:id="rId4"/>
    <p:sldId id="257" r:id="rId5"/>
    <p:sldId id="258" r:id="rId6"/>
    <p:sldId id="259" r:id="rId7"/>
    <p:sldId id="260" r:id="rId8"/>
    <p:sldId id="261" r:id="rId9"/>
    <p:sldId id="263" r:id="rId10"/>
    <p:sldId id="270" r:id="rId11"/>
    <p:sldId id="271" r:id="rId12"/>
    <p:sldId id="277" r:id="rId13"/>
    <p:sldId id="264" r:id="rId14"/>
    <p:sldId id="268" r:id="rId15"/>
    <p:sldId id="267" r:id="rId16"/>
    <p:sldId id="266" r:id="rId17"/>
    <p:sldId id="265" r:id="rId18"/>
    <p:sldId id="272" r:id="rId19"/>
    <p:sldId id="275" r:id="rId20"/>
    <p:sldId id="274" r:id="rId21"/>
    <p:sldId id="273" r:id="rId22"/>
    <p:sldId id="281" r:id="rId23"/>
    <p:sldId id="280" r:id="rId24"/>
    <p:sldId id="282" r:id="rId25"/>
    <p:sldId id="279" r:id="rId26"/>
    <p:sldId id="278" r:id="rId27"/>
    <p:sldId id="283" r:id="rId28"/>
    <p:sldId id="286" r:id="rId29"/>
    <p:sldId id="285" r:id="rId30"/>
    <p:sldId id="288" r:id="rId31"/>
    <p:sldId id="284" r:id="rId32"/>
    <p:sldId id="290" r:id="rId33"/>
    <p:sldId id="289" r:id="rId34"/>
    <p:sldId id="287" r:id="rId35"/>
    <p:sldId id="292" r:id="rId36"/>
    <p:sldId id="291" r:id="rId37"/>
    <p:sldId id="295" r:id="rId38"/>
    <p:sldId id="296" r:id="rId39"/>
    <p:sldId id="294" r:id="rId40"/>
    <p:sldId id="297" r:id="rId41"/>
    <p:sldId id="293" r:id="rId42"/>
    <p:sldId id="300" r:id="rId43"/>
    <p:sldId id="301" r:id="rId44"/>
    <p:sldId id="302" r:id="rId45"/>
    <p:sldId id="299" r:id="rId46"/>
    <p:sldId id="298" r:id="rId47"/>
    <p:sldId id="304" r:id="rId48"/>
    <p:sldId id="307" r:id="rId49"/>
    <p:sldId id="308" r:id="rId50"/>
    <p:sldId id="309" r:id="rId51"/>
    <p:sldId id="306" r:id="rId52"/>
    <p:sldId id="305" r:id="rId53"/>
    <p:sldId id="312" r:id="rId54"/>
    <p:sldId id="311" r:id="rId55"/>
    <p:sldId id="310" r:id="rId56"/>
    <p:sldId id="315" r:id="rId57"/>
    <p:sldId id="316" r:id="rId58"/>
    <p:sldId id="317" r:id="rId59"/>
    <p:sldId id="314" r:id="rId60"/>
    <p:sldId id="313" r:id="rId61"/>
    <p:sldId id="319" r:id="rId62"/>
    <p:sldId id="331" r:id="rId63"/>
    <p:sldId id="322" r:id="rId64"/>
    <p:sldId id="323" r:id="rId65"/>
    <p:sldId id="324" r:id="rId66"/>
    <p:sldId id="325" r:id="rId67"/>
    <p:sldId id="326" r:id="rId68"/>
    <p:sldId id="321" r:id="rId69"/>
    <p:sldId id="328" r:id="rId70"/>
    <p:sldId id="327" r:id="rId71"/>
    <p:sldId id="329" r:id="rId72"/>
    <p:sldId id="320" r:id="rId73"/>
    <p:sldId id="333" r:id="rId74"/>
    <p:sldId id="335" r:id="rId75"/>
    <p:sldId id="334" r:id="rId76"/>
    <p:sldId id="332" r:id="rId77"/>
    <p:sldId id="337" r:id="rId78"/>
    <p:sldId id="338" r:id="rId79"/>
    <p:sldId id="339" r:id="rId80"/>
    <p:sldId id="336" r:id="rId81"/>
    <p:sldId id="342" r:id="rId82"/>
    <p:sldId id="343" r:id="rId83"/>
    <p:sldId id="346" r:id="rId84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52"/>
        <p:guide pos="282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7" Type="http://schemas.openxmlformats.org/officeDocument/2006/relationships/tableStyles" Target="tableStyles.xml"/><Relationship Id="rId86" Type="http://schemas.openxmlformats.org/officeDocument/2006/relationships/viewProps" Target="viewProps.xml"/><Relationship Id="rId85" Type="http://schemas.openxmlformats.org/officeDocument/2006/relationships/presProps" Target="presProps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8.xml"/><Relationship Id="rId4" Type="http://schemas.openxmlformats.org/officeDocument/2006/relationships/slide" Target="slide55.xml"/><Relationship Id="rId3" Type="http://schemas.openxmlformats.org/officeDocument/2006/relationships/slide" Target="slide46.xml"/><Relationship Id="rId2" Type="http://schemas.openxmlformats.org/officeDocument/2006/relationships/slide" Target="slide57.xml"/><Relationship Id="rId1" Type="http://schemas.openxmlformats.org/officeDocument/2006/relationships/slide" Target="slide4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runoob.com/java/java-variable-types.html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hyperlink" Target="https://www.runoob.com/java/java-operators.html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runoob.com/java/java-number.html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hyperlink" Target="https://www.runoob.com/java/java-character.html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runoob.com/java/java-string.html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runoob.com/java/java-stringbuffer.html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hyperlink" Target="https://www.runoob.com/java/java-files-io.html" TargetMode="External"/><Relationship Id="rId1" Type="http://schemas.openxmlformats.org/officeDocument/2006/relationships/hyperlink" Target="https://www.runoob.com/java/java-date-time.html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runoob.com/java/java-scanner-class.html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runoob.com/java/java-exceptions.html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slide" Target="slide55.xml"/><Relationship Id="rId2" Type="http://schemas.openxmlformats.org/officeDocument/2006/relationships/slide" Target="slide47.xml"/><Relationship Id="rId1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runoob.com/java/java-abstraction.html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runoob.com/java/java-reflection.html" TargetMode="Externa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runoob.com/java/java-data-structures.html" TargetMode="Externa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www.runoob.com/java/java-collections.html" TargetMode="External"/><Relationship Id="rId1" Type="http://schemas.openxmlformats.org/officeDocument/2006/relationships/image" Target="../media/image25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runoob.com/java/java-nio-file.html" TargetMode="Externa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runoob.com/java/java-networking.html" TargetMode="Externa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www.runoob.com/java/java-examples.html" TargetMode="External"/><Relationship Id="rId2" Type="http://schemas.openxmlformats.org/officeDocument/2006/relationships/hyperlink" Target="https://www.runoob.com/java/java-documentation.html" TargetMode="External"/><Relationship Id="rId1" Type="http://schemas.openxmlformats.org/officeDocument/2006/relationships/hyperlink" Target="https://www.runoob.com/java/java-applet-basics.html" TargetMode="Externa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oracle.com/java/technologies/javase/8-whats-new.html" TargetMode="Externa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360" y="2857183"/>
            <a:ext cx="8229600" cy="1143000"/>
          </a:xfrm>
        </p:spPr>
        <p:txBody>
          <a:bodyPr/>
          <a:p>
            <a:pPr algn="ctr"/>
            <a:r>
              <a:rPr lang="en-US" altLang="zh-CN"/>
              <a:t>Java</a:t>
            </a:r>
            <a:r>
              <a:rPr lang="zh-CN" altLang="en-US"/>
              <a:t>教程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11785"/>
            <a:ext cx="8229600" cy="373888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>
                <a:cs typeface="+mn-lt"/>
              </a:rPr>
              <a:t>Java</a:t>
            </a:r>
            <a:r>
              <a:rPr lang="zh-CN" altLang="en-US" sz="2000">
                <a:latin typeface="+mn-ea"/>
                <a:cs typeface="+mn-ea"/>
              </a:rPr>
              <a:t>基础语法：</a:t>
            </a:r>
            <a:endParaRPr lang="zh-CN" altLang="en-US" sz="2000">
              <a:latin typeface="+mn-ea"/>
              <a:cs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latin typeface="+mn-ea"/>
                <a:cs typeface="+mn-ea"/>
              </a:rPr>
              <a:t>一个</a:t>
            </a:r>
            <a:r>
              <a:rPr lang="en-US" altLang="zh-CN" sz="1600">
                <a:latin typeface="+mn-ea"/>
                <a:cs typeface="+mn-ea"/>
              </a:rPr>
              <a:t> Java </a:t>
            </a:r>
            <a:r>
              <a:rPr lang="zh-CN" altLang="en-US" sz="1600">
                <a:latin typeface="+mn-ea"/>
                <a:cs typeface="+mn-ea"/>
              </a:rPr>
              <a:t>程序可以认为是一系列对象的集合，而这些对象通过调用彼此的方法来协同工作。下面简要介绍下类、对象、方法和实例变量的概念。</a:t>
            </a:r>
            <a:endParaRPr lang="zh-CN" altLang="en-US" sz="16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对象：对象是类的一个实例，有状态和行为。例如，一条狗是一个对象，它的状态有：颜色、名字、品种；行为有：摇尾巴、叫、吃等。</a:t>
            </a:r>
            <a:endParaRPr lang="zh-CN" altLang="en-US" sz="16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类：类是一个模板，它描述一类对象的行为和状态。</a:t>
            </a:r>
            <a:endParaRPr lang="zh-CN" altLang="en-US" sz="16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方法：方法就是行为，</a:t>
            </a:r>
            <a:r>
              <a:rPr lang="zh-CN" altLang="en-US" sz="1600">
                <a:solidFill>
                  <a:srgbClr val="C00000"/>
                </a:solidFill>
                <a:latin typeface="+mn-ea"/>
                <a:cs typeface="+mn-ea"/>
              </a:rPr>
              <a:t>一个类可以有很多方法</a:t>
            </a:r>
            <a:r>
              <a:rPr lang="zh-CN" altLang="en-US" sz="1600">
                <a:latin typeface="+mn-ea"/>
                <a:cs typeface="+mn-ea"/>
              </a:rPr>
              <a:t>。逻辑运算、数据修改以及所有动作都是在方法中完成的。</a:t>
            </a:r>
            <a:endParaRPr lang="zh-CN" altLang="en-US" sz="16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实例变量：每个对象都有独特的实例变量，对象的状态由这些实例变量的值决定。</a:t>
            </a:r>
            <a:endParaRPr lang="zh-CN" altLang="en-US" sz="1600">
              <a:latin typeface="+mn-ea"/>
              <a:cs typeface="+mn-ea"/>
            </a:endParaRPr>
          </a:p>
        </p:txBody>
      </p:sp>
      <p:pic>
        <p:nvPicPr>
          <p:cNvPr id="4" name="图片 3" descr="屏幕截图 2026-02-05 1506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220" y="4050030"/>
            <a:ext cx="6894195" cy="22618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15595"/>
            <a:ext cx="8229600" cy="613283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2000">
                <a:latin typeface="+mn-ea"/>
                <a:cs typeface="+mn-ea"/>
              </a:rPr>
              <a:t>基本语法：</a:t>
            </a:r>
            <a:endParaRPr lang="zh-CN" altLang="en-US" sz="2000">
              <a:latin typeface="+mn-ea"/>
              <a:cs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latin typeface="+mn-ea"/>
                <a:cs typeface="+mn-ea"/>
              </a:rPr>
              <a:t>编写</a:t>
            </a:r>
            <a:r>
              <a:rPr lang="en-US" altLang="zh-CN" sz="1600">
                <a:latin typeface="+mn-ea"/>
                <a:cs typeface="+mn-ea"/>
              </a:rPr>
              <a:t> Java </a:t>
            </a:r>
            <a:r>
              <a:rPr lang="zh-CN" altLang="en-US" sz="1600">
                <a:latin typeface="+mn-ea"/>
                <a:cs typeface="+mn-ea"/>
              </a:rPr>
              <a:t>程序时，应注意以下几点：</a:t>
            </a:r>
            <a:endParaRPr lang="zh-CN" altLang="en-US" sz="16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大小写敏感：</a:t>
            </a:r>
            <a:r>
              <a:rPr lang="en-US" altLang="zh-CN" sz="1600">
                <a:solidFill>
                  <a:srgbClr val="C00000"/>
                </a:solidFill>
                <a:latin typeface="+mn-ea"/>
                <a:cs typeface="+mn-ea"/>
              </a:rPr>
              <a:t>Java </a:t>
            </a:r>
            <a:r>
              <a:rPr lang="zh-CN" altLang="en-US" sz="1600">
                <a:solidFill>
                  <a:srgbClr val="C00000"/>
                </a:solidFill>
                <a:latin typeface="+mn-ea"/>
                <a:cs typeface="+mn-ea"/>
              </a:rPr>
              <a:t>是大小写敏感的</a:t>
            </a:r>
            <a:r>
              <a:rPr lang="zh-CN" altLang="en-US" sz="1600">
                <a:latin typeface="+mn-ea"/>
                <a:cs typeface="+mn-ea"/>
              </a:rPr>
              <a:t>，这就意味着标识符</a:t>
            </a:r>
            <a:r>
              <a:rPr lang="en-US" altLang="zh-CN" sz="1600">
                <a:latin typeface="+mn-ea"/>
                <a:cs typeface="+mn-ea"/>
              </a:rPr>
              <a:t> Hello </a:t>
            </a:r>
            <a:r>
              <a:rPr lang="zh-CN" altLang="en-US" sz="1600">
                <a:latin typeface="+mn-ea"/>
                <a:cs typeface="+mn-ea"/>
              </a:rPr>
              <a:t>与</a:t>
            </a:r>
            <a:r>
              <a:rPr lang="en-US" altLang="zh-CN" sz="1600">
                <a:latin typeface="+mn-ea"/>
                <a:cs typeface="+mn-ea"/>
              </a:rPr>
              <a:t> hello </a:t>
            </a:r>
            <a:r>
              <a:rPr lang="zh-CN" altLang="en-US" sz="1600">
                <a:latin typeface="+mn-ea"/>
                <a:cs typeface="+mn-ea"/>
              </a:rPr>
              <a:t>是不同的。</a:t>
            </a:r>
            <a:endParaRPr lang="zh-CN" altLang="en-US" sz="16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类名：对于所有的类来说，</a:t>
            </a:r>
            <a:r>
              <a:rPr lang="zh-CN" altLang="en-US" sz="1600">
                <a:solidFill>
                  <a:srgbClr val="C00000"/>
                </a:solidFill>
                <a:latin typeface="+mn-ea"/>
                <a:cs typeface="+mn-ea"/>
              </a:rPr>
              <a:t>类名的首字母应该大写</a:t>
            </a:r>
            <a:r>
              <a:rPr lang="zh-CN" altLang="en-US" sz="1600">
                <a:latin typeface="+mn-ea"/>
                <a:cs typeface="+mn-ea"/>
              </a:rPr>
              <a:t>。如果类名由若干单词组成，那么每个单词的首字母应该大写，例如</a:t>
            </a:r>
            <a:r>
              <a:rPr lang="en-US" altLang="zh-CN" sz="1600">
                <a:latin typeface="+mn-ea"/>
                <a:cs typeface="+mn-ea"/>
              </a:rPr>
              <a:t> MyFirstJavaClass </a:t>
            </a:r>
            <a:r>
              <a:rPr lang="zh-CN" altLang="en-US" sz="1600">
                <a:latin typeface="+mn-ea"/>
                <a:cs typeface="+mn-ea"/>
              </a:rPr>
              <a:t>。</a:t>
            </a:r>
            <a:endParaRPr lang="zh-CN" altLang="en-US" sz="16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方法名：</a:t>
            </a:r>
            <a:r>
              <a:rPr lang="zh-CN" altLang="en-US" sz="1600">
                <a:solidFill>
                  <a:srgbClr val="C00000"/>
                </a:solidFill>
                <a:latin typeface="+mn-ea"/>
                <a:cs typeface="+mn-ea"/>
              </a:rPr>
              <a:t>所有的方法名都应该以小写字母开头</a:t>
            </a:r>
            <a:r>
              <a:rPr lang="zh-CN" altLang="en-US" sz="1600">
                <a:latin typeface="+mn-ea"/>
                <a:cs typeface="+mn-ea"/>
              </a:rPr>
              <a:t>。如果方法名含有若干单词，则后面的每个单词首字母大写。</a:t>
            </a:r>
            <a:endParaRPr lang="zh-CN" altLang="en-US" sz="16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源文件名：</a:t>
            </a:r>
            <a:r>
              <a:rPr lang="zh-CN" altLang="en-US" sz="1600">
                <a:solidFill>
                  <a:srgbClr val="C00000"/>
                </a:solidFill>
                <a:latin typeface="+mn-ea"/>
                <a:cs typeface="+mn-ea"/>
              </a:rPr>
              <a:t>源文件名必须和类名相同</a:t>
            </a:r>
            <a:r>
              <a:rPr lang="zh-CN" altLang="en-US" sz="1600">
                <a:latin typeface="+mn-ea"/>
                <a:cs typeface="+mn-ea"/>
              </a:rPr>
              <a:t>。当</a:t>
            </a:r>
            <a:r>
              <a:rPr lang="zh-CN" altLang="en-US" sz="1600">
                <a:solidFill>
                  <a:schemeClr val="tx1"/>
                </a:solidFill>
                <a:latin typeface="+mn-ea"/>
                <a:cs typeface="+mn-ea"/>
              </a:rPr>
              <a:t>保存</a:t>
            </a:r>
            <a:r>
              <a:rPr lang="zh-CN" altLang="en-US" sz="1600">
                <a:latin typeface="+mn-ea"/>
                <a:cs typeface="+mn-ea"/>
              </a:rPr>
              <a:t>文件的时候，你应该使用类名作为文件名保存（切记</a:t>
            </a:r>
            <a:r>
              <a:rPr lang="en-US" altLang="zh-CN" sz="1600">
                <a:latin typeface="+mn-ea"/>
                <a:cs typeface="+mn-ea"/>
              </a:rPr>
              <a:t> Java </a:t>
            </a:r>
            <a:r>
              <a:rPr lang="zh-CN" altLang="en-US" sz="1600">
                <a:latin typeface="+mn-ea"/>
                <a:cs typeface="+mn-ea"/>
              </a:rPr>
              <a:t>是大小写敏感的），文件名的后缀为</a:t>
            </a:r>
            <a:r>
              <a:rPr lang="en-US" altLang="zh-CN" sz="1600">
                <a:latin typeface="+mn-ea"/>
                <a:cs typeface="+mn-ea"/>
              </a:rPr>
              <a:t> .java</a:t>
            </a:r>
            <a:r>
              <a:rPr lang="zh-CN" altLang="en-US" sz="1600">
                <a:latin typeface="+mn-ea"/>
                <a:cs typeface="+mn-ea"/>
              </a:rPr>
              <a:t>。（如果文件名和类名不相同则会导致编译错误）。</a:t>
            </a:r>
            <a:endParaRPr lang="zh-CN" altLang="en-US" sz="16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主方法入口：所有的</a:t>
            </a:r>
            <a:r>
              <a:rPr lang="en-US" altLang="zh-CN" sz="1600">
                <a:latin typeface="+mn-ea"/>
                <a:cs typeface="+mn-ea"/>
              </a:rPr>
              <a:t> Java </a:t>
            </a:r>
            <a:r>
              <a:rPr lang="zh-CN" altLang="en-US" sz="1600">
                <a:latin typeface="+mn-ea"/>
                <a:cs typeface="+mn-ea"/>
              </a:rPr>
              <a:t>程序由</a:t>
            </a:r>
            <a:r>
              <a:rPr lang="en-US" altLang="zh-CN" sz="1600">
                <a:latin typeface="+mn-ea"/>
                <a:cs typeface="+mn-ea"/>
              </a:rPr>
              <a:t> public static void main(String[] args) </a:t>
            </a:r>
            <a:r>
              <a:rPr lang="zh-CN" altLang="en-US" sz="1600">
                <a:latin typeface="+mn-ea"/>
                <a:cs typeface="+mn-ea"/>
              </a:rPr>
              <a:t>方法开始执行。</a:t>
            </a:r>
            <a:endParaRPr lang="zh-CN" altLang="en-US" sz="1600">
              <a:latin typeface="+mn-ea"/>
              <a:cs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>
                <a:latin typeface="+mn-ea"/>
                <a:cs typeface="+mn-ea"/>
                <a:hlinkClick r:id="rId1" action="ppaction://hlinksldjump"/>
              </a:rPr>
              <a:t>修饰符</a:t>
            </a:r>
            <a:r>
              <a:rPr lang="zh-CN" altLang="en-US" sz="2000">
                <a:latin typeface="+mn-ea"/>
                <a:cs typeface="+mn-ea"/>
              </a:rPr>
              <a:t>：</a:t>
            </a:r>
            <a:endParaRPr lang="zh-CN" altLang="en-US" sz="20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访问控制修饰符</a:t>
            </a:r>
            <a:r>
              <a:rPr lang="en-US" altLang="zh-CN" sz="1600">
                <a:latin typeface="+mn-ea"/>
                <a:cs typeface="+mn-ea"/>
              </a:rPr>
              <a:t> : default, public , protected, private</a:t>
            </a:r>
            <a:endParaRPr lang="en-US" altLang="zh-CN" sz="16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非访问控制修饰符</a:t>
            </a:r>
            <a:r>
              <a:rPr lang="en-US" altLang="zh-CN" sz="1600">
                <a:latin typeface="+mn-ea"/>
                <a:cs typeface="+mn-ea"/>
              </a:rPr>
              <a:t> : final, abstract, static, synchronized</a:t>
            </a:r>
            <a:endParaRPr lang="en-US" altLang="zh-CN" sz="1600">
              <a:latin typeface="+mn-ea"/>
              <a:cs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600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36855"/>
            <a:ext cx="8229600" cy="635444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>
                <a:hlinkClick r:id="rId1" action="ppaction://hlinksldjump"/>
              </a:rPr>
              <a:t>Java</a:t>
            </a:r>
            <a:r>
              <a:rPr lang="zh-CN" altLang="en-US" sz="2000">
                <a:hlinkClick r:id="rId1" action="ppaction://hlinksldjump"/>
              </a:rPr>
              <a:t>变量</a:t>
            </a:r>
            <a:r>
              <a:rPr lang="zh-CN" altLang="en-US" sz="2000"/>
              <a:t>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1600"/>
              <a:t>局部变量：在方法、构造方法或者语句块中定义的变量被称为局部变量。变量声明和初始化都是在方法中，方法结束后，变量就会自动销毁。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类变量（静态变量）：类变量也声明在类中，方法体之外，但必须声明为</a:t>
            </a:r>
            <a:r>
              <a:rPr lang="en-US" altLang="zh-CN" sz="1600"/>
              <a:t> static </a:t>
            </a:r>
            <a:r>
              <a:rPr lang="zh-CN" altLang="en-US" sz="1600"/>
              <a:t>类型。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成员变量（非静态变量）：成员变量是定义在类中，方法体之外的变量。这种变量在创建对象的时候实例化。成员变量可以被类中方法、构造方法和特定类的语句块访问。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继承：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在</a:t>
            </a:r>
            <a:r>
              <a:rPr lang="en-US" altLang="zh-CN" sz="1600">
                <a:latin typeface="+mn-ea"/>
                <a:cs typeface="+mn-ea"/>
              </a:rPr>
              <a:t> Java </a:t>
            </a:r>
            <a:r>
              <a:rPr lang="zh-CN" altLang="en-US" sz="1600">
                <a:latin typeface="+mn-ea"/>
                <a:cs typeface="+mn-ea"/>
              </a:rPr>
              <a:t>中，一个类可以由其他类派生。如果你要创建一个类，而且已经存在一个类具有你所需要的属性或方法，那么你可以将新创建的类继承该类。</a:t>
            </a:r>
            <a:endParaRPr lang="zh-CN" altLang="en-US" sz="16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利用继承的方法，可以重用已存在类的方法和属性，而不用重写这些代码。被继承的类称为超类（</a:t>
            </a:r>
            <a:r>
              <a:rPr lang="en-US" altLang="zh-CN" sz="1600">
                <a:latin typeface="+mn-ea"/>
                <a:cs typeface="+mn-ea"/>
              </a:rPr>
              <a:t>super class</a:t>
            </a:r>
            <a:r>
              <a:rPr lang="zh-CN" altLang="en-US" sz="1600">
                <a:latin typeface="+mn-ea"/>
                <a:cs typeface="+mn-ea"/>
              </a:rPr>
              <a:t>），派生类称为子类（</a:t>
            </a:r>
            <a:r>
              <a:rPr lang="en-US" altLang="zh-CN" sz="1600">
                <a:latin typeface="+mn-ea"/>
                <a:cs typeface="+mn-ea"/>
              </a:rPr>
              <a:t>sub class</a:t>
            </a:r>
            <a:r>
              <a:rPr lang="zh-CN" altLang="en-US" sz="1600">
                <a:latin typeface="+mn-ea"/>
                <a:cs typeface="+mn-ea"/>
              </a:rPr>
              <a:t>）。</a:t>
            </a:r>
            <a:endParaRPr lang="zh-CN" altLang="en-US" sz="1600">
              <a:latin typeface="+mn-ea"/>
              <a:cs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>
                <a:latin typeface="+mn-ea"/>
                <a:cs typeface="+mn-ea"/>
              </a:rPr>
              <a:t>接口：</a:t>
            </a:r>
            <a:endParaRPr lang="zh-CN" altLang="en-US" sz="20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在</a:t>
            </a:r>
            <a:r>
              <a:rPr lang="en-US" altLang="zh-CN" sz="1600">
                <a:latin typeface="+mn-ea"/>
                <a:cs typeface="+mn-ea"/>
              </a:rPr>
              <a:t> Java </a:t>
            </a:r>
            <a:r>
              <a:rPr lang="zh-CN" altLang="en-US" sz="1600">
                <a:latin typeface="+mn-ea"/>
                <a:cs typeface="+mn-ea"/>
              </a:rPr>
              <a:t>中，接口可理解为对象间相互通信的协议。接口在继承中扮演着很重要的角色。</a:t>
            </a:r>
            <a:endParaRPr lang="zh-CN" altLang="en-US" sz="16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接口只定义派生要用到的方法，但是方法的具体实现完全取决于派生类。</a:t>
            </a:r>
            <a:endParaRPr lang="zh-CN" altLang="en-US" sz="1600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800" y="294640"/>
            <a:ext cx="8244840" cy="588835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注释：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+mn-ea"/>
                <a:cs typeface="+mn-ea"/>
              </a:rPr>
              <a:t>单行注释：单行注释以双斜杠</a:t>
            </a:r>
            <a:r>
              <a:rPr lang="en-US" altLang="zh-CN" sz="1600">
                <a:latin typeface="+mn-ea"/>
                <a:cs typeface="+mn-ea"/>
              </a:rPr>
              <a:t>//</a:t>
            </a:r>
            <a:r>
              <a:rPr lang="zh-CN" altLang="en-US" sz="1600">
                <a:latin typeface="+mn-ea"/>
                <a:cs typeface="+mn-ea"/>
              </a:rPr>
              <a:t>开始</a:t>
            </a:r>
            <a:endParaRPr lang="zh-CN" altLang="en-US" sz="160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/>
              <a:t>多行注释：多行注释以</a:t>
            </a:r>
            <a:r>
              <a:rPr lang="en-US" altLang="zh-CN" sz="1600"/>
              <a:t> /*</a:t>
            </a:r>
            <a:r>
              <a:rPr lang="zh-CN" altLang="en-US" sz="1600"/>
              <a:t>开始，以</a:t>
            </a:r>
            <a:r>
              <a:rPr lang="en-US" altLang="zh-CN" sz="1600"/>
              <a:t> */</a:t>
            </a:r>
            <a:r>
              <a:rPr lang="zh-CN" altLang="en-US" sz="1600"/>
              <a:t>结束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文档注释：文档注释以</a:t>
            </a:r>
            <a:r>
              <a:rPr lang="en-US" altLang="zh-CN" sz="1600"/>
              <a:t> /** </a:t>
            </a:r>
            <a:r>
              <a:rPr lang="zh-CN" altLang="en-US" sz="1600"/>
              <a:t>开始，以</a:t>
            </a:r>
            <a:r>
              <a:rPr lang="en-US" altLang="zh-CN" sz="1600"/>
              <a:t> */ </a:t>
            </a:r>
            <a:r>
              <a:rPr lang="zh-CN" altLang="en-US" sz="1600"/>
              <a:t>结束，通常出现在类、方法、字段等的声明前面，用于生成代码文档，这种注释可以被工具提取并生成</a:t>
            </a:r>
            <a:r>
              <a:rPr lang="en-US" altLang="zh-CN" sz="1600"/>
              <a:t> API </a:t>
            </a:r>
            <a:r>
              <a:rPr lang="zh-CN" altLang="en-US" sz="1600"/>
              <a:t>文档，如</a:t>
            </a:r>
            <a:r>
              <a:rPr lang="en-US" altLang="zh-CN" sz="1600"/>
              <a:t> JavaDoc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注：文档注释的格式通常包含一些特定的标签，如</a:t>
            </a:r>
            <a:r>
              <a:rPr lang="en-US" altLang="zh-CN" sz="1600"/>
              <a:t> @param </a:t>
            </a:r>
            <a:r>
              <a:rPr lang="zh-CN" altLang="en-US" sz="1600"/>
              <a:t>用于描述方法参数，</a:t>
            </a:r>
            <a:r>
              <a:rPr lang="en-US" altLang="zh-CN" sz="1600"/>
              <a:t>@return </a:t>
            </a:r>
            <a:r>
              <a:rPr lang="zh-CN" altLang="en-US" sz="1600"/>
              <a:t>用于描述返回值，</a:t>
            </a:r>
            <a:r>
              <a:rPr lang="en-US" altLang="zh-CN" sz="1600"/>
              <a:t>@throws </a:t>
            </a:r>
            <a:r>
              <a:rPr lang="zh-CN" altLang="en-US" sz="1600"/>
              <a:t>用于描述可能抛出的异常等等，这些标签有助于生成清晰的</a:t>
            </a:r>
            <a:r>
              <a:rPr lang="en-US" altLang="zh-CN" sz="1600"/>
              <a:t>API</a:t>
            </a:r>
            <a:r>
              <a:rPr lang="zh-CN" altLang="en-US" sz="1600"/>
              <a:t>文档，以便其他开发者能够更好地理解和使用你的代码。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457200">
              <a:lnSpc>
                <a:spcPct val="150000"/>
              </a:lnSpc>
              <a:buNone/>
            </a:pPr>
            <a:endParaRPr lang="zh-C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39115"/>
            <a:ext cx="8229600" cy="460692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</a:t>
            </a:r>
            <a:r>
              <a:rPr lang="zh-CN" altLang="en-US" sz="2000"/>
              <a:t>作为一种面向对象的编程语言，支持以下基本概念：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1600"/>
              <a:t>类（</a:t>
            </a:r>
            <a:r>
              <a:rPr lang="en-US" altLang="zh-CN" sz="1600"/>
              <a:t>Class</a:t>
            </a:r>
            <a:r>
              <a:rPr lang="zh-CN" altLang="en-US" sz="1600"/>
              <a:t>）：定义对象的蓝图，包括属性和方法。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对象（</a:t>
            </a:r>
            <a:r>
              <a:rPr lang="en-US" altLang="zh-CN" sz="1600"/>
              <a:t>Object</a:t>
            </a:r>
            <a:r>
              <a:rPr lang="zh-CN" altLang="en-US" sz="1600"/>
              <a:t>）：类的实例，具有状态和行为。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>
                <a:hlinkClick r:id="rId1" action="ppaction://hlinksldjump"/>
              </a:rPr>
              <a:t>继承</a:t>
            </a:r>
            <a:r>
              <a:rPr lang="zh-CN" altLang="en-US" sz="1600"/>
              <a:t>（</a:t>
            </a:r>
            <a:r>
              <a:rPr lang="en-US" altLang="zh-CN" sz="1600"/>
              <a:t>Inheritance</a:t>
            </a:r>
            <a:r>
              <a:rPr lang="zh-CN" altLang="en-US" sz="1600"/>
              <a:t>）：一个类可以继承另一个类的属性和方法。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>
                <a:hlinkClick r:id="rId2" action="ppaction://hlinksldjump"/>
              </a:rPr>
              <a:t>封装</a:t>
            </a:r>
            <a:r>
              <a:rPr lang="zh-CN" altLang="en-US" sz="1600"/>
              <a:t>（</a:t>
            </a:r>
            <a:r>
              <a:rPr lang="en-US" altLang="zh-CN" sz="1600"/>
              <a:t>Encapsulation</a:t>
            </a:r>
            <a:r>
              <a:rPr lang="zh-CN" altLang="en-US" sz="1600"/>
              <a:t>）：将对象的状态（字段）私有化，通过公共方法访问。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>
                <a:hlinkClick r:id="rId3" action="ppaction://hlinksldjump"/>
              </a:rPr>
              <a:t>多态</a:t>
            </a:r>
            <a:r>
              <a:rPr lang="zh-CN" altLang="en-US" sz="1600"/>
              <a:t>（</a:t>
            </a:r>
            <a:r>
              <a:rPr lang="en-US" altLang="zh-CN" sz="1600"/>
              <a:t>Polymorphism</a:t>
            </a:r>
            <a:r>
              <a:rPr lang="zh-CN" altLang="en-US" sz="1600"/>
              <a:t>）：对象可以表现为多种形态，主要通过方法重载和方法重写实现。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>
                <a:hlinkClick r:id="rId4" action="ppaction://hlinksldjump"/>
              </a:rPr>
              <a:t>抽象</a:t>
            </a:r>
            <a:r>
              <a:rPr lang="zh-CN" altLang="en-US" sz="1600"/>
              <a:t>（</a:t>
            </a:r>
            <a:r>
              <a:rPr lang="en-US" altLang="zh-CN" sz="1600"/>
              <a:t>Abstraction</a:t>
            </a:r>
            <a:r>
              <a:rPr lang="zh-CN" altLang="en-US" sz="1600"/>
              <a:t>）：使用抽象类和接口来定义必须实现的方法，不提供具体实现。</a:t>
            </a:r>
            <a:endParaRPr lang="zh-CN" altLang="en-US" sz="1600" b="1"/>
          </a:p>
          <a:p>
            <a:pPr>
              <a:lnSpc>
                <a:spcPct val="150000"/>
              </a:lnSpc>
            </a:pPr>
            <a:r>
              <a:rPr lang="zh-CN" altLang="en-US" sz="1600">
                <a:hlinkClick r:id="" action="ppaction://noaction"/>
              </a:rPr>
              <a:t>接口</a:t>
            </a:r>
            <a:r>
              <a:rPr lang="zh-CN" altLang="en-US" sz="1600"/>
              <a:t>（</a:t>
            </a:r>
            <a:r>
              <a:rPr lang="en-US" altLang="zh-CN" sz="1600"/>
              <a:t>Interface</a:t>
            </a:r>
            <a:r>
              <a:rPr lang="zh-CN" altLang="en-US" sz="1600"/>
              <a:t>）：定义类必须实现的方法，支持多重继承。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>
                <a:hlinkClick r:id="rId5" action="ppaction://hlinksldjump"/>
              </a:rPr>
              <a:t>方法（</a:t>
            </a:r>
            <a:r>
              <a:rPr lang="en-US" altLang="zh-CN" sz="1600">
                <a:hlinkClick r:id="rId5" action="ppaction://hlinksldjump"/>
              </a:rPr>
              <a:t>Method</a:t>
            </a:r>
            <a:r>
              <a:rPr lang="zh-CN" altLang="en-US" sz="1600">
                <a:hlinkClick r:id="rId5" action="ppaction://hlinksldjump"/>
              </a:rPr>
              <a:t>）</a:t>
            </a:r>
            <a:r>
              <a:rPr lang="zh-CN" altLang="en-US" sz="1600"/>
              <a:t>：定义类的行为，包含在类中的函数。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>
                <a:hlinkClick r:id="rId6" action="ppaction://hlinksldjump"/>
              </a:rPr>
              <a:t>方法重载（</a:t>
            </a:r>
            <a:r>
              <a:rPr lang="en-US" altLang="zh-CN" sz="1600">
                <a:hlinkClick r:id="rId6" action="ppaction://hlinksldjump"/>
              </a:rPr>
              <a:t>Method Overloading</a:t>
            </a:r>
            <a:r>
              <a:rPr lang="zh-CN" altLang="en-US" sz="1600">
                <a:hlinkClick r:id="rId6" action="ppaction://hlinksldjump"/>
              </a:rPr>
              <a:t>）</a:t>
            </a:r>
            <a:r>
              <a:rPr lang="zh-CN" altLang="en-US" sz="1600"/>
              <a:t>：同一个类中可以有多个同名的方法，但参数不同。</a:t>
            </a: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3695"/>
            <a:ext cx="8229600" cy="601472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对象与类：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1600"/>
              <a:t>对象：对象是类的一个实例，有状态和行为。例如，一条狗是一个对象，它的状态有：颜色、名字、品种；行为有：摇尾巴、叫、吃等。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类：类是一个模板，它描述一类对象的行为和状态。</a:t>
            </a:r>
            <a:endParaRPr lang="zh-CN" altLang="en-US" sz="1600"/>
          </a:p>
          <a:p>
            <a:pPr>
              <a:lnSpc>
                <a:spcPct val="150000"/>
              </a:lnSpc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Java</a:t>
            </a:r>
            <a:r>
              <a:rPr lang="zh-CN" altLang="en-US" sz="1600"/>
              <a:t>中的对象：软件对象也有状态和行为。软件对象的状态就是属性，行为通过方法体现。在软件开发中，方法操作对象内部状态的改变，对象的相互调用也是通过方法来完成。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Java</a:t>
            </a:r>
            <a:r>
              <a:rPr lang="zh-CN" altLang="en-US" sz="1600"/>
              <a:t>中的类：一个类可以包含以下类型变量（一个类可以拥有多个方法）：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>
                <a:sym typeface="+mn-ea"/>
              </a:rPr>
              <a:t>局部变量：在方法、构造方法或者语句块中定义的变量被称为局部变量。变量声明和初始化都是在方法中，方法结束后，变量就会自动销毁。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>
                <a:sym typeface="+mn-ea"/>
              </a:rPr>
              <a:t>类变量（静态变量）：类变量也声明在类中，方法体之外，但必须声明为</a:t>
            </a:r>
            <a:r>
              <a:rPr lang="en-US" altLang="zh-CN" sz="1600">
                <a:sym typeface="+mn-ea"/>
              </a:rPr>
              <a:t> static </a:t>
            </a:r>
            <a:r>
              <a:rPr lang="zh-CN" altLang="en-US" sz="1600">
                <a:sym typeface="+mn-ea"/>
              </a:rPr>
              <a:t>类型。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>
                <a:sym typeface="+mn-ea"/>
              </a:rPr>
              <a:t>成员变量（非静态变量）：成员变量是定义在类中，方法体之外的变量。这种变量在创建对象的时候实例化。成员变量可以被类中方法、构造方法和特定类的语句块访问。</a:t>
            </a:r>
            <a:endParaRPr lang="zh-CN" alt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3695"/>
            <a:ext cx="8229600" cy="6216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方法：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Java</a:t>
            </a:r>
            <a:r>
              <a:rPr lang="zh-CN" altLang="en-US" sz="1600"/>
              <a:t>方法是语句的集合，它们在一起执行一个功能。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方法是解决一类问题的步骤的有序组合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方法包含于类或对象中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方法在程序中被创建，在其他地方被引用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优点：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使程序变得更简短而清晰。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有利于程序维护。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可以提高程序开发的效率。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en-US" altLang="zh-CN" sz="1600"/>
              <a:t> </a:t>
            </a:r>
            <a:r>
              <a:rPr lang="zh-CN" altLang="en-US" sz="1600"/>
              <a:t>提高了代码的重用性。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命名</a:t>
            </a:r>
            <a:r>
              <a:rPr lang="zh-CN" altLang="en-US" sz="1600"/>
              <a:t>规则：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方法的名字的第一个单词应以小写字母作为开头，后面的单词则用大写字母开头写，不使用连接符。例如：</a:t>
            </a:r>
            <a:r>
              <a:rPr lang="en-US" altLang="zh-CN" sz="1600"/>
              <a:t>addPerson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下划线可能出现在</a:t>
            </a:r>
            <a:r>
              <a:rPr lang="en-US" altLang="zh-CN" sz="1600"/>
              <a:t> JUnit </a:t>
            </a:r>
            <a:r>
              <a:rPr lang="zh-CN" altLang="en-US" sz="1600"/>
              <a:t>测试方法名称中用以分隔名称的逻辑组件。一个典型的模式是：</a:t>
            </a:r>
            <a:r>
              <a:rPr lang="en-US" altLang="zh-CN" sz="1600"/>
              <a:t>test&lt;MethodUnderTest&gt;_&lt;state&gt;</a:t>
            </a:r>
            <a:r>
              <a:rPr lang="zh-CN" altLang="en-US" sz="1600"/>
              <a:t>，例如</a:t>
            </a:r>
            <a:r>
              <a:rPr lang="en-US" altLang="zh-CN" sz="1600"/>
              <a:t> testPop_emptyStack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3695"/>
            <a:ext cx="8229600" cy="39433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方法定义：方法包含一个方法头和一个方法体。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修饰符：修饰符，这是可选的，告诉编译器如何调用该方法。定义了该方法的访问类型。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返回值类型</a:t>
            </a:r>
            <a:r>
              <a:rPr lang="en-US" altLang="zh-CN" sz="1600"/>
              <a:t> </a:t>
            </a:r>
            <a:r>
              <a:rPr lang="zh-CN" altLang="en-US" sz="1600"/>
              <a:t>：方法可能会返回值。</a:t>
            </a:r>
            <a:r>
              <a:rPr lang="en-US" altLang="zh-CN" sz="1600"/>
              <a:t>returnValueType </a:t>
            </a:r>
            <a:r>
              <a:rPr lang="zh-CN" altLang="en-US" sz="1600"/>
              <a:t>是方法返回值的数据类型。有些方法执行所需的操作，但没有返回值。在这种情况下，</a:t>
            </a:r>
            <a:r>
              <a:rPr lang="en-US" altLang="zh-CN" sz="1600"/>
              <a:t>returnValueType </a:t>
            </a:r>
            <a:r>
              <a:rPr lang="zh-CN" altLang="en-US" sz="1600"/>
              <a:t>是关键字</a:t>
            </a:r>
            <a:r>
              <a:rPr lang="en-US" altLang="zh-CN" sz="1600"/>
              <a:t>void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方法名：是方法的实际名称。方法名和参数表共同构成方法签名。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参数类型：参数像是一个占位符。当方法被调用时，传递值给参数。这个值被称为实参或变量。参数列表是指方法的参数类型、顺序和参数的个数。参数是可选的，方法可以不包含任何参数。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方法体：方法体包含具体的语句，定义该方法的功能。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  <p:pic>
        <p:nvPicPr>
          <p:cNvPr id="2" name="图片 1" descr="屏幕截图 2026-02-06 1619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268" y="4296728"/>
            <a:ext cx="4650105" cy="2266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3695"/>
            <a:ext cx="8229600" cy="620585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方法</a:t>
            </a:r>
            <a:r>
              <a:rPr lang="zh-CN" altLang="en-US" sz="1600"/>
              <a:t>调用：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Java </a:t>
            </a:r>
            <a:r>
              <a:rPr lang="zh-CN" altLang="en-US" sz="1600"/>
              <a:t>支持两种调用方法的方式，根据方法是否返回值来选择。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当方法返回一个值的时候，方法调用通常被当做一个值。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如果方法返回值是</a:t>
            </a:r>
            <a:r>
              <a:rPr lang="en-US" altLang="zh-CN" sz="1600"/>
              <a:t>void</a:t>
            </a:r>
            <a:r>
              <a:rPr lang="zh-CN" altLang="en-US" sz="1600"/>
              <a:t>，方法调用一定是一条语句。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方法重载（详情可见</a:t>
            </a:r>
            <a:r>
              <a:rPr lang="zh-CN" altLang="en-US" sz="1600">
                <a:hlinkClick r:id="rId1" action="ppaction://hlinksldjump"/>
              </a:rPr>
              <a:t>构造方法的重载</a:t>
            </a:r>
            <a:r>
              <a:rPr lang="zh-CN" altLang="en-US" sz="1600"/>
              <a:t>）：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方法重载可以让程序更清晰易读。执行密切相关任务的方法应该使用相同的名字。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重载的方法必须拥有不同的参数列表。你不能仅仅依据修饰符或者返回类型的不同来重载方法。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变量作用域：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变量的范围是程序中该变量可以被引用的部分。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方法内定义的变量被称为局部变量。</a:t>
            </a:r>
            <a:r>
              <a:rPr lang="zh-CN" altLang="en-US" sz="1600">
                <a:sym typeface="+mn-ea"/>
              </a:rPr>
              <a:t>局部变量必须声明才可以使用。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局部变量的作用范围从声明开始，直到包含它的块结束。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方法的参数范围涵盖整个方法。参数实际上是一个局部变量。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zh-CN" sz="1600"/>
              <a:t>for</a:t>
            </a:r>
            <a:r>
              <a:rPr lang="zh-CN" altLang="en-US" sz="1600"/>
              <a:t>循环的初始化部分声明的变量，其作用范围在整个循环。但循环体内声明的变量其适用范围是从它声明到循环体结束。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2255"/>
            <a:ext cx="8229600" cy="6297295"/>
          </a:xfrm>
        </p:spPr>
        <p:txBody>
          <a:bodyPr/>
          <a:p>
            <a:pPr marL="0" indent="0">
              <a:buNone/>
            </a:pPr>
            <a:r>
              <a:rPr lang="zh-CN" altLang="en-US" sz="2000"/>
              <a:t>构造方法：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rgbClr val="C00000"/>
                </a:solidFill>
              </a:rPr>
              <a:t>在</a:t>
            </a:r>
            <a:r>
              <a:rPr lang="en-US" altLang="zh-CN" sz="1600">
                <a:solidFill>
                  <a:srgbClr val="C00000"/>
                </a:solidFill>
              </a:rPr>
              <a:t> Java </a:t>
            </a:r>
            <a:r>
              <a:rPr lang="zh-CN" altLang="en-US" sz="1600">
                <a:solidFill>
                  <a:srgbClr val="C00000"/>
                </a:solidFill>
              </a:rPr>
              <a:t>中，构造方法（</a:t>
            </a:r>
            <a:r>
              <a:rPr lang="en-US" altLang="zh-CN" sz="1600">
                <a:solidFill>
                  <a:srgbClr val="C00000"/>
                </a:solidFill>
              </a:rPr>
              <a:t>Constructor</a:t>
            </a:r>
            <a:r>
              <a:rPr lang="zh-CN" altLang="en-US" sz="1600">
                <a:solidFill>
                  <a:srgbClr val="C00000"/>
                </a:solidFill>
              </a:rPr>
              <a:t>）是用于创建类的对象的特殊方法</a:t>
            </a:r>
            <a:r>
              <a:rPr lang="zh-CN" altLang="en-US" sz="2000"/>
              <a:t>。</a:t>
            </a:r>
            <a:r>
              <a:rPr lang="zh-CN" altLang="en-US" sz="1600"/>
              <a:t>当使用</a:t>
            </a:r>
            <a:r>
              <a:rPr lang="en-US" altLang="zh-CN" sz="1600"/>
              <a:t> new </a:t>
            </a:r>
            <a:r>
              <a:rPr lang="zh-CN" altLang="en-US" sz="1600"/>
              <a:t>关键字创建对象时，构造方法会自动调用，用来初始化对象的属性。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rgbClr val="C00000"/>
                </a:solidFill>
              </a:rPr>
              <a:t>构造方法具有以下几个特点：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与类名相同：构造方法的名称必须与类名完全一致，包括大小写。这是构造方法的一个基本要求。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没有返回类型：构造方法没有返回类型声明，即使是</a:t>
            </a:r>
            <a:r>
              <a:rPr lang="en-US" altLang="zh-CN" sz="1600"/>
              <a:t> void </a:t>
            </a:r>
            <a:r>
              <a:rPr lang="zh-CN" altLang="en-US" sz="1600"/>
              <a:t>也不写。这使得它与普通方法区分开来。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自动调用：每次使用</a:t>
            </a:r>
            <a:r>
              <a:rPr lang="en-US" altLang="zh-CN" sz="1600"/>
              <a:t> new </a:t>
            </a:r>
            <a:r>
              <a:rPr lang="zh-CN" altLang="en-US" sz="1600"/>
              <a:t>创建对象时，构造方法会自动调用，以初始化对象的属性和状态。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不能直接调用：构造方法只能通过</a:t>
            </a:r>
            <a:r>
              <a:rPr lang="en-US" altLang="zh-CN" sz="1600"/>
              <a:t> new </a:t>
            </a:r>
            <a:r>
              <a:rPr lang="zh-CN" altLang="en-US" sz="1600"/>
              <a:t>关键字在创建对象时调用，不能像普通方法那样直接调用。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支持重载：可以为一个类定义多个构造方法，只要它们的参数列表不同。通过重载，可以创建不同的构造方法以适应不同的初始化需求。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默认构造方法：如果没有定义任何构造方法，</a:t>
            </a:r>
            <a:r>
              <a:rPr lang="en-US" altLang="zh-CN" sz="1600"/>
              <a:t>Java </a:t>
            </a:r>
            <a:r>
              <a:rPr lang="zh-CN" altLang="en-US" sz="1600"/>
              <a:t>会提供一个无参的默认构造方法。但一旦定义了任何其他构造方法，</a:t>
            </a:r>
            <a:r>
              <a:rPr lang="en-US" altLang="zh-CN" sz="1600"/>
              <a:t>Java </a:t>
            </a:r>
            <a:r>
              <a:rPr lang="zh-CN" altLang="en-US" sz="1600"/>
              <a:t>不再提供默认构造方法。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2255"/>
            <a:ext cx="8229600" cy="6231255"/>
          </a:xfrm>
        </p:spPr>
        <p:txBody>
          <a:bodyPr/>
          <a:p>
            <a:pPr>
              <a:lnSpc>
                <a:spcPct val="150000"/>
              </a:lnSpc>
            </a:pPr>
            <a:r>
              <a:rPr lang="en-US" altLang="zh-CN" sz="1600"/>
              <a:t>this </a:t>
            </a:r>
            <a:r>
              <a:rPr lang="zh-CN" altLang="en-US" sz="1600"/>
              <a:t>关键字的使用：在构造方法中可以使用</a:t>
            </a:r>
            <a:r>
              <a:rPr lang="en-US" altLang="zh-CN" sz="1600"/>
              <a:t> this </a:t>
            </a:r>
            <a:r>
              <a:rPr lang="zh-CN" altLang="en-US" sz="1600"/>
              <a:t>来引用当前对象的属性、方法，或调用另一个构造方法（必须是构造方法的第一行），以避免重复代码。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不能被继承，但可以被调用：构造方法不能被子类继承，但子类可以使用</a:t>
            </a:r>
            <a:r>
              <a:rPr lang="en-US" altLang="zh-CN" sz="1600"/>
              <a:t> super() </a:t>
            </a:r>
            <a:r>
              <a:rPr lang="zh-CN" altLang="en-US" sz="1600"/>
              <a:t>来调用父类的构造方法，以便初始化继承的属性。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对象初始化保障：构造方法的主要作用是初始化对象的属性和状态，保证对象在创建时处于一个合法的初始状态。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rgbClr val="C00000"/>
                </a:solidFill>
              </a:rPr>
              <a:t>构造方法的作用</a:t>
            </a:r>
            <a:r>
              <a:rPr lang="zh-CN" altLang="en-US" sz="1600">
                <a:solidFill>
                  <a:schemeClr val="tx1"/>
                </a:solidFill>
              </a:rPr>
              <a:t>：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/>
              <a:t>初始化对象属性：构造方法的主要作用是为对象的属性赋初值。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保证对象初始化的完整性：在构造方法中可以设置默认值或必要参数，从而避免对象未完全初始化的问题。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chemeClr val="tx1"/>
                </a:solidFill>
              </a:rPr>
              <a:t>构造方法的类型：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/>
              <a:t>无参构造方法（默认构造方法）：如果一个类中没有定义任何构造方法，</a:t>
            </a:r>
            <a:r>
              <a:rPr lang="en-US" altLang="zh-CN" sz="1600"/>
              <a:t>Java </a:t>
            </a:r>
            <a:r>
              <a:rPr lang="zh-CN" altLang="en-US" sz="1600"/>
              <a:t>会默认提供一个无参构造方法。</a:t>
            </a:r>
            <a:r>
              <a:rPr lang="zh-CN" altLang="en-US" sz="1600">
                <a:solidFill>
                  <a:srgbClr val="C00000"/>
                </a:solidFill>
              </a:rPr>
              <a:t>一旦定义了其他构造方法，</a:t>
            </a:r>
            <a:r>
              <a:rPr lang="en-US" altLang="zh-CN" sz="1600">
                <a:solidFill>
                  <a:srgbClr val="C00000"/>
                </a:solidFill>
              </a:rPr>
              <a:t>Java </a:t>
            </a:r>
            <a:r>
              <a:rPr lang="zh-CN" altLang="en-US" sz="1600">
                <a:solidFill>
                  <a:srgbClr val="C00000"/>
                </a:solidFill>
              </a:rPr>
              <a:t>将不再提供默认构造方法。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有参构造方法：可以定义带有参数的构造方法，用来在创建对象时为属性赋值。</a:t>
            </a:r>
            <a:r>
              <a:rPr lang="zh-CN" altLang="en-US" sz="1600">
                <a:solidFill>
                  <a:srgbClr val="C00000"/>
                </a:solidFill>
              </a:rPr>
              <a:t>调用有参构造方法时，可以为对象的属性进行初始化。</a:t>
            </a:r>
            <a:endParaRPr lang="zh-CN" altLang="en-US" sz="16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2255"/>
            <a:ext cx="8229600" cy="642620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rgbClr val="C00000"/>
                </a:solidFill>
              </a:rPr>
              <a:t>如何创建对象：</a:t>
            </a:r>
            <a:endParaRPr lang="zh-CN" altLang="en-US" sz="1600">
              <a:solidFill>
                <a:srgbClr val="C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rgbClr val="C00000"/>
                </a:solidFill>
              </a:rPr>
              <a:t>对象是根据类创建的。在</a:t>
            </a:r>
            <a:r>
              <a:rPr lang="en-US" altLang="zh-CN" sz="1600">
                <a:solidFill>
                  <a:srgbClr val="C00000"/>
                </a:solidFill>
              </a:rPr>
              <a:t>Java</a:t>
            </a:r>
            <a:r>
              <a:rPr lang="zh-CN" altLang="en-US" sz="1600">
                <a:solidFill>
                  <a:srgbClr val="C00000"/>
                </a:solidFill>
              </a:rPr>
              <a:t>中，使用关键字</a:t>
            </a:r>
            <a:r>
              <a:rPr lang="en-US" altLang="zh-CN" sz="1600">
                <a:solidFill>
                  <a:srgbClr val="C00000"/>
                </a:solidFill>
              </a:rPr>
              <a:t> new </a:t>
            </a:r>
            <a:r>
              <a:rPr lang="zh-CN" altLang="en-US" sz="1600">
                <a:solidFill>
                  <a:srgbClr val="C00000"/>
                </a:solidFill>
              </a:rPr>
              <a:t>来创建一个新的对象。创建对象需要以下三步：</a:t>
            </a:r>
            <a:endParaRPr lang="zh-CN" altLang="en-US" sz="160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C00000"/>
                </a:solidFill>
              </a:rPr>
              <a:t>声明：声明一个对象，包括对象名称和对象类型。</a:t>
            </a:r>
            <a:endParaRPr lang="zh-CN" altLang="en-US" sz="160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C00000"/>
                </a:solidFill>
              </a:rPr>
              <a:t>实例化：使用关键字</a:t>
            </a:r>
            <a:r>
              <a:rPr lang="en-US" altLang="zh-CN" sz="1600">
                <a:solidFill>
                  <a:srgbClr val="C00000"/>
                </a:solidFill>
              </a:rPr>
              <a:t> new </a:t>
            </a:r>
            <a:r>
              <a:rPr lang="zh-CN" altLang="en-US" sz="1600">
                <a:solidFill>
                  <a:srgbClr val="C00000"/>
                </a:solidFill>
              </a:rPr>
              <a:t>来创建一个对象。</a:t>
            </a:r>
            <a:endParaRPr lang="zh-CN" altLang="en-US" sz="160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C00000"/>
                </a:solidFill>
              </a:rPr>
              <a:t>初始化：使用</a:t>
            </a:r>
            <a:r>
              <a:rPr lang="en-US" altLang="zh-CN" sz="1600">
                <a:solidFill>
                  <a:srgbClr val="C00000"/>
                </a:solidFill>
              </a:rPr>
              <a:t> new </a:t>
            </a:r>
            <a:r>
              <a:rPr lang="zh-CN" altLang="en-US" sz="1600">
                <a:solidFill>
                  <a:srgbClr val="C00000"/>
                </a:solidFill>
              </a:rPr>
              <a:t>创建对象时，会调用构造方法初始化对象。</a:t>
            </a:r>
            <a:endParaRPr lang="zh-CN" altLang="en-US" sz="1600">
              <a:solidFill>
                <a:srgbClr val="C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  <p:pic>
        <p:nvPicPr>
          <p:cNvPr id="2" name="图片 1" descr="屏幕截图 2026-02-05 2039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65" y="2713990"/>
            <a:ext cx="8230235" cy="39744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2255"/>
            <a:ext cx="8229600" cy="640778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构造方法的重载（代码文件可见：</a:t>
            </a:r>
            <a:r>
              <a:rPr lang="en-US" altLang="zh-CN" sz="2000"/>
              <a:t>Reload.java</a:t>
            </a:r>
            <a:r>
              <a:rPr lang="zh-CN" altLang="en-US" sz="2000"/>
              <a:t>）：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Java </a:t>
            </a:r>
            <a:r>
              <a:rPr lang="zh-CN" altLang="en-US" sz="1600"/>
              <a:t>支持构造方法的重载，即可以在同一个类中定义多个构造方法，只要参数列表不同即可。创建对象时，</a:t>
            </a:r>
            <a:r>
              <a:rPr lang="en-US" altLang="zh-CN" sz="1600"/>
              <a:t>Java </a:t>
            </a:r>
            <a:r>
              <a:rPr lang="zh-CN" altLang="en-US" sz="1600"/>
              <a:t>会根据传入的参数数量和类型自动选择匹配的构造方法。</a:t>
            </a: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</p:txBody>
      </p:sp>
      <p:pic>
        <p:nvPicPr>
          <p:cNvPr id="2" name="图片 1" descr="屏幕截图 2026-02-05 2203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1528445"/>
            <a:ext cx="6908165" cy="51415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520" y="262255"/>
            <a:ext cx="8209280" cy="622490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构造方法中的</a:t>
            </a:r>
            <a:r>
              <a:rPr lang="en-US" altLang="zh-CN" sz="2000"/>
              <a:t> this </a:t>
            </a:r>
            <a:r>
              <a:rPr lang="zh-CN" altLang="en-US" sz="2000"/>
              <a:t>关键字：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在构造方法中，</a:t>
            </a:r>
            <a:r>
              <a:rPr lang="en-US" altLang="zh-CN" sz="1600"/>
              <a:t>this </a:t>
            </a:r>
            <a:r>
              <a:rPr lang="zh-CN" altLang="en-US" sz="1600"/>
              <a:t>关键字通常用于两种情况：</a:t>
            </a:r>
            <a:endParaRPr lang="zh-CN" altLang="en-US" sz="160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引用当前对象的属性或方法：当构造方法的参数名与类属性名相同时，使用</a:t>
            </a:r>
            <a:r>
              <a:rPr lang="en-US" altLang="zh-CN" sz="1600"/>
              <a:t> this </a:t>
            </a:r>
            <a:r>
              <a:rPr lang="zh-CN" altLang="en-US" sz="1600"/>
              <a:t>来区分类属性和参数。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调用另一个构造方法：可以使用</a:t>
            </a:r>
            <a:r>
              <a:rPr lang="en-US" altLang="zh-CN" sz="1600"/>
              <a:t> this() </a:t>
            </a:r>
            <a:r>
              <a:rPr lang="zh-CN" altLang="en-US" sz="1600"/>
              <a:t>调用当前类的其他构造方法，常用于避免重复代码，但必须放在构造方法的第一行。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构造方法是</a:t>
            </a:r>
            <a:r>
              <a:rPr lang="en-US" altLang="zh-CN" sz="1600"/>
              <a:t> Java </a:t>
            </a:r>
            <a:r>
              <a:rPr lang="zh-CN" altLang="en-US" sz="1600"/>
              <a:t>面向对象编程中非常重要的部分，通过使用构造方法可以有效控制对象的初始化过程，保证创建出的对象状态的完整性和一致性。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sym typeface="+mn-ea"/>
              </a:rPr>
              <a:t>Java</a:t>
            </a:r>
            <a:r>
              <a:rPr lang="zh-CN" altLang="en-US" sz="1600">
                <a:sym typeface="+mn-ea"/>
              </a:rPr>
              <a:t>包：包主要用来对类和接口进行分类。当开发</a:t>
            </a:r>
            <a:r>
              <a:rPr lang="en-US" altLang="zh-CN" sz="1600">
                <a:sym typeface="+mn-ea"/>
              </a:rPr>
              <a:t> Java </a:t>
            </a:r>
            <a:r>
              <a:rPr lang="zh-CN" altLang="en-US" sz="1600">
                <a:sym typeface="+mn-ea"/>
              </a:rPr>
              <a:t>程序时，可能编写成百上千的类，因此很有必要对类和接口进行分类。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sym typeface="+mn-ea"/>
              </a:rPr>
              <a:t>import</a:t>
            </a:r>
            <a:r>
              <a:rPr lang="zh-CN" altLang="en-US" sz="1600">
                <a:sym typeface="+mn-ea"/>
              </a:rPr>
              <a:t>语句：在</a:t>
            </a:r>
            <a:r>
              <a:rPr lang="en-US" altLang="zh-CN" sz="1600">
                <a:sym typeface="+mn-ea"/>
              </a:rPr>
              <a:t> Java </a:t>
            </a:r>
            <a:r>
              <a:rPr lang="zh-CN" altLang="en-US" sz="1600">
                <a:sym typeface="+mn-ea"/>
              </a:rPr>
              <a:t>中，如果给出一个完整的限定名，包括包名、类名，那么</a:t>
            </a:r>
            <a:r>
              <a:rPr lang="en-US" altLang="zh-CN" sz="1600">
                <a:sym typeface="+mn-ea"/>
              </a:rPr>
              <a:t> Java </a:t>
            </a:r>
            <a:r>
              <a:rPr lang="zh-CN" altLang="en-US" sz="1600">
                <a:sym typeface="+mn-ea"/>
              </a:rPr>
              <a:t>编译器就可以很容易地定位到源代码或者类。</a:t>
            </a:r>
            <a:r>
              <a:rPr lang="en-US" altLang="zh-CN" sz="1600">
                <a:sym typeface="+mn-ea"/>
              </a:rPr>
              <a:t>import </a:t>
            </a:r>
            <a:r>
              <a:rPr lang="zh-CN" altLang="en-US" sz="1600">
                <a:sym typeface="+mn-ea"/>
              </a:rPr>
              <a:t>语句就是用来提供一个合理的路径，使得编译器可以找到某个类。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3695"/>
            <a:ext cx="8229600" cy="619506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源文件声明</a:t>
            </a:r>
            <a:r>
              <a:rPr lang="zh-CN" altLang="en-US" sz="2000"/>
              <a:t>原则：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1600"/>
              <a:t>一个源文件中只能有一个</a:t>
            </a:r>
            <a:r>
              <a:rPr lang="en-US" altLang="zh-CN" sz="1600"/>
              <a:t> public </a:t>
            </a:r>
            <a:r>
              <a:rPr lang="zh-CN" altLang="en-US" sz="1600"/>
              <a:t>类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一个源文件可以有多个非</a:t>
            </a:r>
            <a:r>
              <a:rPr lang="en-US" altLang="zh-CN" sz="1600"/>
              <a:t> public </a:t>
            </a:r>
            <a:r>
              <a:rPr lang="zh-CN" altLang="en-US" sz="1600"/>
              <a:t>类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源文件的名称应该和</a:t>
            </a:r>
            <a:r>
              <a:rPr lang="en-US" altLang="zh-CN" sz="1600"/>
              <a:t> public </a:t>
            </a:r>
            <a:r>
              <a:rPr lang="zh-CN" altLang="en-US" sz="1600"/>
              <a:t>类的类名保持一致。例如：源文件中</a:t>
            </a:r>
            <a:r>
              <a:rPr lang="en-US" altLang="zh-CN" sz="1600"/>
              <a:t> public </a:t>
            </a:r>
            <a:r>
              <a:rPr lang="zh-CN" altLang="en-US" sz="1600"/>
              <a:t>类的类名是</a:t>
            </a:r>
            <a:r>
              <a:rPr lang="en-US" altLang="zh-CN" sz="1600"/>
              <a:t> Employee</a:t>
            </a:r>
            <a:r>
              <a:rPr lang="zh-CN" altLang="en-US" sz="1600"/>
              <a:t>，那么源文件应该命名为</a:t>
            </a:r>
            <a:r>
              <a:rPr lang="en-US" altLang="zh-CN" sz="1600"/>
              <a:t>Employee.java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如果一个类定义在某个</a:t>
            </a:r>
            <a:r>
              <a:rPr lang="zh-CN" altLang="en-US" sz="1600">
                <a:solidFill>
                  <a:srgbClr val="0070C0"/>
                </a:solidFill>
                <a:hlinkClick r:id="" action="ppaction://hlinkshowjump?jump=previousslide"/>
              </a:rPr>
              <a:t>包</a:t>
            </a:r>
            <a:r>
              <a:rPr lang="zh-CN" altLang="en-US" sz="1600"/>
              <a:t>中，那么</a:t>
            </a:r>
            <a:r>
              <a:rPr lang="en-US" altLang="zh-CN" sz="1600"/>
              <a:t> package </a:t>
            </a:r>
            <a:r>
              <a:rPr lang="zh-CN" altLang="en-US" sz="1600"/>
              <a:t>语句应该在源文件的首行。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如果源文件包含</a:t>
            </a:r>
            <a:r>
              <a:rPr lang="en-US" altLang="zh-CN" sz="1600">
                <a:solidFill>
                  <a:srgbClr val="0070C0"/>
                </a:solidFill>
              </a:rPr>
              <a:t> </a:t>
            </a:r>
            <a:r>
              <a:rPr lang="en-US" altLang="zh-CN" sz="1600">
                <a:solidFill>
                  <a:srgbClr val="0070C0"/>
                </a:solidFill>
                <a:hlinkClick r:id="" action="ppaction://hlinkshowjump?jump=previousslide"/>
              </a:rPr>
              <a:t>import </a:t>
            </a:r>
            <a:r>
              <a:rPr lang="zh-CN" altLang="en-US" sz="1600">
                <a:solidFill>
                  <a:srgbClr val="0070C0"/>
                </a:solidFill>
                <a:hlinkClick r:id="" action="ppaction://hlinkshowjump?jump=previousslide"/>
              </a:rPr>
              <a:t>语句</a:t>
            </a:r>
            <a:r>
              <a:rPr lang="zh-CN" altLang="en-US" sz="1600"/>
              <a:t>，那么应该放在</a:t>
            </a:r>
            <a:r>
              <a:rPr lang="en-US" altLang="zh-CN" sz="1600"/>
              <a:t> package </a:t>
            </a:r>
            <a:r>
              <a:rPr lang="zh-CN" altLang="en-US" sz="1600"/>
              <a:t>语句和类定义之间。如果没有</a:t>
            </a:r>
            <a:r>
              <a:rPr lang="en-US" altLang="zh-CN" sz="1600"/>
              <a:t> package </a:t>
            </a:r>
            <a:r>
              <a:rPr lang="zh-CN" altLang="en-US" sz="1600"/>
              <a:t>语句，那么</a:t>
            </a:r>
            <a:r>
              <a:rPr lang="en-US" altLang="zh-CN" sz="1600"/>
              <a:t> import </a:t>
            </a:r>
            <a:r>
              <a:rPr lang="zh-CN" altLang="en-US" sz="1600"/>
              <a:t>语句应该在源文件中最前面。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import </a:t>
            </a:r>
            <a:r>
              <a:rPr lang="zh-CN" altLang="en-US" sz="1600"/>
              <a:t>语句和</a:t>
            </a:r>
            <a:r>
              <a:rPr lang="en-US" altLang="zh-CN" sz="1600"/>
              <a:t> package </a:t>
            </a:r>
            <a:r>
              <a:rPr lang="zh-CN" altLang="en-US" sz="1600"/>
              <a:t>语句对源文件中定义的所有类都有效。在同一源文件中，不能给不同的类不同的包声明。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96545"/>
            <a:ext cx="8229600" cy="616013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基本数据类型（两大数据类型）：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内置数据类型：</a:t>
            </a:r>
            <a:r>
              <a:rPr lang="en-US" altLang="zh-CN" sz="1600"/>
              <a:t>Java</a:t>
            </a:r>
            <a:r>
              <a:rPr lang="zh-CN" altLang="en-US" sz="1600"/>
              <a:t>语言提供了八种基本类型。六种数字类型（四个整数型，两个浮点型），一种字符类型，还有一种布尔型。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byte</a:t>
            </a:r>
            <a:r>
              <a:rPr lang="zh-CN" altLang="en-US" sz="1600"/>
              <a:t>：</a:t>
            </a:r>
            <a:r>
              <a:rPr lang="en-US" altLang="zh-CN" sz="1600"/>
              <a:t>byte </a:t>
            </a:r>
            <a:r>
              <a:rPr lang="zh-CN" altLang="en-US" sz="1600"/>
              <a:t>数据类型是</a:t>
            </a:r>
            <a:r>
              <a:rPr lang="en-US" altLang="zh-CN" sz="1600">
                <a:solidFill>
                  <a:srgbClr val="C00000"/>
                </a:solidFill>
              </a:rPr>
              <a:t>8</a:t>
            </a:r>
            <a:r>
              <a:rPr lang="zh-CN" altLang="en-US" sz="1600">
                <a:solidFill>
                  <a:srgbClr val="C00000"/>
                </a:solidFill>
              </a:rPr>
              <a:t>位</a:t>
            </a:r>
            <a:r>
              <a:rPr lang="zh-CN" altLang="en-US" sz="1600"/>
              <a:t>、</a:t>
            </a:r>
            <a:r>
              <a:rPr lang="zh-CN" altLang="en-US" sz="1600">
                <a:solidFill>
                  <a:srgbClr val="C00000"/>
                </a:solidFill>
              </a:rPr>
              <a:t>有符号的</a:t>
            </a:r>
            <a:r>
              <a:rPr lang="zh-CN" altLang="en-US" sz="1600"/>
              <a:t>，以二进制补码表示的整数；最小值是</a:t>
            </a:r>
            <a:r>
              <a:rPr lang="en-US" altLang="zh-CN" sz="1600"/>
              <a:t> -128</a:t>
            </a:r>
            <a:r>
              <a:rPr lang="zh-CN" altLang="en-US" sz="1600"/>
              <a:t>（</a:t>
            </a:r>
            <a:r>
              <a:rPr lang="en-US" altLang="zh-CN" sz="1600"/>
              <a:t>-2^7</a:t>
            </a:r>
            <a:r>
              <a:rPr lang="zh-CN" altLang="en-US" sz="1600"/>
              <a:t>）；最大值是</a:t>
            </a:r>
            <a:r>
              <a:rPr lang="en-US" altLang="zh-CN" sz="1600"/>
              <a:t> 127</a:t>
            </a:r>
            <a:r>
              <a:rPr lang="zh-CN" altLang="en-US" sz="1600"/>
              <a:t>（</a:t>
            </a:r>
            <a:r>
              <a:rPr lang="en-US" altLang="zh-CN" sz="1600"/>
              <a:t>2^7-1</a:t>
            </a:r>
            <a:r>
              <a:rPr lang="zh-CN" altLang="en-US" sz="1600"/>
              <a:t>）；</a:t>
            </a:r>
            <a:r>
              <a:rPr lang="zh-CN" altLang="en-US" sz="1600">
                <a:solidFill>
                  <a:srgbClr val="C00000"/>
                </a:solidFill>
              </a:rPr>
              <a:t>默认值是</a:t>
            </a:r>
            <a:r>
              <a:rPr lang="en-US" altLang="zh-CN" sz="1600">
                <a:solidFill>
                  <a:srgbClr val="C00000"/>
                </a:solidFill>
              </a:rPr>
              <a:t> 0</a:t>
            </a:r>
            <a:r>
              <a:rPr lang="zh-CN" altLang="en-US" sz="1600"/>
              <a:t>；</a:t>
            </a:r>
            <a:r>
              <a:rPr lang="en-US" altLang="zh-CN" sz="1600"/>
              <a:t>byte </a:t>
            </a:r>
            <a:r>
              <a:rPr lang="zh-CN" altLang="en-US" sz="1600"/>
              <a:t>类型用在大型数组中节约空间，主要</a:t>
            </a:r>
            <a:r>
              <a:rPr lang="zh-CN" altLang="en-US" sz="1600">
                <a:solidFill>
                  <a:srgbClr val="C00000"/>
                </a:solidFill>
              </a:rPr>
              <a:t>代替整数</a:t>
            </a:r>
            <a:r>
              <a:rPr lang="zh-CN" altLang="en-US" sz="1600"/>
              <a:t>，因为</a:t>
            </a:r>
            <a:r>
              <a:rPr lang="en-US" altLang="zh-CN" sz="1600"/>
              <a:t> byte </a:t>
            </a:r>
            <a:r>
              <a:rPr lang="zh-CN" altLang="en-US" sz="1600"/>
              <a:t>变量占用的空间只有</a:t>
            </a:r>
            <a:r>
              <a:rPr lang="en-US" altLang="zh-CN" sz="1600">
                <a:solidFill>
                  <a:srgbClr val="C00000"/>
                </a:solidFill>
              </a:rPr>
              <a:t> int </a:t>
            </a:r>
            <a:r>
              <a:rPr lang="zh-CN" altLang="en-US" sz="1600">
                <a:solidFill>
                  <a:srgbClr val="C00000"/>
                </a:solidFill>
              </a:rPr>
              <a:t>类型的四分之一。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short</a:t>
            </a:r>
            <a:r>
              <a:rPr lang="zh-CN" altLang="en-US" sz="1600"/>
              <a:t>：</a:t>
            </a:r>
            <a:r>
              <a:rPr lang="en-US" altLang="zh-CN" sz="1600"/>
              <a:t>short </a:t>
            </a:r>
            <a:r>
              <a:rPr lang="zh-CN" altLang="en-US" sz="1600"/>
              <a:t>数据类型是</a:t>
            </a:r>
            <a:r>
              <a:rPr lang="en-US" altLang="zh-CN" sz="1600">
                <a:solidFill>
                  <a:srgbClr val="C00000"/>
                </a:solidFill>
              </a:rPr>
              <a:t> 16 </a:t>
            </a:r>
            <a:r>
              <a:rPr lang="zh-CN" altLang="en-US" sz="1600">
                <a:solidFill>
                  <a:srgbClr val="C00000"/>
                </a:solidFill>
              </a:rPr>
              <a:t>位</a:t>
            </a:r>
            <a:r>
              <a:rPr lang="zh-CN" altLang="en-US" sz="1600"/>
              <a:t>、</a:t>
            </a:r>
            <a:r>
              <a:rPr lang="zh-CN" altLang="en-US" sz="1600">
                <a:solidFill>
                  <a:srgbClr val="C00000"/>
                </a:solidFill>
              </a:rPr>
              <a:t>有符号</a:t>
            </a:r>
            <a:r>
              <a:rPr lang="zh-CN" altLang="en-US" sz="1600"/>
              <a:t>的以二进制补码表示的整数；最小值是</a:t>
            </a:r>
            <a:r>
              <a:rPr lang="en-US" altLang="zh-CN" sz="1600"/>
              <a:t> -32768</a:t>
            </a:r>
            <a:r>
              <a:rPr lang="zh-CN" altLang="en-US" sz="1600"/>
              <a:t>（</a:t>
            </a:r>
            <a:r>
              <a:rPr lang="en-US" altLang="zh-CN" sz="1600"/>
              <a:t>-2^15</a:t>
            </a:r>
            <a:r>
              <a:rPr lang="zh-CN" altLang="en-US" sz="1600"/>
              <a:t>）；最大值是</a:t>
            </a:r>
            <a:r>
              <a:rPr lang="en-US" altLang="zh-CN" sz="1600"/>
              <a:t> 32767</a:t>
            </a:r>
            <a:r>
              <a:rPr lang="zh-CN" altLang="en-US" sz="1600"/>
              <a:t>（</a:t>
            </a:r>
            <a:r>
              <a:rPr lang="en-US" altLang="zh-CN" sz="1600"/>
              <a:t>2^15 - 1</a:t>
            </a:r>
            <a:r>
              <a:rPr lang="zh-CN" altLang="en-US" sz="1600"/>
              <a:t>）；</a:t>
            </a:r>
            <a:r>
              <a:rPr lang="en-US" altLang="zh-CN" sz="1600"/>
              <a:t>Short </a:t>
            </a:r>
            <a:r>
              <a:rPr lang="zh-CN" altLang="en-US" sz="1600"/>
              <a:t>数据类型也可以像</a:t>
            </a:r>
            <a:r>
              <a:rPr lang="en-US" altLang="zh-CN" sz="1600"/>
              <a:t> byte </a:t>
            </a:r>
            <a:r>
              <a:rPr lang="zh-CN" altLang="en-US" sz="1600"/>
              <a:t>那样节省空间。一个</a:t>
            </a:r>
            <a:r>
              <a:rPr lang="en-US" altLang="zh-CN" sz="1600"/>
              <a:t>short</a:t>
            </a:r>
            <a:r>
              <a:rPr lang="zh-CN" altLang="en-US" sz="1600"/>
              <a:t>变量是</a:t>
            </a:r>
            <a:r>
              <a:rPr lang="en-US" altLang="zh-CN" sz="1600">
                <a:solidFill>
                  <a:srgbClr val="C00000"/>
                </a:solidFill>
              </a:rPr>
              <a:t>int</a:t>
            </a:r>
            <a:r>
              <a:rPr lang="zh-CN" altLang="en-US" sz="1600">
                <a:solidFill>
                  <a:srgbClr val="C00000"/>
                </a:solidFill>
              </a:rPr>
              <a:t>型变量所占空间的二分之一</a:t>
            </a:r>
            <a:r>
              <a:rPr lang="zh-CN" altLang="en-US" sz="1600"/>
              <a:t>；</a:t>
            </a:r>
            <a:r>
              <a:rPr lang="zh-CN" altLang="en-US" sz="1600">
                <a:solidFill>
                  <a:srgbClr val="C00000"/>
                </a:solidFill>
              </a:rPr>
              <a:t>默认值是</a:t>
            </a:r>
            <a:r>
              <a:rPr lang="en-US" altLang="zh-CN" sz="1600">
                <a:solidFill>
                  <a:srgbClr val="C00000"/>
                </a:solidFill>
              </a:rPr>
              <a:t> 0</a:t>
            </a:r>
            <a:r>
              <a:rPr lang="zh-CN" altLang="en-US" sz="1600">
                <a:solidFill>
                  <a:srgbClr val="C00000"/>
                </a:solidFill>
              </a:rPr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int</a:t>
            </a:r>
            <a:r>
              <a:rPr lang="zh-CN" altLang="en-US" sz="1600"/>
              <a:t>：</a:t>
            </a:r>
            <a:r>
              <a:rPr lang="en-US" altLang="zh-CN" sz="1600"/>
              <a:t>int </a:t>
            </a:r>
            <a:r>
              <a:rPr lang="zh-CN" altLang="en-US" sz="1600"/>
              <a:t>数据类型是</a:t>
            </a:r>
            <a:r>
              <a:rPr lang="en-US" altLang="zh-CN" sz="1600">
                <a:solidFill>
                  <a:srgbClr val="C00000"/>
                </a:solidFill>
              </a:rPr>
              <a:t>32</a:t>
            </a:r>
            <a:r>
              <a:rPr lang="zh-CN" altLang="en-US" sz="1600">
                <a:solidFill>
                  <a:srgbClr val="C00000"/>
                </a:solidFill>
              </a:rPr>
              <a:t>位</a:t>
            </a:r>
            <a:r>
              <a:rPr lang="zh-CN" altLang="en-US" sz="1600"/>
              <a:t>、</a:t>
            </a:r>
            <a:r>
              <a:rPr lang="zh-CN" altLang="en-US" sz="1600">
                <a:solidFill>
                  <a:srgbClr val="C00000"/>
                </a:solidFill>
              </a:rPr>
              <a:t>有符号</a:t>
            </a:r>
            <a:r>
              <a:rPr lang="zh-CN" altLang="en-US" sz="1600"/>
              <a:t>的以二进制补码表示的整数；最大值是</a:t>
            </a:r>
            <a:r>
              <a:rPr lang="en-US" altLang="zh-CN" sz="1600"/>
              <a:t> 2,147,483,647</a:t>
            </a:r>
            <a:r>
              <a:rPr lang="zh-CN" altLang="en-US" sz="1600"/>
              <a:t>（</a:t>
            </a:r>
            <a:r>
              <a:rPr lang="en-US" altLang="zh-CN" sz="1600"/>
              <a:t>2^31 - 1</a:t>
            </a:r>
            <a:r>
              <a:rPr lang="zh-CN" altLang="en-US" sz="1600"/>
              <a:t>）；最小值是</a:t>
            </a:r>
            <a:r>
              <a:rPr lang="en-US" altLang="zh-CN" sz="1600"/>
              <a:t> -2,147,483,648</a:t>
            </a:r>
            <a:r>
              <a:rPr lang="zh-CN" altLang="en-US" sz="1600"/>
              <a:t>（</a:t>
            </a:r>
            <a:r>
              <a:rPr lang="en-US" altLang="zh-CN" sz="1600"/>
              <a:t>-2^31</a:t>
            </a:r>
            <a:r>
              <a:rPr lang="zh-CN" altLang="en-US" sz="1600"/>
              <a:t>）；</a:t>
            </a:r>
            <a:r>
              <a:rPr lang="zh-CN" altLang="en-US" sz="1600">
                <a:solidFill>
                  <a:srgbClr val="C00000"/>
                </a:solidFill>
              </a:rPr>
              <a:t>整型变量默认为</a:t>
            </a:r>
            <a:r>
              <a:rPr lang="en-US" altLang="zh-CN" sz="1600">
                <a:solidFill>
                  <a:srgbClr val="C00000"/>
                </a:solidFill>
              </a:rPr>
              <a:t> int </a:t>
            </a:r>
            <a:r>
              <a:rPr lang="zh-CN" altLang="en-US" sz="1600">
                <a:solidFill>
                  <a:srgbClr val="C00000"/>
                </a:solidFill>
              </a:rPr>
              <a:t>类型</a:t>
            </a:r>
            <a:r>
              <a:rPr lang="zh-CN" altLang="en-US" sz="1600"/>
              <a:t>；</a:t>
            </a:r>
            <a:r>
              <a:rPr lang="zh-CN" altLang="en-US" sz="1600">
                <a:solidFill>
                  <a:srgbClr val="C00000"/>
                </a:solidFill>
              </a:rPr>
              <a:t>默认值是</a:t>
            </a:r>
            <a:r>
              <a:rPr lang="en-US" altLang="zh-CN" sz="1600">
                <a:solidFill>
                  <a:srgbClr val="C00000"/>
                </a:solidFill>
              </a:rPr>
              <a:t> 0</a:t>
            </a:r>
            <a:r>
              <a:rPr lang="zh-CN" altLang="en-US" sz="1600">
                <a:solidFill>
                  <a:srgbClr val="C00000"/>
                </a:solidFill>
              </a:rPr>
              <a:t>。</a:t>
            </a:r>
            <a:r>
              <a:rPr lang="en-US" altLang="zh-CN" sz="1600"/>
              <a:t> 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zh-CN" sz="1600"/>
              <a:t>long</a:t>
            </a:r>
            <a:r>
              <a:rPr lang="zh-CN" altLang="en-US" sz="1600"/>
              <a:t>：</a:t>
            </a:r>
            <a:r>
              <a:rPr lang="en-US" altLang="zh-CN" sz="1600"/>
              <a:t>long </a:t>
            </a:r>
            <a:r>
              <a:rPr lang="zh-CN" altLang="en-US" sz="1600"/>
              <a:t>数据类型是</a:t>
            </a:r>
            <a:r>
              <a:rPr lang="en-US" altLang="zh-CN" sz="1600">
                <a:solidFill>
                  <a:srgbClr val="C00000"/>
                </a:solidFill>
              </a:rPr>
              <a:t> 64 </a:t>
            </a:r>
            <a:r>
              <a:rPr lang="zh-CN" altLang="en-US" sz="1600">
                <a:solidFill>
                  <a:srgbClr val="C00000"/>
                </a:solidFill>
              </a:rPr>
              <a:t>位</a:t>
            </a:r>
            <a:r>
              <a:rPr lang="zh-CN" altLang="en-US" sz="1600"/>
              <a:t>、</a:t>
            </a:r>
            <a:r>
              <a:rPr lang="zh-CN" altLang="en-US" sz="1600">
                <a:solidFill>
                  <a:srgbClr val="C00000"/>
                </a:solidFill>
              </a:rPr>
              <a:t>有符号</a:t>
            </a:r>
            <a:r>
              <a:rPr lang="zh-CN" altLang="en-US" sz="1600"/>
              <a:t>的以二进制补码表示的整数；最小值是</a:t>
            </a:r>
            <a:r>
              <a:rPr lang="en-US" altLang="zh-CN" sz="1600"/>
              <a:t> -9,223,372,036,854,775,808</a:t>
            </a:r>
            <a:r>
              <a:rPr lang="zh-CN" altLang="en-US" sz="1600"/>
              <a:t>（</a:t>
            </a:r>
            <a:r>
              <a:rPr lang="en-US" altLang="zh-CN" sz="1600"/>
              <a:t>-2^63</a:t>
            </a:r>
            <a:r>
              <a:rPr lang="zh-CN" altLang="en-US" sz="1600"/>
              <a:t>）；最大值是</a:t>
            </a:r>
            <a:r>
              <a:rPr lang="en-US" altLang="zh-CN" sz="1600"/>
              <a:t> 9,223,372,036,854,775,807</a:t>
            </a:r>
            <a:r>
              <a:rPr lang="zh-CN" altLang="en-US" sz="1600"/>
              <a:t>（</a:t>
            </a:r>
            <a:r>
              <a:rPr lang="en-US" altLang="zh-CN" sz="1600"/>
              <a:t>2^63 -1</a:t>
            </a:r>
            <a:r>
              <a:rPr lang="zh-CN" altLang="en-US" sz="1600"/>
              <a:t>）；这种类型主要使用在</a:t>
            </a:r>
            <a:r>
              <a:rPr lang="zh-CN" altLang="en-US" sz="1600">
                <a:solidFill>
                  <a:srgbClr val="C00000"/>
                </a:solidFill>
              </a:rPr>
              <a:t>需要比较大整数</a:t>
            </a:r>
            <a:r>
              <a:rPr lang="zh-CN" altLang="en-US" sz="1600"/>
              <a:t>的系统上；</a:t>
            </a:r>
            <a:r>
              <a:rPr lang="zh-CN" altLang="en-US" sz="1600">
                <a:solidFill>
                  <a:srgbClr val="C00000"/>
                </a:solidFill>
              </a:rPr>
              <a:t>默认值是</a:t>
            </a:r>
            <a:r>
              <a:rPr lang="en-US" altLang="zh-CN" sz="1600">
                <a:solidFill>
                  <a:srgbClr val="C00000"/>
                </a:solidFill>
              </a:rPr>
              <a:t> 0L</a:t>
            </a:r>
            <a:r>
              <a:rPr lang="zh-CN" altLang="en-US" sz="1600">
                <a:solidFill>
                  <a:srgbClr val="C00000"/>
                </a:solidFill>
              </a:rPr>
              <a:t>。</a:t>
            </a:r>
            <a:endParaRPr lang="zh-CN" altLang="en-US" sz="16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3695"/>
            <a:ext cx="8229600" cy="6277610"/>
          </a:xfrm>
        </p:spPr>
        <p:txBody>
          <a:bodyPr/>
          <a:p>
            <a:pPr>
              <a:lnSpc>
                <a:spcPct val="150000"/>
              </a:lnSpc>
            </a:pPr>
            <a:r>
              <a:rPr lang="en-US" altLang="zh-CN" sz="1600"/>
              <a:t>float</a:t>
            </a:r>
            <a:r>
              <a:rPr lang="zh-CN" altLang="en-US" sz="1600"/>
              <a:t>：</a:t>
            </a:r>
            <a:r>
              <a:rPr lang="en-US" altLang="zh-CN" sz="1600"/>
              <a:t>float </a:t>
            </a:r>
            <a:r>
              <a:rPr lang="zh-CN" altLang="en-US" sz="1600"/>
              <a:t>数据类型是</a:t>
            </a:r>
            <a:r>
              <a:rPr lang="zh-CN" altLang="en-US" sz="1600">
                <a:solidFill>
                  <a:srgbClr val="C00000"/>
                </a:solidFill>
              </a:rPr>
              <a:t>单精度</a:t>
            </a:r>
            <a:r>
              <a:rPr lang="zh-CN" altLang="en-US" sz="1600"/>
              <a:t>、</a:t>
            </a:r>
            <a:r>
              <a:rPr lang="en-US" altLang="zh-CN" sz="1600">
                <a:solidFill>
                  <a:srgbClr val="C00000"/>
                </a:solidFill>
              </a:rPr>
              <a:t>32</a:t>
            </a:r>
            <a:r>
              <a:rPr lang="zh-CN" altLang="en-US" sz="1600">
                <a:solidFill>
                  <a:srgbClr val="C00000"/>
                </a:solidFill>
              </a:rPr>
              <a:t>位</a:t>
            </a:r>
            <a:r>
              <a:rPr lang="zh-CN" altLang="en-US" sz="1600"/>
              <a:t>、</a:t>
            </a:r>
            <a:r>
              <a:rPr lang="zh-CN" altLang="en-US" sz="1600">
                <a:solidFill>
                  <a:srgbClr val="C00000"/>
                </a:solidFill>
              </a:rPr>
              <a:t>符合</a:t>
            </a:r>
            <a:r>
              <a:rPr lang="en-US" altLang="zh-CN" sz="1600">
                <a:solidFill>
                  <a:srgbClr val="C00000"/>
                </a:solidFill>
              </a:rPr>
              <a:t>IEEE 754</a:t>
            </a:r>
            <a:r>
              <a:rPr lang="zh-CN" altLang="en-US" sz="1600">
                <a:solidFill>
                  <a:srgbClr val="C00000"/>
                </a:solidFill>
              </a:rPr>
              <a:t>标准</a:t>
            </a:r>
            <a:r>
              <a:rPr lang="zh-CN" altLang="en-US" sz="1600"/>
              <a:t>的</a:t>
            </a:r>
            <a:r>
              <a:rPr lang="zh-CN" altLang="en-US" sz="1600">
                <a:solidFill>
                  <a:srgbClr val="C00000"/>
                </a:solidFill>
              </a:rPr>
              <a:t>浮点数</a:t>
            </a:r>
            <a:r>
              <a:rPr lang="zh-CN" altLang="en-US" sz="1600"/>
              <a:t>；</a:t>
            </a:r>
            <a:r>
              <a:rPr lang="en-US" altLang="zh-CN" sz="1600"/>
              <a:t>float </a:t>
            </a:r>
            <a:r>
              <a:rPr lang="zh-CN" altLang="en-US" sz="1600"/>
              <a:t>在</a:t>
            </a:r>
            <a:r>
              <a:rPr lang="zh-CN" altLang="en-US" sz="1600">
                <a:solidFill>
                  <a:srgbClr val="C00000"/>
                </a:solidFill>
              </a:rPr>
              <a:t>储存大型浮点数组</a:t>
            </a:r>
            <a:r>
              <a:rPr lang="zh-CN" altLang="en-US" sz="1600"/>
              <a:t>的时候可节省内存空间；</a:t>
            </a:r>
            <a:r>
              <a:rPr lang="zh-CN" altLang="en-US" sz="1600">
                <a:sym typeface="+mn-ea"/>
              </a:rPr>
              <a:t>最小值是</a:t>
            </a:r>
            <a:r>
              <a:rPr lang="en-US" altLang="zh-CN" sz="1600">
                <a:solidFill>
                  <a:schemeClr val="tx1"/>
                </a:solidFill>
              </a:rPr>
              <a:t>1.4E-45</a:t>
            </a:r>
            <a:r>
              <a:rPr lang="zh-CN" altLang="en-US" sz="1600">
                <a:solidFill>
                  <a:schemeClr val="tx1"/>
                </a:solidFill>
              </a:rPr>
              <a:t>；</a:t>
            </a:r>
            <a:r>
              <a:rPr lang="zh-CN" altLang="en-US" sz="1600">
                <a:sym typeface="+mn-ea"/>
              </a:rPr>
              <a:t>最大值是</a:t>
            </a:r>
            <a:r>
              <a:rPr lang="en-US" altLang="zh-CN" sz="1600">
                <a:solidFill>
                  <a:schemeClr val="tx1"/>
                </a:solidFill>
              </a:rPr>
              <a:t>3.4028235E38</a:t>
            </a:r>
            <a:r>
              <a:rPr lang="zh-CN" altLang="en-US" sz="1600">
                <a:solidFill>
                  <a:schemeClr val="tx1"/>
                </a:solidFill>
              </a:rPr>
              <a:t>；</a:t>
            </a:r>
            <a:r>
              <a:rPr lang="zh-CN" altLang="en-US" sz="1600">
                <a:solidFill>
                  <a:srgbClr val="C00000"/>
                </a:solidFill>
              </a:rPr>
              <a:t>默认值是</a:t>
            </a:r>
            <a:r>
              <a:rPr lang="en-US" altLang="zh-CN" sz="1600">
                <a:solidFill>
                  <a:srgbClr val="C00000"/>
                </a:solidFill>
              </a:rPr>
              <a:t> 0.0f</a:t>
            </a:r>
            <a:r>
              <a:rPr lang="zh-CN" altLang="en-US" sz="1600"/>
              <a:t>；</a:t>
            </a:r>
            <a:r>
              <a:rPr lang="zh-CN" altLang="en-US" sz="1600">
                <a:solidFill>
                  <a:srgbClr val="C00000"/>
                </a:solidFill>
              </a:rPr>
              <a:t>浮点数不能用来表示精确的值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double</a:t>
            </a:r>
            <a:r>
              <a:rPr lang="zh-CN" altLang="en-US" sz="1600"/>
              <a:t>：</a:t>
            </a:r>
            <a:r>
              <a:rPr lang="en-US" altLang="zh-CN" sz="1600"/>
              <a:t>double </a:t>
            </a:r>
            <a:r>
              <a:rPr lang="zh-CN" altLang="en-US" sz="1600"/>
              <a:t>数据类型是</a:t>
            </a:r>
            <a:r>
              <a:rPr lang="zh-CN" altLang="en-US" sz="1600">
                <a:solidFill>
                  <a:srgbClr val="C00000"/>
                </a:solidFill>
              </a:rPr>
              <a:t>双精度</a:t>
            </a:r>
            <a:r>
              <a:rPr lang="zh-CN" altLang="en-US" sz="1600"/>
              <a:t>、</a:t>
            </a:r>
            <a:r>
              <a:rPr lang="en-US" altLang="zh-CN" sz="1600">
                <a:solidFill>
                  <a:srgbClr val="C00000"/>
                </a:solidFill>
              </a:rPr>
              <a:t>64 </a:t>
            </a:r>
            <a:r>
              <a:rPr lang="zh-CN" altLang="en-US" sz="1600">
                <a:solidFill>
                  <a:srgbClr val="C00000"/>
                </a:solidFill>
              </a:rPr>
              <a:t>位</a:t>
            </a:r>
            <a:r>
              <a:rPr lang="zh-CN" altLang="en-US" sz="1600"/>
              <a:t>、</a:t>
            </a:r>
            <a:r>
              <a:rPr lang="zh-CN" altLang="en-US" sz="1600">
                <a:solidFill>
                  <a:srgbClr val="C00000"/>
                </a:solidFill>
              </a:rPr>
              <a:t>符合</a:t>
            </a:r>
            <a:r>
              <a:rPr lang="en-US" altLang="zh-CN" sz="1600">
                <a:solidFill>
                  <a:srgbClr val="C00000"/>
                </a:solidFill>
              </a:rPr>
              <a:t> IEEE 754 </a:t>
            </a:r>
            <a:r>
              <a:rPr lang="zh-CN" altLang="en-US" sz="1600">
                <a:solidFill>
                  <a:srgbClr val="C00000"/>
                </a:solidFill>
              </a:rPr>
              <a:t>标准</a:t>
            </a:r>
            <a:r>
              <a:rPr lang="zh-CN" altLang="en-US" sz="1600"/>
              <a:t>的</a:t>
            </a:r>
            <a:r>
              <a:rPr lang="zh-CN" altLang="en-US" sz="1600">
                <a:solidFill>
                  <a:srgbClr val="C00000"/>
                </a:solidFill>
              </a:rPr>
              <a:t>浮点数</a:t>
            </a:r>
            <a:r>
              <a:rPr lang="zh-CN" altLang="en-US" sz="1600"/>
              <a:t>；</a:t>
            </a:r>
            <a:r>
              <a:rPr lang="zh-CN" altLang="en-US" sz="1600">
                <a:solidFill>
                  <a:srgbClr val="C00000"/>
                </a:solidFill>
              </a:rPr>
              <a:t>浮点数的默认类型为</a:t>
            </a:r>
            <a:r>
              <a:rPr lang="en-US" altLang="zh-CN" sz="1600">
                <a:solidFill>
                  <a:srgbClr val="C00000"/>
                </a:solidFill>
              </a:rPr>
              <a:t> double </a:t>
            </a:r>
            <a:r>
              <a:rPr lang="zh-CN" altLang="en-US" sz="1600">
                <a:solidFill>
                  <a:srgbClr val="C00000"/>
                </a:solidFill>
              </a:rPr>
              <a:t>类型</a:t>
            </a:r>
            <a:r>
              <a:rPr lang="zh-CN" altLang="en-US" sz="1600"/>
              <a:t>；</a:t>
            </a:r>
            <a:r>
              <a:rPr lang="zh-CN" altLang="en-US" sz="1600">
                <a:sym typeface="+mn-ea"/>
              </a:rPr>
              <a:t>最小值是</a:t>
            </a:r>
            <a:r>
              <a:rPr lang="en-US" altLang="zh-CN" sz="1600">
                <a:sym typeface="+mn-ea"/>
              </a:rPr>
              <a:t>4.9E-324</a:t>
            </a:r>
            <a:r>
              <a:rPr lang="zh-CN" altLang="en-US" sz="1600">
                <a:sym typeface="+mn-ea"/>
              </a:rPr>
              <a:t>；</a:t>
            </a:r>
            <a:r>
              <a:rPr lang="zh-CN" altLang="en-US" sz="1600">
                <a:sym typeface="+mn-ea"/>
              </a:rPr>
              <a:t>最大值是</a:t>
            </a:r>
            <a:r>
              <a:rPr lang="en-US" altLang="zh-CN" sz="1600">
                <a:sym typeface="+mn-ea"/>
              </a:rPr>
              <a:t>1.7976931348623157E308</a:t>
            </a:r>
            <a:r>
              <a:rPr lang="zh-CN" altLang="en-US" sz="1600">
                <a:sym typeface="+mn-ea"/>
              </a:rPr>
              <a:t>；</a:t>
            </a:r>
            <a:r>
              <a:rPr lang="en-US" altLang="zh-CN" sz="1600"/>
              <a:t>double</a:t>
            </a:r>
            <a:r>
              <a:rPr lang="zh-CN" altLang="en-US" sz="1600"/>
              <a:t>类型同样</a:t>
            </a:r>
            <a:r>
              <a:rPr lang="zh-CN" altLang="en-US" sz="1600">
                <a:solidFill>
                  <a:srgbClr val="C00000"/>
                </a:solidFill>
              </a:rPr>
              <a:t>不能表示精确的值</a:t>
            </a:r>
            <a:r>
              <a:rPr lang="zh-CN" altLang="en-US" sz="1600"/>
              <a:t>；</a:t>
            </a:r>
            <a:r>
              <a:rPr lang="zh-CN" altLang="en-US" sz="1600">
                <a:solidFill>
                  <a:srgbClr val="C00000"/>
                </a:solidFill>
              </a:rPr>
              <a:t>默认值是</a:t>
            </a:r>
            <a:r>
              <a:rPr lang="en-US" altLang="zh-CN" sz="1600">
                <a:solidFill>
                  <a:srgbClr val="C00000"/>
                </a:solidFill>
              </a:rPr>
              <a:t> 0.0d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boolean</a:t>
            </a:r>
            <a:r>
              <a:rPr lang="zh-CN" altLang="en-US" sz="1600"/>
              <a:t>：</a:t>
            </a:r>
            <a:r>
              <a:rPr lang="en-US" altLang="zh-CN" sz="1600"/>
              <a:t>boolean</a:t>
            </a:r>
            <a:r>
              <a:rPr lang="zh-CN" altLang="en-US" sz="1600"/>
              <a:t>数据类型</a:t>
            </a:r>
            <a:r>
              <a:rPr lang="zh-CN" altLang="en-US" sz="1600">
                <a:solidFill>
                  <a:srgbClr val="C00000"/>
                </a:solidFill>
              </a:rPr>
              <a:t>表示一位的信息</a:t>
            </a:r>
            <a:r>
              <a:rPr lang="zh-CN" altLang="en-US" sz="1600"/>
              <a:t>；</a:t>
            </a:r>
            <a:r>
              <a:rPr lang="zh-CN" altLang="en-US" sz="1600">
                <a:solidFill>
                  <a:srgbClr val="C00000"/>
                </a:solidFill>
              </a:rPr>
              <a:t>只有两个取值：</a:t>
            </a:r>
            <a:r>
              <a:rPr lang="en-US" altLang="zh-CN" sz="1600">
                <a:solidFill>
                  <a:srgbClr val="C00000"/>
                </a:solidFill>
              </a:rPr>
              <a:t>true </a:t>
            </a:r>
            <a:r>
              <a:rPr lang="zh-CN" altLang="en-US" sz="1600">
                <a:solidFill>
                  <a:srgbClr val="C00000"/>
                </a:solidFill>
              </a:rPr>
              <a:t>和</a:t>
            </a:r>
            <a:r>
              <a:rPr lang="en-US" altLang="zh-CN" sz="1600">
                <a:solidFill>
                  <a:srgbClr val="C00000"/>
                </a:solidFill>
              </a:rPr>
              <a:t> false</a:t>
            </a:r>
            <a:r>
              <a:rPr lang="zh-CN" altLang="en-US" sz="1600"/>
              <a:t>；这种类型</a:t>
            </a:r>
            <a:r>
              <a:rPr lang="zh-CN" altLang="en-US" sz="1600">
                <a:solidFill>
                  <a:srgbClr val="C00000"/>
                </a:solidFill>
              </a:rPr>
              <a:t>只作为一种标志</a:t>
            </a:r>
            <a:r>
              <a:rPr lang="zh-CN" altLang="en-US" sz="1600"/>
              <a:t>来记录</a:t>
            </a:r>
            <a:r>
              <a:rPr lang="en-US" altLang="zh-CN" sz="1600"/>
              <a:t> true/false </a:t>
            </a:r>
            <a:r>
              <a:rPr lang="zh-CN" altLang="en-US" sz="1600"/>
              <a:t>情况；</a:t>
            </a:r>
            <a:r>
              <a:rPr lang="zh-CN" altLang="en-US" sz="1600">
                <a:solidFill>
                  <a:srgbClr val="C00000"/>
                </a:solidFill>
              </a:rPr>
              <a:t>默认值是</a:t>
            </a:r>
            <a:r>
              <a:rPr lang="en-US" altLang="zh-CN" sz="1600">
                <a:solidFill>
                  <a:srgbClr val="C00000"/>
                </a:solidFill>
              </a:rPr>
              <a:t> false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char</a:t>
            </a:r>
            <a:r>
              <a:rPr lang="zh-CN" altLang="en-US" sz="1600"/>
              <a:t>：</a:t>
            </a:r>
            <a:r>
              <a:rPr lang="en-US" altLang="zh-CN" sz="1600"/>
              <a:t>char </a:t>
            </a:r>
            <a:r>
              <a:rPr lang="zh-CN" altLang="en-US" sz="1600"/>
              <a:t>类型是一个</a:t>
            </a:r>
            <a:r>
              <a:rPr lang="zh-CN" altLang="en-US" sz="1600">
                <a:solidFill>
                  <a:srgbClr val="C00000"/>
                </a:solidFill>
              </a:rPr>
              <a:t>单一的</a:t>
            </a:r>
            <a:r>
              <a:rPr lang="en-US" altLang="zh-CN" sz="1600">
                <a:solidFill>
                  <a:srgbClr val="C00000"/>
                </a:solidFill>
              </a:rPr>
              <a:t> 16 </a:t>
            </a:r>
            <a:r>
              <a:rPr lang="zh-CN" altLang="en-US" sz="1600">
                <a:solidFill>
                  <a:srgbClr val="C00000"/>
                </a:solidFill>
              </a:rPr>
              <a:t>位</a:t>
            </a:r>
            <a:r>
              <a:rPr lang="en-US" altLang="zh-CN" sz="1600">
                <a:solidFill>
                  <a:srgbClr val="C00000"/>
                </a:solidFill>
              </a:rPr>
              <a:t> Unicode </a:t>
            </a:r>
            <a:r>
              <a:rPr lang="zh-CN" altLang="en-US" sz="1600">
                <a:solidFill>
                  <a:srgbClr val="C00000"/>
                </a:solidFill>
              </a:rPr>
              <a:t>字符</a:t>
            </a:r>
            <a:r>
              <a:rPr lang="zh-CN" altLang="en-US" sz="1600"/>
              <a:t>；最小值是</a:t>
            </a:r>
            <a:r>
              <a:rPr lang="en-US" altLang="zh-CN" sz="1600"/>
              <a:t> \u0000</a:t>
            </a:r>
            <a:r>
              <a:rPr lang="zh-CN" altLang="en-US" sz="1600"/>
              <a:t>（十进制等效值为</a:t>
            </a:r>
            <a:r>
              <a:rPr lang="en-US" altLang="zh-CN" sz="1600"/>
              <a:t> 0</a:t>
            </a:r>
            <a:r>
              <a:rPr lang="zh-CN" altLang="en-US" sz="1600"/>
              <a:t>）；最大值是</a:t>
            </a:r>
            <a:r>
              <a:rPr lang="en-US" altLang="zh-CN" sz="1600"/>
              <a:t> \uffff</a:t>
            </a:r>
            <a:r>
              <a:rPr lang="zh-CN" altLang="en-US" sz="1600"/>
              <a:t>（即为</a:t>
            </a:r>
            <a:r>
              <a:rPr lang="en-US" altLang="zh-CN" sz="1600"/>
              <a:t> 65535</a:t>
            </a:r>
            <a:r>
              <a:rPr lang="zh-CN" altLang="en-US" sz="1600"/>
              <a:t>）；</a:t>
            </a:r>
            <a:r>
              <a:rPr lang="en-US" altLang="zh-CN" sz="1600">
                <a:solidFill>
                  <a:srgbClr val="C00000"/>
                </a:solidFill>
              </a:rPr>
              <a:t>char </a:t>
            </a:r>
            <a:r>
              <a:rPr lang="zh-CN" altLang="en-US" sz="1600">
                <a:solidFill>
                  <a:srgbClr val="C00000"/>
                </a:solidFill>
              </a:rPr>
              <a:t>数据类型可以储存任何字符</a:t>
            </a:r>
            <a:r>
              <a:rPr lang="zh-CN" altLang="en-US" sz="1600"/>
              <a:t>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引用</a:t>
            </a:r>
            <a:r>
              <a:rPr lang="zh-CN" altLang="en-US" sz="1600"/>
              <a:t>类型：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引用类型指向一个对象，指向对象的变量是引用变量。这些变量在声明时被指定为一个特定的类型。变量一旦声明后，类型就不能被改变了。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对象、数组都是引用数据类型。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所有引用类型的默认值都是</a:t>
            </a:r>
            <a:r>
              <a:rPr lang="en-US" altLang="zh-CN" sz="1600"/>
              <a:t>null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一个引用变量可以用来引用任何与之兼容的类型。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3695"/>
            <a:ext cx="8229600" cy="501078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常量：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1600"/>
              <a:t>常量在程序运行时是不能被修改的。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在</a:t>
            </a:r>
            <a:r>
              <a:rPr lang="en-US" altLang="zh-CN" sz="1600"/>
              <a:t> Java </a:t>
            </a:r>
            <a:r>
              <a:rPr lang="zh-CN" altLang="en-US" sz="1600"/>
              <a:t>中使用</a:t>
            </a:r>
            <a:r>
              <a:rPr lang="en-US" altLang="zh-CN" sz="1600"/>
              <a:t> final </a:t>
            </a:r>
            <a:r>
              <a:rPr lang="zh-CN" altLang="en-US" sz="1600"/>
              <a:t>关键字来修饰常量，声明方式和变量类似。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通常使用大写字母表示常量。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字面量可以赋给任何内置类型的变量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Java</a:t>
            </a:r>
            <a:r>
              <a:rPr lang="zh-CN" altLang="en-US" sz="1600"/>
              <a:t>的字符串常量也是包含在两个引号之间的字符序列。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字符串常量和字符变量都可以包含任何</a:t>
            </a:r>
            <a:r>
              <a:rPr lang="en-US" altLang="zh-CN" sz="1600"/>
              <a:t> Unicode </a:t>
            </a:r>
            <a:r>
              <a:rPr lang="zh-CN" altLang="en-US" sz="1600"/>
              <a:t>字符。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注：当使用字面量的时候，前缀</a:t>
            </a:r>
            <a:r>
              <a:rPr lang="en-US" altLang="zh-CN" sz="1600"/>
              <a:t> 0 </a:t>
            </a:r>
            <a:r>
              <a:rPr lang="zh-CN" altLang="en-US" sz="1600"/>
              <a:t>表示</a:t>
            </a:r>
            <a:r>
              <a:rPr lang="en-US" altLang="zh-CN" sz="1600"/>
              <a:t> 8 </a:t>
            </a:r>
            <a:r>
              <a:rPr lang="zh-CN" altLang="en-US" sz="1600"/>
              <a:t>进制，而前缀</a:t>
            </a:r>
            <a:r>
              <a:rPr lang="en-US" altLang="zh-CN" sz="1600"/>
              <a:t> 0x </a:t>
            </a:r>
            <a:r>
              <a:rPr lang="zh-CN" altLang="en-US" sz="1600"/>
              <a:t>代表</a:t>
            </a:r>
            <a:r>
              <a:rPr lang="en-US" altLang="zh-CN" sz="1600"/>
              <a:t> 16 </a:t>
            </a:r>
            <a:r>
              <a:rPr lang="zh-CN" altLang="en-US" sz="1600"/>
              <a:t>进制。</a:t>
            </a:r>
            <a:r>
              <a:rPr lang="en-US" altLang="zh-CN" sz="1600"/>
              <a:t>16</a:t>
            </a:r>
            <a:r>
              <a:rPr lang="zh-CN" altLang="en-US" sz="1600"/>
              <a:t>进制</a:t>
            </a:r>
            <a:r>
              <a:rPr lang="en-US" altLang="zh-CN" sz="1600"/>
              <a:t>Unicode</a:t>
            </a:r>
            <a:r>
              <a:rPr lang="zh-CN" altLang="en-US" sz="1600"/>
              <a:t>字符</a:t>
            </a:r>
            <a:r>
              <a:rPr lang="en-US" altLang="zh-CN" sz="1600"/>
              <a:t>(xxxx)</a:t>
            </a:r>
            <a:r>
              <a:rPr lang="zh-CN" altLang="en-US" sz="1600"/>
              <a:t>则为</a:t>
            </a:r>
            <a:r>
              <a:rPr lang="en-US" altLang="zh-CN" sz="1600"/>
              <a:t>\uxxxx</a:t>
            </a:r>
            <a:r>
              <a:rPr lang="zh-CN" altLang="en-US" sz="1600"/>
              <a:t>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自动类型转换：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整型、实型（常量）、字符型数据可以混合运算。运算中，不同类型的数据先转化为同一类型，然后进行运算。转换从低级到高级。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  <p:pic>
        <p:nvPicPr>
          <p:cNvPr id="2" name="图片 1" descr="屏幕截图 2026-02-07 1559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373370"/>
            <a:ext cx="5775960" cy="11601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3695"/>
            <a:ext cx="8229600" cy="612013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数据类型转换必须满足如下规则：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不能对</a:t>
            </a:r>
            <a:r>
              <a:rPr lang="en-US" altLang="zh-CN" sz="1600"/>
              <a:t>boolean</a:t>
            </a:r>
            <a:r>
              <a:rPr lang="zh-CN" altLang="en-US" sz="1600"/>
              <a:t>类型进行类型转换。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不能把对象类型转换成不相关类的对象。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在把容量大的类型转换为容量小的类型时必须使用强制类型转换。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en-US" altLang="zh-CN" sz="1600"/>
              <a:t> </a:t>
            </a:r>
            <a:r>
              <a:rPr lang="zh-CN" altLang="en-US" sz="1600"/>
              <a:t>转换过程中可能导致溢出或损失精度。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浮点数到整数的转换是通过舍弃小数得到，而不是四舍五入。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自动类型转换：</a:t>
            </a:r>
            <a:r>
              <a:rPr lang="zh-CN" altLang="en-US" sz="1600">
                <a:solidFill>
                  <a:srgbClr val="C00000"/>
                </a:solidFill>
              </a:rPr>
              <a:t>必须满足转换前的数据类型的位数要低于转换后的数据类型</a:t>
            </a:r>
            <a:r>
              <a:rPr lang="zh-CN" altLang="en-US" sz="1600"/>
              <a:t>，例如</a:t>
            </a:r>
            <a:r>
              <a:rPr lang="en-US" altLang="zh-CN" sz="1600"/>
              <a:t>: short</a:t>
            </a:r>
            <a:r>
              <a:rPr lang="zh-CN" altLang="en-US" sz="1600"/>
              <a:t>数据类型的位数为</a:t>
            </a:r>
            <a:r>
              <a:rPr lang="en-US" altLang="zh-CN" sz="1600"/>
              <a:t>16</a:t>
            </a:r>
            <a:r>
              <a:rPr lang="zh-CN" altLang="en-US" sz="1600"/>
              <a:t>位，就可以自动转换位数为</a:t>
            </a:r>
            <a:r>
              <a:rPr lang="en-US" altLang="zh-CN" sz="1600"/>
              <a:t>32</a:t>
            </a:r>
            <a:r>
              <a:rPr lang="zh-CN" altLang="en-US" sz="1600"/>
              <a:t>的</a:t>
            </a:r>
            <a:r>
              <a:rPr lang="en-US" altLang="zh-CN" sz="1600"/>
              <a:t>int</a:t>
            </a:r>
            <a:r>
              <a:rPr lang="zh-CN" altLang="en-US" sz="1600"/>
              <a:t>类型，同样</a:t>
            </a:r>
            <a:r>
              <a:rPr lang="en-US" altLang="zh-CN" sz="1600"/>
              <a:t>float</a:t>
            </a:r>
            <a:r>
              <a:rPr lang="zh-CN" altLang="en-US" sz="1600"/>
              <a:t>数据类型的位数为</a:t>
            </a:r>
            <a:r>
              <a:rPr lang="en-US" altLang="zh-CN" sz="1600"/>
              <a:t>32</a:t>
            </a:r>
            <a:r>
              <a:rPr lang="zh-CN" altLang="en-US" sz="1600"/>
              <a:t>，可以自动转换为</a:t>
            </a:r>
            <a:r>
              <a:rPr lang="en-US" altLang="zh-CN" sz="1600"/>
              <a:t>64</a:t>
            </a:r>
            <a:r>
              <a:rPr lang="zh-CN" altLang="en-US" sz="1600"/>
              <a:t>位的</a:t>
            </a:r>
            <a:r>
              <a:rPr lang="en-US" altLang="zh-CN" sz="1600"/>
              <a:t>double</a:t>
            </a:r>
            <a:r>
              <a:rPr lang="zh-CN" altLang="en-US" sz="1600"/>
              <a:t>类型。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强制类型转换：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条件是转换的数据类型必须是兼容的。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格式：</a:t>
            </a:r>
            <a:r>
              <a:rPr lang="en-US" altLang="zh-CN" sz="1600"/>
              <a:t>(type)value</a:t>
            </a:r>
            <a:r>
              <a:rPr lang="zh-CN" altLang="en-US" sz="1600"/>
              <a:t>，</a:t>
            </a:r>
            <a:r>
              <a:rPr lang="en-US" altLang="zh-CN" sz="1600"/>
              <a:t>type</a:t>
            </a:r>
            <a:r>
              <a:rPr lang="zh-CN" altLang="en-US" sz="1600"/>
              <a:t>是要强制类型转换后的数据类型</a:t>
            </a:r>
            <a:r>
              <a:rPr lang="en-US" altLang="zh-CN" sz="1600"/>
              <a:t> </a:t>
            </a:r>
            <a:r>
              <a:rPr lang="zh-CN" altLang="en-US" sz="1600"/>
              <a:t>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隐含强制类型转换：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整数的默认类型是</a:t>
            </a:r>
            <a:r>
              <a:rPr lang="en-US" altLang="zh-CN" sz="1600"/>
              <a:t> int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小数默认是</a:t>
            </a:r>
            <a:r>
              <a:rPr lang="en-US" altLang="zh-CN" sz="1600"/>
              <a:t> double </a:t>
            </a:r>
            <a:r>
              <a:rPr lang="zh-CN" altLang="en-US" sz="1600"/>
              <a:t>类型浮点型，在定义</a:t>
            </a:r>
            <a:r>
              <a:rPr lang="en-US" altLang="zh-CN" sz="1600"/>
              <a:t> float </a:t>
            </a:r>
            <a:r>
              <a:rPr lang="zh-CN" altLang="en-US" sz="1600"/>
              <a:t>类型时必须在数字后面跟上</a:t>
            </a:r>
            <a:r>
              <a:rPr lang="en-US" altLang="zh-CN" sz="1600"/>
              <a:t> F </a:t>
            </a:r>
            <a:r>
              <a:rPr lang="zh-CN" altLang="en-US" sz="1600"/>
              <a:t>或者</a:t>
            </a:r>
            <a:r>
              <a:rPr lang="en-US" altLang="zh-CN" sz="1600"/>
              <a:t> f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3695"/>
            <a:ext cx="8229600" cy="601472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>
                <a:sym typeface="+mn-ea"/>
              </a:rPr>
              <a:t>Java</a:t>
            </a:r>
            <a:r>
              <a:rPr lang="zh-CN" altLang="en-US" sz="2000">
                <a:sym typeface="+mn-ea"/>
              </a:rPr>
              <a:t>变量：</a:t>
            </a:r>
            <a:endParaRPr lang="zh-CN" altLang="en-US" sz="2000"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ym typeface="+mn-ea"/>
              </a:rPr>
              <a:t>变量就是申请内存来存储值。当创建变量的时候，需要在内存中申请空间。</a:t>
            </a:r>
            <a:endParaRPr lang="zh-CN" altLang="en-US" sz="1600"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Java </a:t>
            </a:r>
            <a:r>
              <a:rPr lang="zh-CN" altLang="en-US" sz="1600"/>
              <a:t>语言支持的变量类型有：</a:t>
            </a:r>
            <a:endParaRPr lang="zh-CN" altLang="en-US" sz="16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/>
              <a:t>局部变量（</a:t>
            </a:r>
            <a:r>
              <a:rPr lang="en-US" altLang="zh-CN" sz="1600"/>
              <a:t>Local Variables</a:t>
            </a:r>
            <a:r>
              <a:rPr lang="zh-CN" altLang="en-US" sz="1600"/>
              <a:t>）：局部变量是在方法、构造函数或块内部声明的变量，它们在声明的方法、构造函数或块执行结束后被销毁，局部变量在声明时需要初始化，否则会导致编译错误。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实例变量（</a:t>
            </a:r>
            <a:r>
              <a:rPr lang="en-US" altLang="zh-CN" sz="1600"/>
              <a:t>Instance Variables</a:t>
            </a:r>
            <a:r>
              <a:rPr lang="zh-CN" altLang="en-US" sz="1600"/>
              <a:t>）：实例变量是在类中声明，但在方法、构造函数或块之外，它们属于类的实例，每个类的实例都有自己的副本，如果不明确初始化，实例变量会被赋予默认值（数值类型为</a:t>
            </a:r>
            <a:r>
              <a:rPr lang="en-US" altLang="zh-CN" sz="1600"/>
              <a:t>0</a:t>
            </a:r>
            <a:r>
              <a:rPr lang="zh-CN" altLang="en-US" sz="1600"/>
              <a:t>，</a:t>
            </a:r>
            <a:r>
              <a:rPr lang="en-US" altLang="zh-CN" sz="1600"/>
              <a:t>boolean</a:t>
            </a:r>
            <a:r>
              <a:rPr lang="zh-CN" altLang="en-US" sz="1600"/>
              <a:t>类型为</a:t>
            </a:r>
            <a:r>
              <a:rPr lang="en-US" altLang="zh-CN" sz="1600"/>
              <a:t>false</a:t>
            </a:r>
            <a:r>
              <a:rPr lang="zh-CN" altLang="en-US" sz="1600"/>
              <a:t>，对象引用类型为</a:t>
            </a:r>
            <a:r>
              <a:rPr lang="en-US" altLang="zh-CN" sz="1600"/>
              <a:t>null</a:t>
            </a:r>
            <a:r>
              <a:rPr lang="zh-CN" altLang="en-US" sz="1600"/>
              <a:t>）。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静态变量或类变量（</a:t>
            </a:r>
            <a:r>
              <a:rPr lang="en-US" altLang="zh-CN" sz="1600"/>
              <a:t>Class Variables</a:t>
            </a:r>
            <a:r>
              <a:rPr lang="zh-CN" altLang="en-US" sz="1600"/>
              <a:t>）：类变量是在类中用</a:t>
            </a:r>
            <a:r>
              <a:rPr lang="en-US" altLang="zh-CN" sz="1600"/>
              <a:t> static </a:t>
            </a:r>
            <a:r>
              <a:rPr lang="zh-CN" altLang="en-US" sz="1600"/>
              <a:t>关键字声明的变量，它们属于类而不是实例，所有该类的实例共享同一个类变量的值，类变量在类加载时被初始化，而且只初始化一次。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参数变量（</a:t>
            </a:r>
            <a:r>
              <a:rPr lang="en-US" altLang="zh-CN" sz="1600"/>
              <a:t>Parameters</a:t>
            </a:r>
            <a:r>
              <a:rPr lang="zh-CN" altLang="en-US" sz="1600"/>
              <a:t>）：参数是方法或构造函数声明中的变量，用于接收调用该方法或构造函数时传递的值，参数变量的作用域只限于方法内部。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hlinkClick r:id="rId1" action="ppaction://hlinkfile"/>
              </a:rPr>
              <a:t>（详情可点击</a:t>
            </a:r>
            <a:r>
              <a:rPr lang="zh-CN" altLang="en-US" sz="1600">
                <a:hlinkClick r:id="rId1" action="ppaction://hlinkfile"/>
              </a:rPr>
              <a:t>此处前往查看）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3695"/>
            <a:ext cx="8229600" cy="601472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变量命名规则</a:t>
            </a:r>
            <a:r>
              <a:rPr lang="en-US" altLang="zh-CN" sz="1600"/>
              <a:t>: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使用有意义的名字：</a:t>
            </a:r>
            <a:r>
              <a:rPr lang="en-US" altLang="zh-CN" sz="1600"/>
              <a:t> </a:t>
            </a:r>
            <a:r>
              <a:rPr lang="zh-CN" altLang="en-US" sz="1600"/>
              <a:t>变量名应该具有清晰的含义，能够准确地反映变量的用途。避免使用单个字符或无意义的缩写。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驼峰命名法（</a:t>
            </a:r>
            <a:r>
              <a:rPr lang="en-US" altLang="zh-CN" sz="1600"/>
              <a:t>Camel Case</a:t>
            </a:r>
            <a:r>
              <a:rPr lang="zh-CN" altLang="en-US" sz="1600"/>
              <a:t>）：</a:t>
            </a:r>
            <a:r>
              <a:rPr lang="en-US" altLang="zh-CN" sz="1600"/>
              <a:t> </a:t>
            </a:r>
            <a:r>
              <a:rPr lang="zh-CN" altLang="en-US" sz="1600"/>
              <a:t>在变量名中使用驼峰命名法，即将每个单词的首字母大写，除了第一个单词外，其余单词的首字母都采用大写形式。例如：</a:t>
            </a:r>
            <a:r>
              <a:rPr lang="en-US" altLang="zh-CN" sz="1600"/>
              <a:t>myVariableName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避免关键字：</a:t>
            </a:r>
            <a:r>
              <a:rPr lang="en-US" altLang="zh-CN" sz="1600"/>
              <a:t> </a:t>
            </a:r>
            <a:r>
              <a:rPr lang="zh-CN" altLang="en-US" sz="1600"/>
              <a:t>不要使用</a:t>
            </a:r>
            <a:r>
              <a:rPr lang="en-US" altLang="zh-CN" sz="1600"/>
              <a:t> Java </a:t>
            </a:r>
            <a:r>
              <a:rPr lang="zh-CN" altLang="en-US" sz="1600"/>
              <a:t>关键字（例如，</a:t>
            </a:r>
            <a:r>
              <a:rPr lang="en-US" altLang="zh-CN" sz="1600"/>
              <a:t>class</a:t>
            </a:r>
            <a:r>
              <a:rPr lang="zh-CN" altLang="en-US" sz="1600"/>
              <a:t>、</a:t>
            </a:r>
            <a:r>
              <a:rPr lang="en-US" altLang="zh-CN" sz="1600"/>
              <a:t>int</a:t>
            </a:r>
            <a:r>
              <a:rPr lang="zh-CN" altLang="en-US" sz="1600"/>
              <a:t>、</a:t>
            </a:r>
            <a:r>
              <a:rPr lang="en-US" altLang="zh-CN" sz="1600"/>
              <a:t>boolean</a:t>
            </a:r>
            <a:r>
              <a:rPr lang="zh-CN" altLang="en-US" sz="1600"/>
              <a:t>等）作为变量名。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区分大小写：</a:t>
            </a:r>
            <a:r>
              <a:rPr lang="en-US" altLang="zh-CN" sz="1600"/>
              <a:t> Java </a:t>
            </a:r>
            <a:r>
              <a:rPr lang="zh-CN" altLang="en-US" sz="1600"/>
              <a:t>是大小写敏感的，因此变量名中的大小写字母被视为不同的符号。例如，</a:t>
            </a:r>
            <a:r>
              <a:rPr lang="en-US" altLang="zh-CN" sz="1600"/>
              <a:t>myVariable </a:t>
            </a:r>
            <a:r>
              <a:rPr lang="zh-CN" altLang="en-US" sz="1600"/>
              <a:t>和</a:t>
            </a:r>
            <a:r>
              <a:rPr lang="en-US" altLang="zh-CN" sz="1600"/>
              <a:t> myvariable </a:t>
            </a:r>
            <a:r>
              <a:rPr lang="zh-CN" altLang="en-US" sz="1600"/>
              <a:t>是两个不同的变量。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不以数字开头：</a:t>
            </a:r>
            <a:r>
              <a:rPr lang="en-US" altLang="zh-CN" sz="1600"/>
              <a:t> </a:t>
            </a:r>
            <a:r>
              <a:rPr lang="zh-CN" altLang="en-US" sz="1600"/>
              <a:t>变量名不能以数字开头，但可以包含数字。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遵循命名约定：</a:t>
            </a:r>
            <a:r>
              <a:rPr lang="en-US" altLang="zh-CN" sz="1600"/>
              <a:t> </a:t>
            </a:r>
            <a:r>
              <a:rPr lang="zh-CN" altLang="en-US" sz="1600"/>
              <a:t>对于不同类型的变量（局部变量、实例变量、静态变量等），可以采用不同的命名约定，例如使用前缀或后缀来区分。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静态变量（类变量）通常也可以使用大写蛇形命名法，全大写字母，单词之间用下划线分隔。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常量使用全大写字母，单词之间用下划线分隔；通常使用</a:t>
            </a:r>
            <a:r>
              <a:rPr lang="en-US" altLang="zh-CN" sz="1600"/>
              <a:t> final </a:t>
            </a:r>
            <a:r>
              <a:rPr lang="zh-CN" altLang="en-US" sz="1600"/>
              <a:t>修饰。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类名应该以大写字母开头。</a:t>
            </a:r>
            <a:endParaRPr lang="zh-CN" altLang="en-US"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3695"/>
            <a:ext cx="8229600" cy="601472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修饰符：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修饰符用来定义类、方法或者变量，通常放在语句的最前端。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访问控制</a:t>
            </a:r>
            <a:r>
              <a:rPr lang="zh-CN" altLang="en-US" sz="1600"/>
              <a:t>修饰符：可以使用访问控制符来保护对类、变量、方法和构造方法的访问。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default (</a:t>
            </a:r>
            <a:r>
              <a:rPr lang="zh-CN" altLang="en-US" sz="1600"/>
              <a:t>即默认，什么也不写）</a:t>
            </a:r>
            <a:r>
              <a:rPr lang="en-US" altLang="zh-CN" sz="1600"/>
              <a:t>: </a:t>
            </a:r>
            <a:r>
              <a:rPr lang="zh-CN" altLang="en-US" sz="1600"/>
              <a:t>在同一包内可见，不使用任何修饰符。使用对象：类、接口、变量、方法。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private : </a:t>
            </a:r>
            <a:r>
              <a:rPr lang="zh-CN" altLang="en-US" sz="1600"/>
              <a:t>在同一类内可见。使用对象：变量、方法。</a:t>
            </a:r>
            <a:r>
              <a:rPr lang="en-US" altLang="zh-CN" sz="1600"/>
              <a:t> </a:t>
            </a:r>
            <a:r>
              <a:rPr lang="zh-CN" altLang="en-US" sz="1600"/>
              <a:t>注意：不能修饰类（外部类）。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public : </a:t>
            </a:r>
            <a:r>
              <a:rPr lang="zh-CN" altLang="en-US" sz="1600"/>
              <a:t>对所有类可见。使用对象：类、接口、变量、方法。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protected : </a:t>
            </a:r>
            <a:r>
              <a:rPr lang="zh-CN" altLang="en-US" sz="1600"/>
              <a:t>对同一包内的类和所有子类可见。使用对象：变量、方法。</a:t>
            </a:r>
            <a:r>
              <a:rPr lang="en-US" altLang="zh-CN" sz="1600"/>
              <a:t> </a:t>
            </a:r>
            <a:r>
              <a:rPr lang="zh-CN" altLang="en-US" sz="1600"/>
              <a:t>注意：不能修饰类（外部类）。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默认访问修饰符</a:t>
            </a:r>
            <a:r>
              <a:rPr lang="en-US" altLang="zh-CN" sz="1600"/>
              <a:t>-</a:t>
            </a:r>
            <a:r>
              <a:rPr lang="zh-CN" altLang="en-US" sz="1600"/>
              <a:t>不使用任何关键字：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如果在类、变量、方法或构造函数的定义中没有指定任何访问修饰符，那么它们就默认具有默认访问修饰符。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默认访问修饰符的访问级别是包级别（</a:t>
            </a:r>
            <a:r>
              <a:rPr lang="en-US" altLang="zh-CN" sz="1600"/>
              <a:t>package-level</a:t>
            </a:r>
            <a:r>
              <a:rPr lang="zh-CN" altLang="en-US" sz="1600"/>
              <a:t>），即只能被同一包中的其他类访问。</a:t>
            </a:r>
            <a:endParaRPr lang="zh-CN" altLang="en-US"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私有访问修饰符</a:t>
            </a:r>
            <a:r>
              <a:rPr lang="en-US" altLang="zh-CN" sz="1600"/>
              <a:t>-private</a:t>
            </a:r>
            <a:r>
              <a:rPr lang="zh-CN" altLang="en-US" sz="1600"/>
              <a:t>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私有访问修饰符是最严格的访问级别，所以被声明为</a:t>
            </a:r>
            <a:r>
              <a:rPr lang="en-US" altLang="zh-CN" sz="1600"/>
              <a:t> private </a:t>
            </a:r>
            <a:r>
              <a:rPr lang="zh-CN" altLang="en-US" sz="1600"/>
              <a:t>的方法、变量和构造方法只能被所属类访问，并且类和接口不能声明为</a:t>
            </a:r>
            <a:r>
              <a:rPr lang="en-US" altLang="zh-CN" sz="1600"/>
              <a:t> private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声明为私有访问类型的变量只能通过类中公共的</a:t>
            </a:r>
            <a:r>
              <a:rPr lang="en-US" altLang="zh-CN" sz="1600"/>
              <a:t> getter </a:t>
            </a:r>
            <a:r>
              <a:rPr lang="zh-CN" altLang="en-US" sz="1600"/>
              <a:t>方法被外部类访问。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Private </a:t>
            </a:r>
            <a:r>
              <a:rPr lang="zh-CN" altLang="en-US" sz="1600"/>
              <a:t>访问修饰符的使用主要用来隐藏类的实现细节和保护类的数据。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公有访问修饰符</a:t>
            </a:r>
            <a:r>
              <a:rPr lang="en-US" altLang="zh-CN" sz="1600"/>
              <a:t>-public</a:t>
            </a:r>
            <a:r>
              <a:rPr lang="zh-CN" altLang="en-US" sz="1600"/>
              <a:t>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被声明为</a:t>
            </a:r>
            <a:r>
              <a:rPr lang="en-US" altLang="zh-CN" sz="1600"/>
              <a:t> public </a:t>
            </a:r>
            <a:r>
              <a:rPr lang="zh-CN" altLang="en-US" sz="1600"/>
              <a:t>的类、方法、构造方法和接口能够被任何其他类访问。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如果几个相互访问的</a:t>
            </a:r>
            <a:r>
              <a:rPr lang="en-US" altLang="zh-CN" sz="1600"/>
              <a:t> public </a:t>
            </a:r>
            <a:r>
              <a:rPr lang="zh-CN" altLang="en-US" sz="1600"/>
              <a:t>类分布在不同的包中，则需要导入相应</a:t>
            </a:r>
            <a:r>
              <a:rPr lang="en-US" altLang="zh-CN" sz="1600"/>
              <a:t> public </a:t>
            </a:r>
            <a:r>
              <a:rPr lang="zh-CN" altLang="en-US" sz="1600"/>
              <a:t>类所在的包。由于类的继承性，类所有的公有方法和变量都能被其子类继承。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Java </a:t>
            </a:r>
            <a:r>
              <a:rPr lang="zh-CN" altLang="en-US" sz="1600"/>
              <a:t>程序的</a:t>
            </a:r>
            <a:r>
              <a:rPr lang="en-US" altLang="zh-CN" sz="1600"/>
              <a:t> main() </a:t>
            </a:r>
            <a:r>
              <a:rPr lang="zh-CN" altLang="en-US" sz="1600"/>
              <a:t>方法必须设置成公有的，否则，</a:t>
            </a:r>
            <a:r>
              <a:rPr lang="en-US" altLang="zh-CN" sz="1600"/>
              <a:t>Java </a:t>
            </a:r>
            <a:r>
              <a:rPr lang="zh-CN" altLang="en-US" sz="1600"/>
              <a:t>解释器将不能运行该类。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受保护的访问修饰符</a:t>
            </a:r>
            <a:r>
              <a:rPr lang="en-US" altLang="zh-CN" sz="1600"/>
              <a:t>-protected</a:t>
            </a:r>
            <a:r>
              <a:rPr lang="zh-CN" altLang="en-US" sz="1600"/>
              <a:t>（只想让该方法对其所在类的子类可见就</a:t>
            </a:r>
            <a:r>
              <a:rPr lang="zh-CN" altLang="en-US" sz="1600"/>
              <a:t>使用）：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子类与基类在同一包中：被声明为</a:t>
            </a:r>
            <a:r>
              <a:rPr lang="en-US" altLang="zh-CN" sz="1600"/>
              <a:t> protected </a:t>
            </a:r>
            <a:r>
              <a:rPr lang="zh-CN" altLang="en-US" sz="1600"/>
              <a:t>的变量、方法和构造器能被同一个包中的任何其他类访问；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子类与基类不在同一包中：那么在子类中，子类实例可以访问其从基类继承而来的</a:t>
            </a:r>
            <a:r>
              <a:rPr lang="en-US" altLang="zh-CN" sz="1600"/>
              <a:t> protected </a:t>
            </a:r>
            <a:r>
              <a:rPr lang="zh-CN" altLang="en-US" sz="1600"/>
              <a:t>方法，而不能访问基类实例的</a:t>
            </a:r>
            <a:r>
              <a:rPr lang="en-US" altLang="zh-CN" sz="1600"/>
              <a:t>protected</a:t>
            </a:r>
            <a:r>
              <a:rPr lang="zh-CN" altLang="en-US" sz="1600"/>
              <a:t>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protected </a:t>
            </a:r>
            <a:r>
              <a:rPr lang="zh-CN" altLang="en-US" sz="1600"/>
              <a:t>可以修饰数据成员，构造方法，方法成员，不能修饰类（内部类除外）。</a:t>
            </a:r>
            <a:endParaRPr lang="zh-CN" altLang="en-US"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650"/>
            <a:ext cx="8229600" cy="658114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访问控制和继承（继承的规则）：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父类中声明为</a:t>
            </a:r>
            <a:r>
              <a:rPr lang="en-US" altLang="zh-CN" sz="1600"/>
              <a:t> public </a:t>
            </a:r>
            <a:r>
              <a:rPr lang="zh-CN" altLang="en-US" sz="1600"/>
              <a:t>的方法在子类中也必须为</a:t>
            </a:r>
            <a:r>
              <a:rPr lang="en-US" altLang="zh-CN" sz="1600"/>
              <a:t> public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父类中声明为</a:t>
            </a:r>
            <a:r>
              <a:rPr lang="en-US" altLang="zh-CN" sz="1600"/>
              <a:t> protected </a:t>
            </a:r>
            <a:r>
              <a:rPr lang="zh-CN" altLang="en-US" sz="1600"/>
              <a:t>的方法在子类中要么声明为</a:t>
            </a:r>
            <a:r>
              <a:rPr lang="en-US" altLang="zh-CN" sz="1600"/>
              <a:t> protected</a:t>
            </a:r>
            <a:r>
              <a:rPr lang="zh-CN" altLang="en-US" sz="1600"/>
              <a:t>，要么声明为</a:t>
            </a:r>
            <a:r>
              <a:rPr lang="en-US" altLang="zh-CN" sz="1600"/>
              <a:t> public</a:t>
            </a:r>
            <a:r>
              <a:rPr lang="zh-CN" altLang="en-US" sz="1600"/>
              <a:t>，不能声明为</a:t>
            </a:r>
            <a:r>
              <a:rPr lang="en-US" altLang="zh-CN" sz="1600"/>
              <a:t> private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父类中声明为</a:t>
            </a:r>
            <a:r>
              <a:rPr lang="en-US" altLang="zh-CN" sz="1600"/>
              <a:t> private </a:t>
            </a:r>
            <a:r>
              <a:rPr lang="zh-CN" altLang="en-US" sz="1600"/>
              <a:t>的方法，不能够被子类继承。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非访问</a:t>
            </a:r>
            <a:r>
              <a:rPr lang="zh-CN" altLang="en-US" sz="2000"/>
              <a:t>修饰符：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static</a:t>
            </a:r>
            <a:r>
              <a:rPr lang="zh-CN" altLang="en-US" sz="1600"/>
              <a:t>修饰符（用来修饰类方法和类变量）：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静态变量：</a:t>
            </a:r>
            <a:r>
              <a:rPr lang="en-US" altLang="zh-CN" sz="1600"/>
              <a:t>static </a:t>
            </a:r>
            <a:r>
              <a:rPr lang="zh-CN" altLang="en-US" sz="1600"/>
              <a:t>关键字用来声明独立于对象的静态变量，无论一个类实例化多少对象，它的静态变量只有一份拷贝。</a:t>
            </a:r>
            <a:r>
              <a:rPr lang="en-US" altLang="zh-CN" sz="1600"/>
              <a:t> </a:t>
            </a:r>
            <a:r>
              <a:rPr lang="zh-CN" altLang="en-US" sz="1600"/>
              <a:t>静态变量也被称为类变量。局部变量不能被声明为</a:t>
            </a:r>
            <a:r>
              <a:rPr lang="en-US" altLang="zh-CN" sz="1600"/>
              <a:t> static </a:t>
            </a:r>
            <a:r>
              <a:rPr lang="zh-CN" altLang="en-US" sz="1600"/>
              <a:t>变量。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静态方法：</a:t>
            </a:r>
            <a:r>
              <a:rPr lang="en-US" altLang="zh-CN" sz="1600"/>
              <a:t>static </a:t>
            </a:r>
            <a:r>
              <a:rPr lang="zh-CN" altLang="en-US" sz="1600"/>
              <a:t>关键字用来声明独立于对象的静态方法。静态方法不能使用类的非静态变量。静态方法从参数列表得到数据，然后计算这些数据。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final</a:t>
            </a:r>
            <a:r>
              <a:rPr lang="zh-CN" altLang="en-US" sz="1600"/>
              <a:t>修饰符（用来修饰类、方法和变量）：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变量一旦赋值后，不能被重新赋值。被</a:t>
            </a:r>
            <a:r>
              <a:rPr lang="en-US" altLang="zh-CN" sz="1600"/>
              <a:t> final </a:t>
            </a:r>
            <a:r>
              <a:rPr lang="zh-CN" altLang="en-US" sz="1600"/>
              <a:t>修饰的实例变量必须显式指定初始值。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final </a:t>
            </a:r>
            <a:r>
              <a:rPr lang="zh-CN" altLang="en-US" sz="1600"/>
              <a:t>修饰符通常和</a:t>
            </a:r>
            <a:r>
              <a:rPr lang="en-US" altLang="zh-CN" sz="1600"/>
              <a:t> static </a:t>
            </a:r>
            <a:r>
              <a:rPr lang="zh-CN" altLang="en-US" sz="1600"/>
              <a:t>修饰符一起使用来创建类常量。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父类中的</a:t>
            </a:r>
            <a:r>
              <a:rPr lang="en-US" altLang="zh-CN" sz="1600"/>
              <a:t> final </a:t>
            </a:r>
            <a:r>
              <a:rPr lang="zh-CN" altLang="en-US" sz="1600"/>
              <a:t>方法可以被子类继承，但是不能被子类重写。</a:t>
            </a:r>
            <a:r>
              <a:rPr lang="en-US" altLang="zh-CN" sz="1600"/>
              <a:t>final </a:t>
            </a:r>
            <a:r>
              <a:rPr lang="zh-CN" altLang="en-US" sz="1600"/>
              <a:t>类不能被继承。</a:t>
            </a:r>
            <a:endParaRPr lang="zh-CN" altLang="en-US"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33680"/>
            <a:ext cx="8229600" cy="622300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abstract </a:t>
            </a:r>
            <a:r>
              <a:rPr lang="zh-CN" altLang="en-US" sz="1600"/>
              <a:t>修饰符（用来创建抽象类和抽象方法）：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抽象</a:t>
            </a:r>
            <a:r>
              <a:rPr lang="zh-CN" altLang="en-US" sz="1600"/>
              <a:t>类（包含抽象方法和非抽象方法）：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抽象类不能用来实例化对象，声明抽象类的唯一目的是为了将来对该类进行扩充。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一个类不能同时被</a:t>
            </a:r>
            <a:r>
              <a:rPr lang="en-US" altLang="zh-CN" sz="1600"/>
              <a:t> abstract </a:t>
            </a:r>
            <a:r>
              <a:rPr lang="zh-CN" altLang="en-US" sz="1600"/>
              <a:t>和</a:t>
            </a:r>
            <a:r>
              <a:rPr lang="en-US" altLang="zh-CN" sz="1600"/>
              <a:t> final </a:t>
            </a:r>
            <a:r>
              <a:rPr lang="zh-CN" altLang="en-US" sz="1600"/>
              <a:t>修饰。如果一个类包含抽象方法，那么该类一定要声明为抽象类，否则将出现编译错误。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抽象方法：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抽象方法是一种没有任何实现的方法，该方法的具体实现由子类提供。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抽象方法不能被声明成</a:t>
            </a:r>
            <a:r>
              <a:rPr lang="en-US" altLang="zh-CN" sz="1600"/>
              <a:t> final </a:t>
            </a:r>
            <a:r>
              <a:rPr lang="zh-CN" altLang="en-US" sz="1600"/>
              <a:t>和</a:t>
            </a:r>
            <a:r>
              <a:rPr lang="en-US" altLang="zh-CN" sz="1600"/>
              <a:t> static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任何继承抽象类的子类必须实现父类的所有抽象方法，除非该子类也是抽象类。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如果一个类包含若干个抽象方法，那么该类必须声明为抽象类。抽象类可以不包含抽象方法。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抽象方法的声明以分号结尾，例如：</a:t>
            </a:r>
            <a:r>
              <a:rPr lang="en-US" altLang="zh-CN" sz="1600"/>
              <a:t>public abstract sample();</a:t>
            </a:r>
            <a:r>
              <a:rPr lang="zh-CN" altLang="en-US" sz="1600"/>
              <a:t>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synchronized </a:t>
            </a:r>
            <a:r>
              <a:rPr lang="zh-CN" altLang="en-US" sz="1600"/>
              <a:t>修饰符：</a:t>
            </a:r>
            <a:r>
              <a:rPr lang="en-US" altLang="zh-CN" sz="1600"/>
              <a:t>synchronized </a:t>
            </a:r>
            <a:r>
              <a:rPr lang="zh-CN" altLang="en-US" sz="1600"/>
              <a:t>关键字声明的方法同一时间只能被一个线程访问。</a:t>
            </a:r>
            <a:r>
              <a:rPr lang="en-US" altLang="zh-CN" sz="1600"/>
              <a:t>synchronized </a:t>
            </a:r>
            <a:r>
              <a:rPr lang="zh-CN" altLang="en-US" sz="1600"/>
              <a:t>修饰符可以应用于四个访问修饰符。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transient </a:t>
            </a:r>
            <a:r>
              <a:rPr lang="zh-CN" altLang="en-US" sz="1600"/>
              <a:t>与</a:t>
            </a:r>
            <a:r>
              <a:rPr lang="en-US" altLang="zh-CN" sz="1600"/>
              <a:t>volatile </a:t>
            </a:r>
            <a:r>
              <a:rPr lang="zh-CN" altLang="en-US" sz="1600"/>
              <a:t>修饰符不常用，不做</a:t>
            </a:r>
            <a:r>
              <a:rPr lang="zh-CN" altLang="en-US" sz="1600"/>
              <a:t>介绍。</a:t>
            </a:r>
            <a:endParaRPr lang="zh-CN" altLang="en-US" sz="1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9375"/>
            <a:ext cx="8229600" cy="270256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运算符（</a:t>
            </a:r>
            <a:r>
              <a:rPr lang="zh-CN" altLang="en-US" sz="2000">
                <a:hlinkClick r:id="rId1" action="ppaction://hlinkfile"/>
              </a:rPr>
              <a:t>详情点此查看</a:t>
            </a:r>
            <a:r>
              <a:rPr lang="zh-CN" altLang="en-US" sz="2000"/>
              <a:t>）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循环结构：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while</a:t>
            </a:r>
            <a:r>
              <a:rPr lang="zh-CN" altLang="en-US" sz="1600"/>
              <a:t>循环：</a:t>
            </a:r>
            <a:r>
              <a:rPr lang="en-US" altLang="zh-CN" sz="1600"/>
              <a:t>while</a:t>
            </a:r>
            <a:r>
              <a:rPr lang="zh-CN" altLang="en-US" sz="1600"/>
              <a:t>是</a:t>
            </a:r>
            <a:r>
              <a:rPr lang="zh-CN" altLang="en-US" sz="1600">
                <a:solidFill>
                  <a:srgbClr val="C00000"/>
                </a:solidFill>
              </a:rPr>
              <a:t>最基本的循环</a:t>
            </a:r>
            <a:r>
              <a:rPr lang="zh-CN" altLang="en-US" sz="1600"/>
              <a:t>，只要布尔表达式为</a:t>
            </a:r>
            <a:r>
              <a:rPr lang="en-US" altLang="zh-CN" sz="1600"/>
              <a:t> true</a:t>
            </a:r>
            <a:r>
              <a:rPr lang="zh-CN" altLang="en-US" sz="1600"/>
              <a:t>，循环就会一直执行下去。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do...while</a:t>
            </a:r>
            <a:r>
              <a:rPr lang="zh-CN" altLang="en-US" sz="1600"/>
              <a:t>循环：</a:t>
            </a:r>
            <a:r>
              <a:rPr lang="en-US" altLang="zh-CN" sz="1600"/>
              <a:t>do…while </a:t>
            </a:r>
            <a:r>
              <a:rPr lang="zh-CN" altLang="en-US" sz="1600"/>
              <a:t>循环和</a:t>
            </a:r>
            <a:r>
              <a:rPr lang="en-US" altLang="zh-CN" sz="1600"/>
              <a:t> while </a:t>
            </a:r>
            <a:r>
              <a:rPr lang="zh-CN" altLang="en-US" sz="1600"/>
              <a:t>循环相似，且</a:t>
            </a:r>
            <a:r>
              <a:rPr lang="zh-CN" altLang="en-US" sz="1600">
                <a:solidFill>
                  <a:srgbClr val="C00000"/>
                </a:solidFill>
              </a:rPr>
              <a:t>循环至少会执行一次</a:t>
            </a:r>
            <a:r>
              <a:rPr lang="zh-CN" altLang="en-US" sz="1600"/>
              <a:t>。布尔表达式在循环体的后面，所以语句块在检测布尔表达式之前已经执行了。</a:t>
            </a:r>
            <a:r>
              <a:rPr lang="en-US" altLang="zh-CN" sz="1600"/>
              <a:t> </a:t>
            </a:r>
            <a:r>
              <a:rPr lang="zh-CN" altLang="en-US" sz="1600"/>
              <a:t>如果布尔表达式的值为</a:t>
            </a:r>
            <a:r>
              <a:rPr lang="en-US" altLang="zh-CN" sz="1600"/>
              <a:t> true</a:t>
            </a:r>
            <a:r>
              <a:rPr lang="zh-CN" altLang="en-US" sz="1600"/>
              <a:t>，则语句块一直执行，直到布尔表达式的值为</a:t>
            </a:r>
            <a:r>
              <a:rPr lang="en-US" altLang="zh-CN" sz="1600"/>
              <a:t> false</a:t>
            </a:r>
            <a:r>
              <a:rPr lang="zh-CN" altLang="en-US" sz="1600"/>
              <a:t>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  <p:pic>
        <p:nvPicPr>
          <p:cNvPr id="2" name="图片 1" descr="屏幕截图 2026-02-08 1505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2781935"/>
            <a:ext cx="4076700" cy="2743200"/>
          </a:xfrm>
          <a:prstGeom prst="rect">
            <a:avLst/>
          </a:prstGeom>
        </p:spPr>
      </p:pic>
      <p:pic>
        <p:nvPicPr>
          <p:cNvPr id="4" name="图片 3" descr="屏幕截图 2026-02-08 1505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305" y="2781935"/>
            <a:ext cx="3152775" cy="25812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440753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sym typeface="+mn-ea"/>
              </a:rPr>
              <a:t>for</a:t>
            </a:r>
            <a:r>
              <a:rPr lang="zh-CN" altLang="en-US" sz="1600">
                <a:sym typeface="+mn-ea"/>
              </a:rPr>
              <a:t>循环：</a:t>
            </a:r>
            <a:r>
              <a:rPr lang="en-US" altLang="zh-CN" sz="1600">
                <a:sym typeface="+mn-ea"/>
              </a:rPr>
              <a:t>for</a:t>
            </a:r>
            <a:r>
              <a:rPr lang="zh-CN" altLang="en-US" sz="1600">
                <a:solidFill>
                  <a:srgbClr val="C00000"/>
                </a:solidFill>
                <a:sym typeface="+mn-ea"/>
              </a:rPr>
              <a:t>循环执行的次数是在执行前就确定的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>
                <a:sym typeface="+mn-ea"/>
              </a:rPr>
              <a:t>最先执行初始化步骤。可以声明一种类型，但可初始化一个或多个循环控制变量，也可以是空语句。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>
                <a:sym typeface="+mn-ea"/>
              </a:rPr>
              <a:t>然后，检测布尔表达式的值。如果为</a:t>
            </a:r>
            <a:r>
              <a:rPr lang="en-US" altLang="zh-CN" sz="1600">
                <a:sym typeface="+mn-ea"/>
              </a:rPr>
              <a:t> true</a:t>
            </a:r>
            <a:r>
              <a:rPr lang="zh-CN" altLang="en-US" sz="1600">
                <a:sym typeface="+mn-ea"/>
              </a:rPr>
              <a:t>，循环体被执行。如果为</a:t>
            </a:r>
            <a:r>
              <a:rPr lang="en-US" altLang="zh-CN" sz="1600">
                <a:sym typeface="+mn-ea"/>
              </a:rPr>
              <a:t>false</a:t>
            </a:r>
            <a:r>
              <a:rPr lang="zh-CN" altLang="en-US" sz="1600">
                <a:sym typeface="+mn-ea"/>
              </a:rPr>
              <a:t>，循环终止，开始执行循环体后面的语句。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>
                <a:sym typeface="+mn-ea"/>
              </a:rPr>
              <a:t>执行一次循环后，更新循环控制变量。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>
                <a:sym typeface="+mn-ea"/>
              </a:rPr>
              <a:t>再次检测布尔表达式。循环执行上面的过程。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ym typeface="+mn-ea"/>
              </a:rPr>
              <a:t>增强</a:t>
            </a:r>
            <a:r>
              <a:rPr lang="en-US" altLang="zh-CN" sz="1600">
                <a:sym typeface="+mn-ea"/>
              </a:rPr>
              <a:t>for</a:t>
            </a:r>
            <a:r>
              <a:rPr lang="zh-CN" altLang="en-US" sz="1600">
                <a:sym typeface="+mn-ea"/>
              </a:rPr>
              <a:t>循环（主要用于数组）：</a:t>
            </a:r>
            <a:endParaRPr lang="zh-CN" altLang="en-US" sz="16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/>
              <a:t>声明语句：声明新的局部变量，该变量的类型必须和数组元素的类型匹配。其作用域限定在循环语句块，其值与此时数组元素的值相等。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表达式：表达式是要访问的数组名，或者是返回值为数组的方法。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  <p:pic>
        <p:nvPicPr>
          <p:cNvPr id="2" name="图片 1" descr="屏幕截图 2026-02-08 1519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80890"/>
            <a:ext cx="3476625" cy="2095500"/>
          </a:xfrm>
          <a:prstGeom prst="rect">
            <a:avLst/>
          </a:prstGeom>
        </p:spPr>
      </p:pic>
      <p:pic>
        <p:nvPicPr>
          <p:cNvPr id="4" name="图片 3" descr="屏幕截图 2026-02-08 1519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055" y="4580890"/>
            <a:ext cx="339090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462851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循环中的</a:t>
            </a:r>
            <a:r>
              <a:rPr lang="zh-CN" altLang="en-US" sz="1600"/>
              <a:t>关键词：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break</a:t>
            </a:r>
            <a:r>
              <a:rPr lang="zh-CN" altLang="en-US" sz="1600"/>
              <a:t>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主要用在循环语句或者</a:t>
            </a:r>
            <a:r>
              <a:rPr lang="en-US" altLang="zh-CN" sz="1600"/>
              <a:t> switch </a:t>
            </a:r>
            <a:r>
              <a:rPr lang="zh-CN" altLang="en-US" sz="1600"/>
              <a:t>语句中，用来跳出整个语句块。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跳出最里层的循环，并且继续执行该循环下面的语句。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continue</a:t>
            </a:r>
            <a:r>
              <a:rPr lang="zh-CN" altLang="en-US" sz="1600"/>
              <a:t>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适用于任何循环控制结构中。作用是让程序立刻跳转到下一次循环的迭代。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在</a:t>
            </a:r>
            <a:r>
              <a:rPr lang="en-US" altLang="zh-CN" sz="1600"/>
              <a:t> for </a:t>
            </a:r>
            <a:r>
              <a:rPr lang="zh-CN" altLang="en-US" sz="1600"/>
              <a:t>循环中，</a:t>
            </a:r>
            <a:r>
              <a:rPr lang="en-US" altLang="zh-CN" sz="1600"/>
              <a:t>continue </a:t>
            </a:r>
            <a:r>
              <a:rPr lang="zh-CN" altLang="en-US" sz="1600"/>
              <a:t>语句使程序立即跳转到更新语句。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在</a:t>
            </a:r>
            <a:r>
              <a:rPr lang="en-US" altLang="zh-CN" sz="1600"/>
              <a:t> while </a:t>
            </a:r>
            <a:r>
              <a:rPr lang="zh-CN" altLang="en-US" sz="1600"/>
              <a:t>或者</a:t>
            </a:r>
            <a:r>
              <a:rPr lang="en-US" altLang="zh-CN" sz="1600"/>
              <a:t> do…while </a:t>
            </a:r>
            <a:r>
              <a:rPr lang="zh-CN" altLang="en-US" sz="1600"/>
              <a:t>循环中，程序立即跳转到布尔表达式的判断语句。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（详细代码可见：</a:t>
            </a:r>
            <a:r>
              <a:rPr lang="en-US" altLang="zh-CN" sz="1600"/>
              <a:t>Loop.java</a:t>
            </a:r>
            <a:r>
              <a:rPr lang="zh-CN" altLang="en-US" sz="1600"/>
              <a:t>）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条件语句：</a:t>
            </a:r>
            <a:r>
              <a:rPr lang="en-US" altLang="zh-CN" sz="2000"/>
              <a:t>if...else</a:t>
            </a:r>
            <a:endParaRPr lang="en-US" altLang="zh-CN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if</a:t>
            </a:r>
            <a:r>
              <a:rPr lang="zh-CN" altLang="en-US" sz="1600"/>
              <a:t>：</a:t>
            </a:r>
            <a:r>
              <a:rPr lang="en-US" altLang="zh-CN" sz="1600"/>
              <a:t>				if...else</a:t>
            </a:r>
            <a:r>
              <a:rPr lang="zh-CN" altLang="en-US" sz="1600"/>
              <a:t>：</a:t>
            </a:r>
            <a:endParaRPr lang="zh-CN" altLang="en-US" sz="1600"/>
          </a:p>
        </p:txBody>
      </p:sp>
      <p:pic>
        <p:nvPicPr>
          <p:cNvPr id="4" name="图片 3" descr="屏幕截图 2026-02-09 1503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4580890"/>
            <a:ext cx="3419475" cy="2190750"/>
          </a:xfrm>
          <a:prstGeom prst="rect">
            <a:avLst/>
          </a:prstGeom>
        </p:spPr>
      </p:pic>
      <p:pic>
        <p:nvPicPr>
          <p:cNvPr id="5" name="图片 4" descr="屏幕截图 2026-02-09 1505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3723640"/>
            <a:ext cx="3571875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211645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if...else if...else </a:t>
            </a:r>
            <a:r>
              <a:rPr lang="zh-CN" altLang="en-US" sz="1600"/>
              <a:t>语句：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if </a:t>
            </a:r>
            <a:r>
              <a:rPr lang="zh-CN" altLang="en-US" sz="1600"/>
              <a:t>语句至多有</a:t>
            </a:r>
            <a:r>
              <a:rPr lang="en-US" altLang="zh-CN" sz="1600"/>
              <a:t> 1 </a:t>
            </a:r>
            <a:r>
              <a:rPr lang="zh-CN" altLang="en-US" sz="1600"/>
              <a:t>个</a:t>
            </a:r>
            <a:r>
              <a:rPr lang="en-US" altLang="zh-CN" sz="1600"/>
              <a:t> else </a:t>
            </a:r>
            <a:r>
              <a:rPr lang="zh-CN" altLang="en-US" sz="1600"/>
              <a:t>语句，</a:t>
            </a:r>
            <a:r>
              <a:rPr lang="en-US" altLang="zh-CN" sz="1600"/>
              <a:t>else </a:t>
            </a:r>
            <a:r>
              <a:rPr lang="zh-CN" altLang="en-US" sz="1600"/>
              <a:t>语句在所有的</a:t>
            </a:r>
            <a:r>
              <a:rPr lang="en-US" altLang="zh-CN" sz="1600"/>
              <a:t> else if </a:t>
            </a:r>
            <a:r>
              <a:rPr lang="zh-CN" altLang="en-US" sz="1600"/>
              <a:t>语句之后。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if </a:t>
            </a:r>
            <a:r>
              <a:rPr lang="zh-CN" altLang="en-US" sz="1600"/>
              <a:t>语句可以有若干个</a:t>
            </a:r>
            <a:r>
              <a:rPr lang="en-US" altLang="zh-CN" sz="1600"/>
              <a:t> else if </a:t>
            </a:r>
            <a:r>
              <a:rPr lang="zh-CN" altLang="en-US" sz="1600"/>
              <a:t>语句，它们必须在</a:t>
            </a:r>
            <a:r>
              <a:rPr lang="en-US" altLang="zh-CN" sz="1600"/>
              <a:t> else </a:t>
            </a:r>
            <a:r>
              <a:rPr lang="zh-CN" altLang="en-US" sz="1600"/>
              <a:t>语句之前。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一旦其中一个</a:t>
            </a:r>
            <a:r>
              <a:rPr lang="en-US" altLang="zh-CN" sz="1600"/>
              <a:t> else if </a:t>
            </a:r>
            <a:r>
              <a:rPr lang="zh-CN" altLang="en-US" sz="1600"/>
              <a:t>语句检测为</a:t>
            </a:r>
            <a:r>
              <a:rPr lang="en-US" altLang="zh-CN" sz="1600"/>
              <a:t> true</a:t>
            </a:r>
            <a:r>
              <a:rPr lang="zh-CN" altLang="en-US" sz="1600"/>
              <a:t>，其他的</a:t>
            </a:r>
            <a:r>
              <a:rPr lang="en-US" altLang="zh-CN" sz="1600"/>
              <a:t> else if </a:t>
            </a:r>
            <a:r>
              <a:rPr lang="zh-CN" altLang="en-US" sz="1600"/>
              <a:t>以及</a:t>
            </a:r>
            <a:r>
              <a:rPr lang="en-US" altLang="zh-CN" sz="1600"/>
              <a:t> else </a:t>
            </a:r>
            <a:r>
              <a:rPr lang="zh-CN" altLang="en-US" sz="1600"/>
              <a:t>语句都将跳过执行。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嵌套的</a:t>
            </a:r>
            <a:r>
              <a:rPr lang="en-US" altLang="zh-CN" sz="1600"/>
              <a:t> if…else </a:t>
            </a:r>
            <a:r>
              <a:rPr lang="zh-CN" altLang="en-US" sz="1600"/>
              <a:t>语句：</a:t>
            </a:r>
            <a:r>
              <a:rPr lang="zh-CN" altLang="en-US" sz="1600">
                <a:sym typeface="+mn-ea"/>
              </a:rPr>
              <a:t>可以在另一个</a:t>
            </a:r>
            <a:r>
              <a:rPr lang="en-US" altLang="zh-CN" sz="1600">
                <a:sym typeface="+mn-ea"/>
              </a:rPr>
              <a:t> if </a:t>
            </a:r>
            <a:r>
              <a:rPr lang="zh-CN" altLang="en-US" sz="1600">
                <a:sym typeface="+mn-ea"/>
              </a:rPr>
              <a:t>或者</a:t>
            </a:r>
            <a:r>
              <a:rPr lang="en-US" altLang="zh-CN" sz="1600">
                <a:sym typeface="+mn-ea"/>
              </a:rPr>
              <a:t> else if </a:t>
            </a:r>
            <a:r>
              <a:rPr lang="zh-CN" altLang="en-US" sz="1600">
                <a:sym typeface="+mn-ea"/>
              </a:rPr>
              <a:t>语句中使用</a:t>
            </a:r>
            <a:r>
              <a:rPr lang="en-US" altLang="zh-CN" sz="1600">
                <a:sym typeface="+mn-ea"/>
              </a:rPr>
              <a:t> if </a:t>
            </a:r>
            <a:r>
              <a:rPr lang="zh-CN" altLang="en-US" sz="1600">
                <a:sym typeface="+mn-ea"/>
              </a:rPr>
              <a:t>或者</a:t>
            </a:r>
            <a:r>
              <a:rPr lang="en-US" altLang="zh-CN" sz="1600">
                <a:sym typeface="+mn-ea"/>
              </a:rPr>
              <a:t> else if </a:t>
            </a:r>
            <a:r>
              <a:rPr lang="zh-CN" altLang="en-US" sz="1600">
                <a:sym typeface="+mn-ea"/>
              </a:rPr>
              <a:t>语句。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  <p:pic>
        <p:nvPicPr>
          <p:cNvPr id="5" name="图片 4" descr="屏幕截图 2026-02-09 1522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0200" y="2277110"/>
            <a:ext cx="4429125" cy="3486150"/>
          </a:xfrm>
          <a:prstGeom prst="rect">
            <a:avLst/>
          </a:prstGeom>
        </p:spPr>
      </p:pic>
      <p:pic>
        <p:nvPicPr>
          <p:cNvPr id="6" name="图片 5" descr="屏幕截图 2026-02-09 1521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77110"/>
            <a:ext cx="3362325" cy="44780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12725"/>
            <a:ext cx="8229600" cy="634174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switch case </a:t>
            </a:r>
            <a:r>
              <a:rPr lang="zh-CN" altLang="en-US" sz="1600"/>
              <a:t>语句（可搭配</a:t>
            </a:r>
            <a:r>
              <a:rPr lang="en-US" altLang="zh-CN" sz="1600"/>
              <a:t>break/continue</a:t>
            </a:r>
            <a:r>
              <a:rPr lang="zh-CN" altLang="en-US" sz="1600"/>
              <a:t>使用）：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witch case </a:t>
            </a:r>
            <a:r>
              <a:rPr lang="zh-CN" altLang="en-US" sz="1600"/>
              <a:t>语句判断一个变量与一系列值中某个值是否相等，每个值称为一个分支。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语法</a:t>
            </a:r>
            <a:r>
              <a:rPr lang="zh-CN" altLang="en-US" sz="1600"/>
              <a:t>规则：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switch </a:t>
            </a:r>
            <a:r>
              <a:rPr lang="zh-CN" altLang="en-US" sz="1600"/>
              <a:t>语句中的变量类型可以是：</a:t>
            </a:r>
            <a:r>
              <a:rPr lang="en-US" altLang="zh-CN" sz="1600"/>
              <a:t> byte</a:t>
            </a:r>
            <a:r>
              <a:rPr lang="zh-CN" altLang="en-US" sz="1600"/>
              <a:t>、</a:t>
            </a:r>
            <a:r>
              <a:rPr lang="en-US" altLang="zh-CN" sz="1600"/>
              <a:t>short</a:t>
            </a:r>
            <a:r>
              <a:rPr lang="zh-CN" altLang="en-US" sz="1600"/>
              <a:t>、</a:t>
            </a:r>
            <a:r>
              <a:rPr lang="en-US" altLang="zh-CN" sz="1600"/>
              <a:t>int </a:t>
            </a:r>
            <a:r>
              <a:rPr lang="zh-CN" altLang="en-US" sz="1600"/>
              <a:t>或者</a:t>
            </a:r>
            <a:r>
              <a:rPr lang="en-US" altLang="zh-CN" sz="1600"/>
              <a:t> char</a:t>
            </a:r>
            <a:r>
              <a:rPr lang="zh-CN" altLang="en-US" sz="1600"/>
              <a:t>。从</a:t>
            </a:r>
            <a:r>
              <a:rPr lang="en-US" altLang="zh-CN" sz="1600"/>
              <a:t> Java SE 7 </a:t>
            </a:r>
            <a:r>
              <a:rPr lang="zh-CN" altLang="en-US" sz="1600"/>
              <a:t>开始，</a:t>
            </a:r>
            <a:r>
              <a:rPr lang="en-US" altLang="zh-CN" sz="1600"/>
              <a:t>switch </a:t>
            </a:r>
            <a:r>
              <a:rPr lang="zh-CN" altLang="en-US" sz="1600"/>
              <a:t>支持字符串</a:t>
            </a:r>
            <a:r>
              <a:rPr lang="en-US" altLang="zh-CN" sz="1600"/>
              <a:t> String </a:t>
            </a:r>
            <a:r>
              <a:rPr lang="zh-CN" altLang="en-US" sz="1600"/>
              <a:t>类型了，同时</a:t>
            </a:r>
            <a:r>
              <a:rPr lang="en-US" altLang="zh-CN" sz="1600"/>
              <a:t> case </a:t>
            </a:r>
            <a:r>
              <a:rPr lang="zh-CN" altLang="en-US" sz="1600"/>
              <a:t>标签必须为字符串常量或字面量。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switch </a:t>
            </a:r>
            <a:r>
              <a:rPr lang="zh-CN" altLang="en-US" sz="1600"/>
              <a:t>语句可以拥有多个</a:t>
            </a:r>
            <a:r>
              <a:rPr lang="en-US" altLang="zh-CN" sz="1600"/>
              <a:t> case </a:t>
            </a:r>
            <a:r>
              <a:rPr lang="zh-CN" altLang="en-US" sz="1600"/>
              <a:t>语句。每个</a:t>
            </a:r>
            <a:r>
              <a:rPr lang="en-US" altLang="zh-CN" sz="1600"/>
              <a:t> case </a:t>
            </a:r>
            <a:r>
              <a:rPr lang="zh-CN" altLang="en-US" sz="1600"/>
              <a:t>后面跟一个要比较的值和冒号。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case </a:t>
            </a:r>
            <a:r>
              <a:rPr lang="zh-CN" altLang="en-US" sz="1600"/>
              <a:t>语句中的值的数据类型必须与变量的数据类型相同，而且只能是常量或者字面常量。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当变量的值与</a:t>
            </a:r>
            <a:r>
              <a:rPr lang="en-US" altLang="zh-CN" sz="1600"/>
              <a:t> case </a:t>
            </a:r>
            <a:r>
              <a:rPr lang="zh-CN" altLang="en-US" sz="1600"/>
              <a:t>语句的值相等时，那么</a:t>
            </a:r>
            <a:r>
              <a:rPr lang="en-US" altLang="zh-CN" sz="1600"/>
              <a:t> case </a:t>
            </a:r>
            <a:r>
              <a:rPr lang="zh-CN" altLang="en-US" sz="1600"/>
              <a:t>语句之后的语句开始执行，直到</a:t>
            </a:r>
            <a:r>
              <a:rPr lang="en-US" altLang="zh-CN" sz="1600"/>
              <a:t> break </a:t>
            </a:r>
            <a:r>
              <a:rPr lang="zh-CN" altLang="en-US" sz="1600"/>
              <a:t>语句出现才会跳出</a:t>
            </a:r>
            <a:r>
              <a:rPr lang="en-US" altLang="zh-CN" sz="1600"/>
              <a:t> switch </a:t>
            </a:r>
            <a:r>
              <a:rPr lang="zh-CN" altLang="en-US" sz="1600"/>
              <a:t>语句。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当遇到</a:t>
            </a:r>
            <a:r>
              <a:rPr lang="en-US" altLang="zh-CN" sz="1600"/>
              <a:t> break </a:t>
            </a:r>
            <a:r>
              <a:rPr lang="zh-CN" altLang="en-US" sz="1600"/>
              <a:t>语句时，</a:t>
            </a:r>
            <a:r>
              <a:rPr lang="en-US" altLang="zh-CN" sz="1600"/>
              <a:t>switch </a:t>
            </a:r>
            <a:r>
              <a:rPr lang="zh-CN" altLang="en-US" sz="1600"/>
              <a:t>语句终止。程序跳转到</a:t>
            </a:r>
            <a:r>
              <a:rPr lang="en-US" altLang="zh-CN" sz="1600"/>
              <a:t> switch </a:t>
            </a:r>
            <a:r>
              <a:rPr lang="zh-CN" altLang="en-US" sz="1600"/>
              <a:t>语句后面的语句执行。</a:t>
            </a:r>
            <a:r>
              <a:rPr lang="en-US" altLang="zh-CN" sz="1600"/>
              <a:t>case </a:t>
            </a:r>
            <a:r>
              <a:rPr lang="zh-CN" altLang="en-US" sz="1600"/>
              <a:t>语句不必须要包含</a:t>
            </a:r>
            <a:r>
              <a:rPr lang="en-US" altLang="zh-CN" sz="1600"/>
              <a:t> break </a:t>
            </a:r>
            <a:r>
              <a:rPr lang="zh-CN" altLang="en-US" sz="1600"/>
              <a:t>语句。如果没有</a:t>
            </a:r>
            <a:r>
              <a:rPr lang="en-US" altLang="zh-CN" sz="1600"/>
              <a:t> break </a:t>
            </a:r>
            <a:r>
              <a:rPr lang="zh-CN" altLang="en-US" sz="1600"/>
              <a:t>语句出现，程序会继续执行下一条</a:t>
            </a:r>
            <a:r>
              <a:rPr lang="en-US" altLang="zh-CN" sz="1600"/>
              <a:t> case </a:t>
            </a:r>
            <a:r>
              <a:rPr lang="zh-CN" altLang="en-US" sz="1600"/>
              <a:t>语句，直到出现</a:t>
            </a:r>
            <a:r>
              <a:rPr lang="en-US" altLang="zh-CN" sz="1600"/>
              <a:t> break </a:t>
            </a:r>
            <a:r>
              <a:rPr lang="zh-CN" altLang="en-US" sz="1600"/>
              <a:t>语句。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switch </a:t>
            </a:r>
            <a:r>
              <a:rPr lang="zh-CN" altLang="en-US" sz="1600"/>
              <a:t>语句可以包含一个</a:t>
            </a:r>
            <a:r>
              <a:rPr lang="en-US" altLang="zh-CN" sz="1600"/>
              <a:t> default </a:t>
            </a:r>
            <a:r>
              <a:rPr lang="zh-CN" altLang="en-US" sz="1600"/>
              <a:t>分支，该分支一般是</a:t>
            </a:r>
            <a:r>
              <a:rPr lang="en-US" altLang="zh-CN" sz="1600"/>
              <a:t> switch </a:t>
            </a:r>
            <a:r>
              <a:rPr lang="zh-CN" altLang="en-US" sz="1600"/>
              <a:t>语句的最后一个分支（可以在任何位置，但建议在最后一个）。</a:t>
            </a:r>
            <a:r>
              <a:rPr lang="en-US" altLang="zh-CN" sz="1600"/>
              <a:t>default </a:t>
            </a:r>
            <a:r>
              <a:rPr lang="zh-CN" altLang="en-US" sz="1600"/>
              <a:t>在没有</a:t>
            </a:r>
            <a:r>
              <a:rPr lang="en-US" altLang="zh-CN" sz="1600"/>
              <a:t> case </a:t>
            </a:r>
            <a:r>
              <a:rPr lang="zh-CN" altLang="en-US" sz="1600"/>
              <a:t>语句的值和变量值相等的时候执行。</a:t>
            </a:r>
            <a:r>
              <a:rPr lang="en-US" altLang="zh-CN" sz="1600"/>
              <a:t>default </a:t>
            </a:r>
            <a:r>
              <a:rPr lang="zh-CN" altLang="en-US" sz="1600"/>
              <a:t>分支不需要</a:t>
            </a:r>
            <a:r>
              <a:rPr lang="en-US" altLang="zh-CN" sz="1600"/>
              <a:t> break </a:t>
            </a:r>
            <a:r>
              <a:rPr lang="zh-CN" altLang="en-US" sz="1600"/>
              <a:t>语句。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123063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ym typeface="+mn-ea"/>
              </a:rPr>
              <a:t>注：</a:t>
            </a:r>
            <a:r>
              <a:rPr lang="en-US" altLang="zh-CN" sz="1600">
                <a:sym typeface="+mn-ea"/>
              </a:rPr>
              <a:t>switch case </a:t>
            </a:r>
            <a:r>
              <a:rPr lang="zh-CN" altLang="en-US" sz="1600">
                <a:sym typeface="+mn-ea"/>
              </a:rPr>
              <a:t>执行时，一定会先进行匹配，匹配成功返回当前</a:t>
            </a:r>
            <a:r>
              <a:rPr lang="en-US" altLang="zh-CN" sz="1600">
                <a:sym typeface="+mn-ea"/>
              </a:rPr>
              <a:t> case </a:t>
            </a:r>
            <a:r>
              <a:rPr lang="zh-CN" altLang="en-US" sz="1600">
                <a:sym typeface="+mn-ea"/>
              </a:rPr>
              <a:t>的值，再根据是否有</a:t>
            </a:r>
            <a:r>
              <a:rPr lang="en-US" altLang="zh-CN" sz="1600">
                <a:sym typeface="+mn-ea"/>
              </a:rPr>
              <a:t> break</a:t>
            </a:r>
            <a:r>
              <a:rPr lang="zh-CN" altLang="en-US" sz="1600">
                <a:sym typeface="+mn-ea"/>
              </a:rPr>
              <a:t>，判断是否继续输出，或是跳出判断。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代码详情可见：</a:t>
            </a:r>
            <a:r>
              <a:rPr lang="en-US" altLang="zh-CN" sz="1600"/>
              <a:t>switch.java</a:t>
            </a:r>
            <a:endParaRPr lang="en-US" altLang="zh-CN" sz="1600"/>
          </a:p>
        </p:txBody>
      </p:sp>
      <p:pic>
        <p:nvPicPr>
          <p:cNvPr id="2" name="图片 1" descr="屏幕截图 2026-02-09 2148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2875"/>
            <a:ext cx="2914650" cy="3009900"/>
          </a:xfrm>
          <a:prstGeom prst="rect">
            <a:avLst/>
          </a:prstGeom>
        </p:spPr>
      </p:pic>
      <p:pic>
        <p:nvPicPr>
          <p:cNvPr id="4" name="图片 3" descr="屏幕截图 2026-02-09 2148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055" y="1412875"/>
            <a:ext cx="4229100" cy="36385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205613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中</a:t>
            </a:r>
            <a:r>
              <a:rPr lang="en-US" altLang="zh-CN" sz="2000"/>
              <a:t>Number</a:t>
            </a:r>
            <a:r>
              <a:rPr lang="zh-CN" altLang="en-US" sz="2000"/>
              <a:t>类：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rgbClr val="C00000"/>
                </a:solidFill>
              </a:rPr>
              <a:t>一般地，当需要使用数字的时候，我们通常使用内置数据类型，如：</a:t>
            </a:r>
            <a:r>
              <a:rPr lang="en-US" altLang="zh-CN" sz="1600">
                <a:solidFill>
                  <a:srgbClr val="C00000"/>
                </a:solidFill>
              </a:rPr>
              <a:t>byte</a:t>
            </a:r>
            <a:r>
              <a:rPr lang="zh-CN" altLang="en-US" sz="1600">
                <a:solidFill>
                  <a:srgbClr val="C00000"/>
                </a:solidFill>
              </a:rPr>
              <a:t>、</a:t>
            </a:r>
            <a:r>
              <a:rPr lang="en-US" altLang="zh-CN" sz="1600">
                <a:solidFill>
                  <a:srgbClr val="C00000"/>
                </a:solidFill>
              </a:rPr>
              <a:t>int</a:t>
            </a:r>
            <a:r>
              <a:rPr lang="zh-CN" altLang="en-US" sz="1600">
                <a:solidFill>
                  <a:srgbClr val="C00000"/>
                </a:solidFill>
              </a:rPr>
              <a:t>、</a:t>
            </a:r>
            <a:r>
              <a:rPr lang="en-US" altLang="zh-CN" sz="1600">
                <a:solidFill>
                  <a:srgbClr val="C00000"/>
                </a:solidFill>
              </a:rPr>
              <a:t>long</a:t>
            </a:r>
            <a:r>
              <a:rPr lang="zh-CN" altLang="en-US" sz="1600">
                <a:solidFill>
                  <a:srgbClr val="C00000"/>
                </a:solidFill>
              </a:rPr>
              <a:t>、</a:t>
            </a:r>
            <a:r>
              <a:rPr lang="en-US" altLang="zh-CN" sz="1600">
                <a:solidFill>
                  <a:srgbClr val="C00000"/>
                </a:solidFill>
              </a:rPr>
              <a:t>double </a:t>
            </a:r>
            <a:r>
              <a:rPr lang="zh-CN" altLang="en-US" sz="1600">
                <a:solidFill>
                  <a:srgbClr val="C00000"/>
                </a:solidFill>
              </a:rPr>
              <a:t>等。</a:t>
            </a:r>
            <a:r>
              <a:rPr lang="zh-CN" altLang="en-US" sz="1600"/>
              <a:t>然而，在实际开发过程中，我们经常会遇到需要使用对象，而不是内置数据类型的情形。为了解决这个问题，</a:t>
            </a:r>
            <a:r>
              <a:rPr lang="en-US" altLang="zh-CN" sz="1600"/>
              <a:t>Java </a:t>
            </a:r>
            <a:r>
              <a:rPr lang="zh-CN" altLang="en-US" sz="1600"/>
              <a:t>语言为每一个内置数据类型提供了对应的包装类。</a:t>
            </a:r>
            <a:r>
              <a:rPr lang="zh-CN" altLang="en-US" sz="1600">
                <a:solidFill>
                  <a:srgbClr val="C00000"/>
                </a:solidFill>
              </a:rPr>
              <a:t>所有的包装类（</a:t>
            </a:r>
            <a:r>
              <a:rPr lang="en-US" altLang="zh-CN" sz="1600">
                <a:solidFill>
                  <a:srgbClr val="C00000"/>
                </a:solidFill>
              </a:rPr>
              <a:t>Integer</a:t>
            </a:r>
            <a:r>
              <a:rPr lang="zh-CN" altLang="en-US" sz="1600">
                <a:solidFill>
                  <a:srgbClr val="C00000"/>
                </a:solidFill>
              </a:rPr>
              <a:t>、</a:t>
            </a:r>
            <a:r>
              <a:rPr lang="en-US" altLang="zh-CN" sz="1600">
                <a:solidFill>
                  <a:srgbClr val="C00000"/>
                </a:solidFill>
              </a:rPr>
              <a:t>Long</a:t>
            </a:r>
            <a:r>
              <a:rPr lang="zh-CN" altLang="en-US" sz="1600">
                <a:solidFill>
                  <a:srgbClr val="C00000"/>
                </a:solidFill>
              </a:rPr>
              <a:t>、</a:t>
            </a:r>
            <a:r>
              <a:rPr lang="en-US" altLang="zh-CN" sz="1600">
                <a:solidFill>
                  <a:srgbClr val="C00000"/>
                </a:solidFill>
              </a:rPr>
              <a:t>Byte</a:t>
            </a:r>
            <a:r>
              <a:rPr lang="zh-CN" altLang="en-US" sz="1600">
                <a:solidFill>
                  <a:srgbClr val="C00000"/>
                </a:solidFill>
              </a:rPr>
              <a:t>、</a:t>
            </a:r>
            <a:r>
              <a:rPr lang="en-US" altLang="zh-CN" sz="1600">
                <a:solidFill>
                  <a:srgbClr val="C00000"/>
                </a:solidFill>
              </a:rPr>
              <a:t>Double</a:t>
            </a:r>
            <a:r>
              <a:rPr lang="zh-CN" altLang="en-US" sz="1600">
                <a:solidFill>
                  <a:srgbClr val="C00000"/>
                </a:solidFill>
              </a:rPr>
              <a:t>、</a:t>
            </a:r>
            <a:r>
              <a:rPr lang="en-US" altLang="zh-CN" sz="1600">
                <a:solidFill>
                  <a:srgbClr val="C00000"/>
                </a:solidFill>
              </a:rPr>
              <a:t>Float</a:t>
            </a:r>
            <a:r>
              <a:rPr lang="zh-CN" altLang="en-US" sz="1600">
                <a:solidFill>
                  <a:srgbClr val="C00000"/>
                </a:solidFill>
              </a:rPr>
              <a:t>、</a:t>
            </a:r>
            <a:r>
              <a:rPr lang="en-US" altLang="zh-CN" sz="1600">
                <a:solidFill>
                  <a:srgbClr val="C00000"/>
                </a:solidFill>
              </a:rPr>
              <a:t>Short</a:t>
            </a:r>
            <a:r>
              <a:rPr lang="zh-CN" altLang="en-US" sz="1600">
                <a:solidFill>
                  <a:srgbClr val="C00000"/>
                </a:solidFill>
              </a:rPr>
              <a:t>）都是抽象类</a:t>
            </a:r>
            <a:r>
              <a:rPr lang="en-US" altLang="zh-CN" sz="1600">
                <a:solidFill>
                  <a:srgbClr val="C00000"/>
                </a:solidFill>
              </a:rPr>
              <a:t> Number </a:t>
            </a:r>
            <a:r>
              <a:rPr lang="zh-CN" altLang="en-US" sz="1600">
                <a:solidFill>
                  <a:srgbClr val="C00000"/>
                </a:solidFill>
              </a:rPr>
              <a:t>的子类。</a:t>
            </a:r>
            <a:endParaRPr lang="zh-CN" altLang="en-US" sz="1600">
              <a:solidFill>
                <a:srgbClr val="C00000"/>
              </a:solidFill>
            </a:endParaRPr>
          </a:p>
        </p:txBody>
      </p:sp>
      <p:pic>
        <p:nvPicPr>
          <p:cNvPr id="2" name="图片 1" descr="屏幕截图 2026-02-09 2157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37740"/>
            <a:ext cx="8104505" cy="455803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500951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rgbClr val="C00000"/>
                </a:solidFill>
              </a:rPr>
              <a:t>这种由编译器特别支持的包装称为装箱，所以当内置数据类型被当作对象使用的时候，编译器会把内置类型装箱为包装类。</a:t>
            </a:r>
            <a:r>
              <a:rPr lang="zh-CN" altLang="en-US" sz="1600"/>
              <a:t>相似的，编译器也可以把一个对象拆箱为内置类型。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Number </a:t>
            </a:r>
            <a:r>
              <a:rPr lang="zh-CN" altLang="en-US" sz="1600"/>
              <a:t>类属于</a:t>
            </a:r>
            <a:r>
              <a:rPr lang="en-US" altLang="zh-CN" sz="1600"/>
              <a:t> java.lang </a:t>
            </a:r>
            <a:r>
              <a:rPr lang="zh-CN" altLang="en-US" sz="1600"/>
              <a:t>包，是一个</a:t>
            </a:r>
            <a:r>
              <a:rPr lang="zh-CN" altLang="en-US" sz="1600">
                <a:solidFill>
                  <a:srgbClr val="C00000"/>
                </a:solidFill>
              </a:rPr>
              <a:t>抽象类</a:t>
            </a:r>
            <a:r>
              <a:rPr lang="zh-CN" altLang="en-US" sz="1600"/>
              <a:t>，主要</a:t>
            </a:r>
            <a:r>
              <a:rPr lang="zh-CN" altLang="en-US" sz="1600">
                <a:solidFill>
                  <a:srgbClr val="C00000"/>
                </a:solidFill>
              </a:rPr>
              <a:t>作用是为各种数值类型提供统一的转换方法。（</a:t>
            </a:r>
            <a:r>
              <a:rPr lang="en-US" altLang="zh-CN" sz="1600">
                <a:solidFill>
                  <a:srgbClr val="C00000"/>
                </a:solidFill>
              </a:rPr>
              <a:t>Java 5+ </a:t>
            </a:r>
            <a:r>
              <a:rPr lang="zh-CN" altLang="en-US" sz="1600">
                <a:solidFill>
                  <a:srgbClr val="C00000"/>
                </a:solidFill>
              </a:rPr>
              <a:t>已支持自动转换</a:t>
            </a:r>
            <a:r>
              <a:rPr lang="zh-CN" altLang="en-US" sz="1600">
                <a:solidFill>
                  <a:srgbClr val="C00000"/>
                </a:solidFill>
              </a:rPr>
              <a:t>）</a:t>
            </a:r>
            <a:endParaRPr lang="zh-CN" altLang="en-US" sz="1600">
              <a:solidFill>
                <a:srgbClr val="C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tx1"/>
                </a:solidFill>
              </a:rPr>
              <a:t>Java</a:t>
            </a:r>
            <a:r>
              <a:rPr lang="zh-CN" altLang="en-US" sz="2000">
                <a:solidFill>
                  <a:schemeClr val="tx1"/>
                </a:solidFill>
              </a:rPr>
              <a:t>中</a:t>
            </a:r>
            <a:r>
              <a:rPr lang="en-US" altLang="zh-CN" sz="2000">
                <a:solidFill>
                  <a:schemeClr val="tx1"/>
                </a:solidFill>
              </a:rPr>
              <a:t>Math</a:t>
            </a:r>
            <a:r>
              <a:rPr lang="zh-CN" altLang="en-US" sz="2000">
                <a:solidFill>
                  <a:schemeClr val="tx1"/>
                </a:solidFill>
              </a:rPr>
              <a:t>类：</a:t>
            </a:r>
            <a:endParaRPr lang="zh-CN" altLang="en-US" sz="2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chemeClr val="tx1"/>
                </a:solidFill>
              </a:rPr>
              <a:t>Math </a:t>
            </a:r>
            <a:r>
              <a:rPr lang="zh-CN" altLang="en-US" sz="1600">
                <a:solidFill>
                  <a:schemeClr val="tx1"/>
                </a:solidFill>
              </a:rPr>
              <a:t>类是</a:t>
            </a:r>
            <a:r>
              <a:rPr lang="en-US" altLang="zh-CN" sz="1600">
                <a:solidFill>
                  <a:schemeClr val="tx1"/>
                </a:solidFill>
              </a:rPr>
              <a:t> Java </a:t>
            </a:r>
            <a:r>
              <a:rPr lang="zh-CN" altLang="en-US" sz="1600">
                <a:solidFill>
                  <a:schemeClr val="tx1"/>
                </a:solidFill>
              </a:rPr>
              <a:t>提供的数学工具类，位于</a:t>
            </a:r>
            <a:r>
              <a:rPr lang="en-US" altLang="zh-CN" sz="1600">
                <a:solidFill>
                  <a:schemeClr val="tx1"/>
                </a:solidFill>
              </a:rPr>
              <a:t> java.lang </a:t>
            </a:r>
            <a:r>
              <a:rPr lang="zh-CN" altLang="en-US" sz="1600">
                <a:solidFill>
                  <a:schemeClr val="tx1"/>
                </a:solidFill>
              </a:rPr>
              <a:t>包中，包含执行基本数值运算的静态方法。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chemeClr val="tx1"/>
                </a:solidFill>
              </a:rPr>
              <a:t>Java </a:t>
            </a:r>
            <a:r>
              <a:rPr lang="zh-CN" altLang="en-US" sz="1600">
                <a:solidFill>
                  <a:schemeClr val="tx1"/>
                </a:solidFill>
              </a:rPr>
              <a:t>的</a:t>
            </a:r>
            <a:r>
              <a:rPr lang="en-US" altLang="zh-CN" sz="1600">
                <a:solidFill>
                  <a:schemeClr val="tx1"/>
                </a:solidFill>
              </a:rPr>
              <a:t> Math </a:t>
            </a:r>
            <a:r>
              <a:rPr lang="zh-CN" altLang="en-US" sz="1600">
                <a:solidFill>
                  <a:schemeClr val="tx1"/>
                </a:solidFill>
              </a:rPr>
              <a:t>包含了用于执行基本数学运算的属性和方法，如初等指数、对数、平方根和三角函数。</a:t>
            </a:r>
            <a:endParaRPr lang="en-US" altLang="zh-CN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chemeClr val="tx1"/>
                </a:solidFill>
              </a:rPr>
              <a:t>Math </a:t>
            </a:r>
            <a:r>
              <a:rPr lang="zh-CN" altLang="en-US" sz="1600">
                <a:solidFill>
                  <a:schemeClr val="tx1"/>
                </a:solidFill>
              </a:rPr>
              <a:t>的方法都被定义为</a:t>
            </a:r>
            <a:r>
              <a:rPr lang="en-US" altLang="zh-CN" sz="1600">
                <a:solidFill>
                  <a:schemeClr val="tx1"/>
                </a:solidFill>
              </a:rPr>
              <a:t> static </a:t>
            </a:r>
            <a:r>
              <a:rPr lang="zh-CN" altLang="en-US" sz="1600">
                <a:solidFill>
                  <a:schemeClr val="tx1"/>
                </a:solidFill>
              </a:rPr>
              <a:t>形式，通过</a:t>
            </a:r>
            <a:r>
              <a:rPr lang="en-US" altLang="zh-CN" sz="1600">
                <a:solidFill>
                  <a:schemeClr val="tx1"/>
                </a:solidFill>
              </a:rPr>
              <a:t> Math </a:t>
            </a:r>
            <a:r>
              <a:rPr lang="zh-CN" altLang="en-US" sz="1600">
                <a:solidFill>
                  <a:schemeClr val="tx1"/>
                </a:solidFill>
              </a:rPr>
              <a:t>类可以在主函数中直接调用。</a:t>
            </a:r>
            <a:endParaRPr lang="zh-CN" altLang="en-US" sz="16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solidFill>
                  <a:schemeClr val="tx1"/>
                </a:solidFill>
              </a:rPr>
              <a:t>Java</a:t>
            </a:r>
            <a:r>
              <a:rPr lang="zh-CN" altLang="en-US" sz="1600">
                <a:solidFill>
                  <a:schemeClr val="tx1"/>
                </a:solidFill>
              </a:rPr>
              <a:t>中</a:t>
            </a:r>
            <a:r>
              <a:rPr lang="en-US" altLang="zh-CN" sz="1600">
                <a:solidFill>
                  <a:schemeClr val="tx1"/>
                </a:solidFill>
              </a:rPr>
              <a:t>Number</a:t>
            </a:r>
            <a:r>
              <a:rPr lang="zh-CN" altLang="en-US" sz="1600">
                <a:solidFill>
                  <a:schemeClr val="tx1"/>
                </a:solidFill>
              </a:rPr>
              <a:t>类与</a:t>
            </a:r>
            <a:r>
              <a:rPr lang="en-US" altLang="zh-CN" sz="1600">
                <a:solidFill>
                  <a:schemeClr val="tx1"/>
                </a:solidFill>
              </a:rPr>
              <a:t>Math</a:t>
            </a:r>
            <a:r>
              <a:rPr lang="zh-CN" altLang="en-US" sz="1600">
                <a:solidFill>
                  <a:schemeClr val="tx1"/>
                </a:solidFill>
              </a:rPr>
              <a:t>类常用方法示例</a:t>
            </a:r>
            <a:r>
              <a:rPr lang="zh-CN" altLang="en-US" sz="1600">
                <a:solidFill>
                  <a:schemeClr val="tx1"/>
                </a:solidFill>
                <a:hlinkClick r:id="rId1" action="ppaction://hlinkfile"/>
              </a:rPr>
              <a:t>点此</a:t>
            </a:r>
            <a:r>
              <a:rPr lang="zh-CN" altLang="en-US" sz="1600">
                <a:solidFill>
                  <a:schemeClr val="tx1"/>
                </a:solidFill>
              </a:rPr>
              <a:t>见</a:t>
            </a:r>
            <a:r>
              <a:rPr lang="zh-CN" altLang="en-US" sz="1600">
                <a:solidFill>
                  <a:schemeClr val="tx1"/>
                </a:solidFill>
              </a:rPr>
              <a:t>详情</a:t>
            </a:r>
            <a:endParaRPr lang="zh-CN" altLang="en-US" sz="16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chemeClr val="tx1"/>
                </a:solidFill>
              </a:rPr>
              <a:t>代码文件可见：</a:t>
            </a:r>
            <a:r>
              <a:rPr lang="en-US" altLang="zh-CN" sz="1600">
                <a:solidFill>
                  <a:schemeClr val="tx1"/>
                </a:solidFill>
              </a:rPr>
              <a:t>NumberDemo.java  &amp; MathD</a:t>
            </a:r>
            <a:r>
              <a:rPr lang="en-US" altLang="zh-CN" sz="1600">
                <a:solidFill>
                  <a:schemeClr val="tx1"/>
                </a:solidFill>
              </a:rPr>
              <a:t>emo.java</a:t>
            </a:r>
            <a:endParaRPr lang="en-US" altLang="zh-CN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185102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Character</a:t>
            </a:r>
            <a:r>
              <a:rPr lang="zh-CN" altLang="en-US" sz="2000"/>
              <a:t>类（详细方法</a:t>
            </a:r>
            <a:r>
              <a:rPr lang="zh-CN" altLang="en-US" sz="2000">
                <a:hlinkClick r:id="rId1" action="ppaction://hlinkfile"/>
              </a:rPr>
              <a:t>点此</a:t>
            </a:r>
            <a:r>
              <a:rPr lang="zh-CN" altLang="en-US" sz="2000"/>
              <a:t>见）：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1600"/>
              <a:t>Character </a:t>
            </a:r>
            <a:r>
              <a:rPr lang="zh-CN" altLang="en-US" sz="1600"/>
              <a:t>类用于对单个字符进行操作。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Character </a:t>
            </a:r>
            <a:r>
              <a:rPr lang="zh-CN" altLang="en-US" sz="1600"/>
              <a:t>类在对象中包装一个基本类型</a:t>
            </a:r>
            <a:r>
              <a:rPr lang="en-US" altLang="zh-CN" sz="1600"/>
              <a:t> char </a:t>
            </a:r>
            <a:r>
              <a:rPr lang="zh-CN" altLang="en-US" sz="1600"/>
              <a:t>的值。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转义字符：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endParaRPr lang="zh-CN" altLang="en-US" sz="2000"/>
          </a:p>
        </p:txBody>
      </p:sp>
      <p:pic>
        <p:nvPicPr>
          <p:cNvPr id="2" name="图片 1" descr="屏幕截图 2026-02-10 1940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2032635"/>
            <a:ext cx="6096000" cy="45815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String</a:t>
            </a:r>
            <a:r>
              <a:rPr lang="zh-CN" altLang="en-US" sz="2000"/>
              <a:t>类（创建和操作字符串）：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1600"/>
              <a:t>String </a:t>
            </a:r>
            <a:r>
              <a:rPr lang="zh-CN" altLang="en-US" sz="1600"/>
              <a:t>创建的字符串存储在公共池中，而</a:t>
            </a:r>
            <a:r>
              <a:rPr lang="en-US" altLang="zh-CN" sz="1600"/>
              <a:t> new </a:t>
            </a:r>
            <a:r>
              <a:rPr lang="zh-CN" altLang="en-US" sz="1600"/>
              <a:t>创建的字符串对象在堆上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String </a:t>
            </a:r>
            <a:r>
              <a:rPr lang="zh-CN" altLang="en-US" sz="1600"/>
              <a:t>类有</a:t>
            </a:r>
            <a:r>
              <a:rPr lang="en-US" altLang="zh-CN" sz="1600"/>
              <a:t> 11 </a:t>
            </a:r>
            <a:r>
              <a:rPr lang="zh-CN" altLang="en-US" sz="1600"/>
              <a:t>种构造方法，这些方法提供不同的参数来初始化字符串，比如提供一个字符数组参数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String </a:t>
            </a:r>
            <a:r>
              <a:rPr lang="zh-CN" altLang="en-US" sz="1600"/>
              <a:t>类是不可改变的，所以你一旦创建了</a:t>
            </a:r>
            <a:r>
              <a:rPr lang="en-US" altLang="zh-CN" sz="1600"/>
              <a:t> String </a:t>
            </a:r>
            <a:r>
              <a:rPr lang="zh-CN" altLang="en-US" sz="1600"/>
              <a:t>对象，那它的值就无法改变了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如果需要对字符串做很多修改，那么应该选择使用</a:t>
            </a:r>
            <a:r>
              <a:rPr lang="en-US" altLang="zh-CN" sz="1600"/>
              <a:t> StringBuffer &amp; StringBuilder </a:t>
            </a:r>
            <a:r>
              <a:rPr lang="zh-CN" altLang="en-US" sz="1600"/>
              <a:t>类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访问器</a:t>
            </a:r>
            <a:r>
              <a:rPr lang="zh-CN" altLang="en-US" sz="1600"/>
              <a:t>方法：用于获取有关对象的信息的方法。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连接字符串：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返回</a:t>
            </a:r>
            <a:r>
              <a:rPr lang="en-US" altLang="zh-CN" sz="1600"/>
              <a:t> string2 </a:t>
            </a:r>
            <a:r>
              <a:rPr lang="zh-CN" altLang="en-US" sz="1600"/>
              <a:t>连接</a:t>
            </a:r>
            <a:r>
              <a:rPr lang="en-US" altLang="zh-CN" sz="1600"/>
              <a:t> string1 </a:t>
            </a:r>
            <a:r>
              <a:rPr lang="zh-CN" altLang="en-US" sz="1600"/>
              <a:t>的新字符串。也可以对字符串常量使用</a:t>
            </a:r>
            <a:r>
              <a:rPr lang="en-US" altLang="zh-CN" sz="1600"/>
              <a:t> concat() </a:t>
            </a:r>
            <a:r>
              <a:rPr lang="zh-CN" altLang="en-US" sz="1600"/>
              <a:t>方法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更常用的是使用</a:t>
            </a:r>
            <a:r>
              <a:rPr lang="en-US" altLang="zh-CN" sz="1600"/>
              <a:t>'+'</a:t>
            </a:r>
            <a:r>
              <a:rPr lang="zh-CN" altLang="en-US" sz="1600"/>
              <a:t>操作符来连接字符串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创建格式化字符串：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String </a:t>
            </a:r>
            <a:r>
              <a:rPr lang="zh-CN" altLang="en-US" sz="1600"/>
              <a:t>类使用静态方法</a:t>
            </a:r>
            <a:r>
              <a:rPr lang="en-US" altLang="zh-CN" sz="1600"/>
              <a:t> format() </a:t>
            </a:r>
            <a:r>
              <a:rPr lang="zh-CN" altLang="en-US" sz="1600"/>
              <a:t>返回一个</a:t>
            </a:r>
            <a:r>
              <a:rPr lang="en-US" altLang="zh-CN" sz="1600"/>
              <a:t>String </a:t>
            </a:r>
            <a:r>
              <a:rPr lang="zh-CN" altLang="en-US" sz="1600"/>
              <a:t>对象而不是</a:t>
            </a:r>
            <a:r>
              <a:rPr lang="en-US" altLang="zh-CN" sz="1600"/>
              <a:t> PrintStream </a:t>
            </a:r>
            <a:r>
              <a:rPr lang="zh-CN" altLang="en-US" sz="1600"/>
              <a:t>对象。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String </a:t>
            </a:r>
            <a:r>
              <a:rPr lang="zh-CN" altLang="en-US" sz="1600"/>
              <a:t>类的静态方法</a:t>
            </a:r>
            <a:r>
              <a:rPr lang="en-US" altLang="zh-CN" sz="1600"/>
              <a:t> format() </a:t>
            </a:r>
            <a:r>
              <a:rPr lang="zh-CN" altLang="en-US" sz="1600"/>
              <a:t>能用来创建可复用的格式化字符串，而不仅仅是用于一次打印输出。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（更多类方法</a:t>
            </a:r>
            <a:r>
              <a:rPr lang="zh-CN" altLang="en-US" sz="1600">
                <a:hlinkClick r:id="rId1" action="ppaction://hlinkfile"/>
              </a:rPr>
              <a:t>点此</a:t>
            </a:r>
            <a:r>
              <a:rPr lang="zh-CN" altLang="en-US" sz="1600"/>
              <a:t>可见</a:t>
            </a:r>
            <a:r>
              <a:rPr lang="en-US" altLang="zh-CN" sz="1600"/>
              <a:t>...</a:t>
            </a:r>
            <a:r>
              <a:rPr lang="zh-CN" altLang="en-US" sz="1600"/>
              <a:t>）</a:t>
            </a:r>
            <a:endParaRPr lang="zh-CN" altLang="en-US"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sym typeface="+mn-ea"/>
              </a:rPr>
              <a:t>StringBuffer &amp; StringBuilder </a:t>
            </a:r>
            <a:r>
              <a:rPr lang="zh-CN" altLang="en-US" sz="1600">
                <a:sym typeface="+mn-ea"/>
              </a:rPr>
              <a:t>类：</a:t>
            </a:r>
            <a:endParaRPr lang="zh-CN" altLang="en-US" sz="16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ym typeface="+mn-ea"/>
              </a:rPr>
              <a:t>当对字符串进行修改的时候，需要使用</a:t>
            </a:r>
            <a:r>
              <a:rPr lang="en-US" altLang="zh-CN" sz="1600">
                <a:sym typeface="+mn-ea"/>
              </a:rPr>
              <a:t> StringBuffer </a:t>
            </a:r>
            <a:r>
              <a:rPr lang="zh-CN" altLang="en-US" sz="1600">
                <a:sym typeface="+mn-ea"/>
              </a:rPr>
              <a:t>和</a:t>
            </a:r>
            <a:r>
              <a:rPr lang="en-US" altLang="zh-CN" sz="1600">
                <a:sym typeface="+mn-ea"/>
              </a:rPr>
              <a:t> StringBuilder </a:t>
            </a:r>
            <a:r>
              <a:rPr lang="zh-CN" altLang="en-US" sz="1600">
                <a:sym typeface="+mn-ea"/>
              </a:rPr>
              <a:t>类。</a:t>
            </a:r>
            <a:endParaRPr lang="en-US" altLang="zh-CN" sz="16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ym typeface="+mn-ea"/>
              </a:rPr>
              <a:t>和</a:t>
            </a:r>
            <a:r>
              <a:rPr lang="en-US" altLang="zh-CN" sz="1600">
                <a:sym typeface="+mn-ea"/>
              </a:rPr>
              <a:t> String </a:t>
            </a:r>
            <a:r>
              <a:rPr lang="zh-CN" altLang="en-US" sz="1600">
                <a:sym typeface="+mn-ea"/>
              </a:rPr>
              <a:t>类不同的是，</a:t>
            </a:r>
            <a:r>
              <a:rPr lang="en-US" altLang="zh-CN" sz="1600">
                <a:sym typeface="+mn-ea"/>
              </a:rPr>
              <a:t>StringBuffer </a:t>
            </a:r>
            <a:r>
              <a:rPr lang="zh-CN" altLang="en-US" sz="1600">
                <a:sym typeface="+mn-ea"/>
              </a:rPr>
              <a:t>和</a:t>
            </a:r>
            <a:r>
              <a:rPr lang="en-US" altLang="zh-CN" sz="1600">
                <a:sym typeface="+mn-ea"/>
              </a:rPr>
              <a:t> StringBuilder </a:t>
            </a:r>
            <a:r>
              <a:rPr lang="zh-CN" altLang="en-US" sz="1600">
                <a:sym typeface="+mn-ea"/>
              </a:rPr>
              <a:t>类的对象能够被多次的修改，并且不产生新的未使用对象。</a:t>
            </a:r>
            <a:endParaRPr lang="zh-CN" altLang="en-US" sz="16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ym typeface="+mn-ea"/>
              </a:rPr>
              <a:t>在使用</a:t>
            </a:r>
            <a:r>
              <a:rPr lang="en-US" altLang="zh-CN" sz="1600">
                <a:sym typeface="+mn-ea"/>
              </a:rPr>
              <a:t> StringBuffer </a:t>
            </a:r>
            <a:r>
              <a:rPr lang="zh-CN" altLang="en-US" sz="1600">
                <a:sym typeface="+mn-ea"/>
              </a:rPr>
              <a:t>类时，每次都会对</a:t>
            </a:r>
            <a:r>
              <a:rPr lang="en-US" altLang="zh-CN" sz="1600">
                <a:sym typeface="+mn-ea"/>
              </a:rPr>
              <a:t> StringBuffer </a:t>
            </a:r>
            <a:r>
              <a:rPr lang="zh-CN" altLang="en-US" sz="1600">
                <a:sym typeface="+mn-ea"/>
              </a:rPr>
              <a:t>对象本身进行操作，而不是生成新的对象，所以如果需要对字符串进行修改推荐使用</a:t>
            </a:r>
            <a:r>
              <a:rPr lang="en-US" altLang="zh-CN" sz="1600">
                <a:sym typeface="+mn-ea"/>
              </a:rPr>
              <a:t> StringBuffer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StringBuilder </a:t>
            </a:r>
            <a:r>
              <a:rPr lang="zh-CN" altLang="en-US" sz="1600">
                <a:sym typeface="+mn-ea"/>
              </a:rPr>
              <a:t>类和</a:t>
            </a:r>
            <a:r>
              <a:rPr lang="en-US" altLang="zh-CN" sz="1600">
                <a:sym typeface="+mn-ea"/>
              </a:rPr>
              <a:t> StringBuffer </a:t>
            </a:r>
            <a:r>
              <a:rPr lang="zh-CN" altLang="en-US" sz="1600">
                <a:sym typeface="+mn-ea"/>
              </a:rPr>
              <a:t>之间的最大不同在于</a:t>
            </a:r>
            <a:r>
              <a:rPr lang="en-US" altLang="zh-CN" sz="1600">
                <a:sym typeface="+mn-ea"/>
              </a:rPr>
              <a:t> StringBuilder </a:t>
            </a:r>
            <a:r>
              <a:rPr lang="zh-CN" altLang="en-US" sz="1600">
                <a:sym typeface="+mn-ea"/>
              </a:rPr>
              <a:t>的方法不是线程安全的（不能同步访问）。</a:t>
            </a:r>
            <a:endParaRPr lang="zh-CN" altLang="en-US" sz="16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StringBuilder </a:t>
            </a:r>
            <a:r>
              <a:rPr lang="zh-CN" altLang="en-US" sz="1600">
                <a:sym typeface="+mn-ea"/>
              </a:rPr>
              <a:t>相较于</a:t>
            </a:r>
            <a:r>
              <a:rPr lang="en-US" altLang="zh-CN" sz="1600">
                <a:sym typeface="+mn-ea"/>
              </a:rPr>
              <a:t> StringBuffer </a:t>
            </a:r>
            <a:r>
              <a:rPr lang="zh-CN" altLang="en-US" sz="1600">
                <a:sym typeface="+mn-ea"/>
              </a:rPr>
              <a:t>有速度优势，所以多数情况下建议使用</a:t>
            </a:r>
            <a:r>
              <a:rPr lang="en-US" altLang="zh-CN" sz="1600">
                <a:sym typeface="+mn-ea"/>
              </a:rPr>
              <a:t> StringBuilder </a:t>
            </a:r>
            <a:r>
              <a:rPr lang="zh-CN" altLang="en-US" sz="1600">
                <a:sym typeface="+mn-ea"/>
              </a:rPr>
              <a:t>类。</a:t>
            </a:r>
            <a:endParaRPr lang="zh-CN" altLang="en-US" sz="16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ym typeface="+mn-ea"/>
              </a:rPr>
              <a:t>在应用程序要求线程安全的情况下，则必须使用</a:t>
            </a:r>
            <a:r>
              <a:rPr lang="en-US" altLang="zh-CN" sz="1600">
                <a:sym typeface="+mn-ea"/>
              </a:rPr>
              <a:t> StringBuffer </a:t>
            </a:r>
            <a:r>
              <a:rPr lang="zh-CN" altLang="en-US" sz="1600">
                <a:sym typeface="+mn-ea"/>
              </a:rPr>
              <a:t>类。</a:t>
            </a:r>
            <a:endParaRPr lang="zh-CN" altLang="en-US" sz="1600"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ym typeface="+mn-ea"/>
              </a:rPr>
              <a:t>（更多方法</a:t>
            </a:r>
            <a:r>
              <a:rPr lang="zh-CN" altLang="en-US" sz="1600">
                <a:sym typeface="+mn-ea"/>
                <a:hlinkClick r:id="rId1" action="ppaction://hlinkfile"/>
              </a:rPr>
              <a:t>点此</a:t>
            </a:r>
            <a:r>
              <a:rPr lang="zh-CN" altLang="en-US" sz="1600">
                <a:sym typeface="+mn-ea"/>
              </a:rPr>
              <a:t>可见</a:t>
            </a:r>
            <a:r>
              <a:rPr lang="en-US" altLang="zh-CN" sz="1600">
                <a:sym typeface="+mn-ea"/>
              </a:rPr>
              <a:t>...</a:t>
            </a:r>
            <a:r>
              <a:rPr lang="zh-CN" altLang="en-US" sz="1600">
                <a:sym typeface="+mn-ea"/>
              </a:rPr>
              <a:t>）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br>
              <a:rPr lang="zh-CN" altLang="en-US" sz="1600">
                <a:sym typeface="+mn-ea"/>
              </a:rPr>
            </a:br>
            <a:endParaRPr lang="zh-CN" altLang="en-US"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6-02-11 1724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3644900"/>
            <a:ext cx="4762500" cy="167640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24967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数组（用来存储固定大小的同类型元素）：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1600"/>
              <a:t>首先必须声明数组变量，才能在程序中使用数组。</a:t>
            </a:r>
            <a:endParaRPr lang="zh-CN" altLang="en-US" sz="160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1600"/>
              <a:t>Java</a:t>
            </a:r>
            <a:r>
              <a:rPr lang="zh-CN" altLang="en-US" sz="1600"/>
              <a:t>语言使用</a:t>
            </a:r>
            <a:r>
              <a:rPr lang="en-US" altLang="zh-CN" sz="1600"/>
              <a:t>new</a:t>
            </a:r>
            <a:r>
              <a:rPr lang="zh-CN" altLang="en-US" sz="1600"/>
              <a:t>操作符来创建数组。</a:t>
            </a:r>
            <a:endParaRPr lang="zh-CN" altLang="en-US" sz="160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1600"/>
              <a:t>数组的元素类型和数组的大小都是确定的，所以当处理数组元素时候，我们通常使用基本循环或者</a:t>
            </a:r>
            <a:r>
              <a:rPr lang="en-US" altLang="zh-CN" sz="1600"/>
              <a:t> For-Each </a:t>
            </a:r>
            <a:r>
              <a:rPr lang="zh-CN" altLang="en-US" sz="1600"/>
              <a:t>循环。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声明数组</a:t>
            </a:r>
            <a:r>
              <a:rPr lang="zh-CN" altLang="en-US" sz="1600"/>
              <a:t>变量：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建议使用</a:t>
            </a:r>
            <a:r>
              <a:rPr lang="en-US" altLang="zh-CN" sz="1600"/>
              <a:t> dataType[] arrayRefVar </a:t>
            </a:r>
            <a:r>
              <a:rPr lang="zh-CN" altLang="en-US" sz="1600"/>
              <a:t>的声明风格声明数组变量。</a:t>
            </a:r>
            <a:r>
              <a:rPr lang="en-US" altLang="zh-CN" sz="1600"/>
              <a:t> dataType arrayRefVar[] </a:t>
            </a:r>
            <a:r>
              <a:rPr lang="zh-CN" altLang="en-US" sz="1600"/>
              <a:t>风格是来自</a:t>
            </a:r>
            <a:r>
              <a:rPr lang="en-US" altLang="zh-CN" sz="1600"/>
              <a:t> C/C++ </a:t>
            </a:r>
            <a:r>
              <a:rPr lang="zh-CN" altLang="en-US" sz="1600"/>
              <a:t>语言</a:t>
            </a:r>
            <a:r>
              <a:rPr lang="en-US" altLang="zh-CN" sz="1600"/>
              <a:t> </a:t>
            </a:r>
            <a:r>
              <a:rPr lang="zh-CN" altLang="en-US" sz="1600"/>
              <a:t>，在</a:t>
            </a:r>
            <a:r>
              <a:rPr lang="en-US" altLang="zh-CN" sz="1600"/>
              <a:t>Java</a:t>
            </a:r>
            <a:r>
              <a:rPr lang="zh-CN" altLang="en-US" sz="1600"/>
              <a:t>中采用是为了让</a:t>
            </a:r>
            <a:r>
              <a:rPr lang="en-US" altLang="zh-CN" sz="1600"/>
              <a:t> C/C++ </a:t>
            </a:r>
            <a:r>
              <a:rPr lang="zh-CN" altLang="en-US" sz="1600"/>
              <a:t>程序员能够快速理解</a:t>
            </a:r>
            <a:r>
              <a:rPr lang="en-US" altLang="zh-CN" sz="1600"/>
              <a:t>java</a:t>
            </a:r>
            <a:r>
              <a:rPr lang="zh-CN" altLang="en-US" sz="1600"/>
              <a:t>语言。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创建数组：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数组的元素是通过索引访问的。数组索引从</a:t>
            </a:r>
            <a:r>
              <a:rPr lang="en-US" altLang="zh-CN" sz="1600"/>
              <a:t> 0 </a:t>
            </a:r>
            <a:r>
              <a:rPr lang="zh-CN" altLang="en-US" sz="1600"/>
              <a:t>开始，所以索引值从</a:t>
            </a:r>
            <a:r>
              <a:rPr lang="en-US" altLang="zh-CN" sz="1600"/>
              <a:t> 0 </a:t>
            </a:r>
            <a:r>
              <a:rPr lang="zh-CN" altLang="en-US" sz="1600"/>
              <a:t>到</a:t>
            </a:r>
            <a:r>
              <a:rPr lang="en-US" altLang="zh-CN" sz="1600"/>
              <a:t> arrayRefVar.length-1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43380"/>
            <a:ext cx="8229600" cy="510794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处理数组：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数组的元素类型和数组的大小都是确定的，所以当处理数组元素时候，我们通常使用基本循环或者</a:t>
            </a:r>
            <a:r>
              <a:rPr lang="en-US" altLang="zh-CN" sz="1600"/>
              <a:t> For-Each </a:t>
            </a:r>
            <a:r>
              <a:rPr lang="zh-CN" altLang="en-US" sz="1600"/>
              <a:t>循环。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For-Each</a:t>
            </a:r>
            <a:r>
              <a:rPr lang="zh-CN" altLang="en-US" sz="1600"/>
              <a:t>循环（它能在不使用下标的情况下遍历数组）：即为增强</a:t>
            </a:r>
            <a:r>
              <a:rPr lang="en-US" altLang="zh-CN" sz="1600"/>
              <a:t>For</a:t>
            </a:r>
            <a:r>
              <a:rPr lang="zh-CN" altLang="en-US" sz="1600"/>
              <a:t>循环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注：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数组可以作为参数传递给方法。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数组</a:t>
            </a:r>
            <a:r>
              <a:rPr lang="zh-CN" altLang="en-US" sz="1600"/>
              <a:t>可作为函数的返回值。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多维数组：多维数组可以看成是数组的数组，比如二维数组就是一个特殊的一维数组，其每一个元素都是一个一维数组。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以上详细语法与代码均可见</a:t>
            </a:r>
            <a:r>
              <a:rPr lang="en-US" altLang="zh-CN" sz="1600"/>
              <a:t>ArrayRefVar.</a:t>
            </a:r>
            <a:r>
              <a:rPr lang="en-US" altLang="zh-CN" sz="1600"/>
              <a:t>java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日期与时间</a:t>
            </a:r>
            <a:r>
              <a:rPr lang="zh-CN" altLang="en-US" sz="2000">
                <a:hlinkClick r:id="rId1" action="ppaction://hlinkfile"/>
              </a:rPr>
              <a:t>点此</a:t>
            </a:r>
            <a:r>
              <a:rPr lang="zh-CN" altLang="en-US" sz="2000"/>
              <a:t>前往</a:t>
            </a:r>
            <a:r>
              <a:rPr lang="zh-CN" altLang="en-US" sz="2000"/>
              <a:t>查看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Stream</a:t>
            </a:r>
            <a:r>
              <a:rPr lang="zh-CN" altLang="en-US" sz="2000"/>
              <a:t>、</a:t>
            </a:r>
            <a:r>
              <a:rPr lang="en-US" altLang="zh-CN" sz="2000"/>
              <a:t>File</a:t>
            </a:r>
            <a:r>
              <a:rPr lang="zh-CN" altLang="en-US" sz="2000"/>
              <a:t>、</a:t>
            </a:r>
            <a:r>
              <a:rPr lang="en-US" altLang="zh-CN" sz="2000"/>
              <a:t>IO</a:t>
            </a:r>
            <a:r>
              <a:rPr lang="zh-CN" altLang="en-US" sz="2000">
                <a:hlinkClick r:id="rId2" action="ppaction://hlinkfile"/>
              </a:rPr>
              <a:t>点此</a:t>
            </a:r>
            <a:r>
              <a:rPr lang="zh-CN" altLang="en-US" sz="2000"/>
              <a:t>前往查看</a:t>
            </a:r>
            <a:endParaRPr lang="zh-CN" altLang="en-US" sz="2000"/>
          </a:p>
        </p:txBody>
      </p:sp>
      <p:pic>
        <p:nvPicPr>
          <p:cNvPr id="2" name="图片 1" descr="屏幕截图 2026-02-11 1743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0350"/>
            <a:ext cx="8481695" cy="138303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Scanner</a:t>
            </a:r>
            <a:r>
              <a:rPr lang="zh-CN" altLang="en-US" sz="2000"/>
              <a:t>类（获取用户的输入）：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next():</a:t>
            </a:r>
            <a:endParaRPr lang="en-US" altLang="zh-CN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一定要读取到有效字符后才可以结束输入。</a:t>
            </a:r>
            <a:endParaRPr lang="en-US" altLang="zh-CN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对输入有效字符之前遇到的空白，</a:t>
            </a:r>
            <a:r>
              <a:rPr lang="en-US" altLang="zh-CN" sz="1600"/>
              <a:t>next() </a:t>
            </a:r>
            <a:r>
              <a:rPr lang="zh-CN" altLang="en-US" sz="1600"/>
              <a:t>方法会自动将其去掉。</a:t>
            </a:r>
            <a:endParaRPr lang="en-US" altLang="zh-CN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只有输入有效字符后才将其后面输入的空白作为分隔符或者结束符。</a:t>
            </a:r>
            <a:endParaRPr lang="en-US" altLang="zh-CN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不能得到带有空格的字符串。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nextLine():</a:t>
            </a:r>
            <a:endParaRPr lang="en-US" altLang="zh-CN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以</a:t>
            </a:r>
            <a:r>
              <a:rPr lang="en-US" altLang="zh-CN" sz="1600"/>
              <a:t>Enter</a:t>
            </a:r>
            <a:r>
              <a:rPr lang="zh-CN" altLang="en-US" sz="1600"/>
              <a:t>为结束符</a:t>
            </a:r>
            <a:r>
              <a:rPr lang="en-US" altLang="zh-CN" sz="1600"/>
              <a:t>,</a:t>
            </a:r>
            <a:r>
              <a:rPr lang="zh-CN" altLang="en-US" sz="1600"/>
              <a:t>也就是说</a:t>
            </a:r>
            <a:r>
              <a:rPr lang="en-US" altLang="zh-CN" sz="1600"/>
              <a:t> nextLine()</a:t>
            </a:r>
            <a:r>
              <a:rPr lang="zh-CN" altLang="en-US" sz="1600"/>
              <a:t>方法返回的是输入回车之前的所有字符。</a:t>
            </a:r>
            <a:endParaRPr lang="en-US" altLang="zh-CN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可以获得空白。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如果要输入</a:t>
            </a:r>
            <a:r>
              <a:rPr lang="en-US" altLang="zh-CN" sz="1600"/>
              <a:t> int </a:t>
            </a:r>
            <a:r>
              <a:rPr lang="zh-CN" altLang="en-US" sz="1600"/>
              <a:t>或</a:t>
            </a:r>
            <a:r>
              <a:rPr lang="en-US" altLang="zh-CN" sz="1600"/>
              <a:t> float </a:t>
            </a:r>
            <a:r>
              <a:rPr lang="zh-CN" altLang="en-US" sz="1600"/>
              <a:t>类型的数据，在</a:t>
            </a:r>
            <a:r>
              <a:rPr lang="en-US" altLang="zh-CN" sz="1600"/>
              <a:t> Scanner </a:t>
            </a:r>
            <a:r>
              <a:rPr lang="zh-CN" altLang="en-US" sz="1600"/>
              <a:t>类中也有支持，但是在输入之前最好先使用</a:t>
            </a:r>
            <a:r>
              <a:rPr lang="en-US" altLang="zh-CN" sz="1600"/>
              <a:t> hasNextXxx() </a:t>
            </a:r>
            <a:r>
              <a:rPr lang="zh-CN" altLang="en-US" sz="1600"/>
              <a:t>方法进行验证，再使用</a:t>
            </a:r>
            <a:r>
              <a:rPr lang="en-US" altLang="zh-CN" sz="1600"/>
              <a:t> nextXxx() </a:t>
            </a:r>
            <a:r>
              <a:rPr lang="zh-CN" altLang="en-US" sz="1600"/>
              <a:t>来读取。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详细代码可见</a:t>
            </a:r>
            <a:r>
              <a:rPr lang="en-US" altLang="zh-CN" sz="1600"/>
              <a:t>TestScanner.java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更多方法</a:t>
            </a:r>
            <a:r>
              <a:rPr lang="zh-CN" altLang="en-US" sz="1600">
                <a:hlinkClick r:id="rId1" action="ppaction://hlinkfile"/>
              </a:rPr>
              <a:t>点此</a:t>
            </a:r>
            <a:r>
              <a:rPr lang="zh-CN" altLang="en-US" sz="1600"/>
              <a:t>可见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45745"/>
            <a:ext cx="8229600" cy="645731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异常处理（，</a:t>
            </a:r>
            <a:r>
              <a:rPr lang="zh-CN" altLang="en-US" sz="2000">
                <a:hlinkClick r:id="rId1" action="ppaction://hlinkfile"/>
              </a:rPr>
              <a:t>详细内容</a:t>
            </a:r>
            <a:r>
              <a:rPr lang="zh-CN" altLang="en-US" sz="2000"/>
              <a:t>）：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1600"/>
              <a:t>检查性异常：最具代表的检查性异常是用户错误或问题引起的异常，这些异常在编译时强制要求程序员处理。例如要打开一个不存在文件时，一个异常就发生了，这些异常在编译时不能被简单地忽略。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运行性异常：这些异常在编译时不强制要求处理，通常是由程序中的错误引起的，例如</a:t>
            </a:r>
            <a:r>
              <a:rPr lang="en-US" altLang="zh-CN" sz="1600"/>
              <a:t> NullPointerException</a:t>
            </a:r>
            <a:r>
              <a:rPr lang="zh-CN" altLang="en-US" sz="1600"/>
              <a:t>、</a:t>
            </a:r>
            <a:r>
              <a:rPr lang="en-US" altLang="zh-CN" sz="1600"/>
              <a:t>ArrayIndexOutOfBoundsException </a:t>
            </a:r>
            <a:r>
              <a:rPr lang="zh-CN" altLang="en-US" sz="1600"/>
              <a:t>等，这类异常可以选择处理，但并非强制要求。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错误：错误不是异常，而是脱离程序员控制的问题，错误在代码中通常被忽略。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Java </a:t>
            </a:r>
            <a:r>
              <a:rPr lang="zh-CN" altLang="en-US" sz="1600"/>
              <a:t>提供了以下关键字和类来支持异常处理：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try</a:t>
            </a:r>
            <a:r>
              <a:rPr lang="zh-CN" altLang="en-US" sz="1600"/>
              <a:t>：用于包裹可能会抛出异常的代码块。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catch</a:t>
            </a:r>
            <a:r>
              <a:rPr lang="zh-CN" altLang="en-US" sz="1600"/>
              <a:t>：用于捕获异常并处理异常的代码块。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finally</a:t>
            </a:r>
            <a:r>
              <a:rPr lang="zh-CN" altLang="en-US" sz="1600"/>
              <a:t>：用于包含无论是否发生异常都需要执行的代码块。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throw</a:t>
            </a:r>
            <a:r>
              <a:rPr lang="zh-CN" altLang="en-US" sz="1600"/>
              <a:t>：用于手动抛出异常。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throws</a:t>
            </a:r>
            <a:r>
              <a:rPr lang="zh-CN" altLang="en-US" sz="1600"/>
              <a:t>：用于在方法声明中指定方法可能抛出的异常。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Exception</a:t>
            </a:r>
            <a:r>
              <a:rPr lang="zh-CN" altLang="en-US" sz="1600"/>
              <a:t>类：是所有异常类的父类，它提供了一些方法来获取异常信息，如</a:t>
            </a:r>
            <a:r>
              <a:rPr lang="en-US" altLang="zh-CN" sz="1600"/>
              <a:t> getMessage()</a:t>
            </a:r>
            <a:r>
              <a:rPr lang="zh-CN" altLang="en-US" sz="1600"/>
              <a:t>、</a:t>
            </a:r>
            <a:r>
              <a:rPr lang="en-US" altLang="zh-CN" sz="1600"/>
              <a:t>printStackTrace() </a:t>
            </a:r>
            <a:r>
              <a:rPr lang="zh-CN" altLang="en-US" sz="1600"/>
              <a:t>等。</a:t>
            </a:r>
            <a:endParaRPr lang="zh-CN" altLang="en-US" sz="1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360" y="2857183"/>
            <a:ext cx="8229600" cy="1143000"/>
          </a:xfrm>
        </p:spPr>
        <p:txBody>
          <a:bodyPr/>
          <a:p>
            <a:pPr algn="ctr"/>
            <a:r>
              <a:rPr lang="en-US" altLang="zh-CN"/>
              <a:t>Java</a:t>
            </a:r>
            <a:r>
              <a:rPr lang="zh-CN" altLang="en-US"/>
              <a:t>面向对象</a:t>
            </a:r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继承：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继承就是子类继承父类的特征和行为，使得子类对象（实例）具有父类的实例域和方法，或子类从父类继承方法，使得子类具有父类相同的行为。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继承格式：在</a:t>
            </a:r>
            <a:r>
              <a:rPr lang="en-US" altLang="zh-CN" sz="1600"/>
              <a:t> Java </a:t>
            </a:r>
            <a:r>
              <a:rPr lang="zh-CN" altLang="en-US" sz="1600"/>
              <a:t>中通过</a:t>
            </a:r>
            <a:r>
              <a:rPr lang="en-US" altLang="zh-CN" sz="1600"/>
              <a:t> extends </a:t>
            </a:r>
            <a:r>
              <a:rPr lang="zh-CN" altLang="en-US" sz="1600"/>
              <a:t>关键字可以申明一个类是从另外一个类继承而来的。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作用：维护性提高，代码也更加简洁，提高代码的复用性。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继承</a:t>
            </a:r>
            <a:r>
              <a:rPr lang="zh-CN" altLang="en-US" sz="1600"/>
              <a:t>类型（</a:t>
            </a:r>
            <a:r>
              <a:rPr lang="en-US" altLang="zh-CN" sz="1600"/>
              <a:t>Java </a:t>
            </a:r>
            <a:r>
              <a:rPr lang="zh-CN" altLang="en-US" sz="1600"/>
              <a:t>不支持多继承，但支持多重继承</a:t>
            </a:r>
            <a:r>
              <a:rPr lang="zh-CN" altLang="en-US" sz="1600"/>
              <a:t>）：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单继承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多重</a:t>
            </a:r>
            <a:r>
              <a:rPr lang="zh-CN" altLang="en-US" sz="1600"/>
              <a:t>继承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不同类继承同一个</a:t>
            </a:r>
            <a:r>
              <a:rPr lang="zh-CN" altLang="en-US" sz="1600"/>
              <a:t>类</a:t>
            </a:r>
            <a:endParaRPr lang="zh-CN" altLang="en-US" sz="1600"/>
          </a:p>
        </p:txBody>
      </p:sp>
      <p:pic>
        <p:nvPicPr>
          <p:cNvPr id="2" name="图片 1" descr="屏幕截图 2026-02-12 1620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17065"/>
            <a:ext cx="2619375" cy="16573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继承的</a:t>
            </a:r>
            <a:r>
              <a:rPr lang="zh-CN" altLang="en-US" sz="1600"/>
              <a:t>特性：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子类拥有父类非</a:t>
            </a:r>
            <a:r>
              <a:rPr lang="en-US" altLang="zh-CN" sz="1600"/>
              <a:t> private </a:t>
            </a:r>
            <a:r>
              <a:rPr lang="zh-CN" altLang="en-US" sz="1600"/>
              <a:t>的属性、方法。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子类可以拥有自己的属性和方法，即子类可以对父类进行扩展。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子类可以用自己的方式实现父类的方法。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Java </a:t>
            </a:r>
            <a:r>
              <a:rPr lang="zh-CN" altLang="en-US" sz="1600"/>
              <a:t>的继承是单继承，但是可以多重继承，单继承就是一个子类只能继承一个父类，多重继承就是，例如</a:t>
            </a:r>
            <a:r>
              <a:rPr lang="en-US" altLang="zh-CN" sz="1600"/>
              <a:t> B </a:t>
            </a:r>
            <a:r>
              <a:rPr lang="zh-CN" altLang="en-US" sz="1600"/>
              <a:t>类继承</a:t>
            </a:r>
            <a:r>
              <a:rPr lang="en-US" altLang="zh-CN" sz="1600"/>
              <a:t> A </a:t>
            </a:r>
            <a:r>
              <a:rPr lang="zh-CN" altLang="en-US" sz="1600"/>
              <a:t>类，</a:t>
            </a:r>
            <a:r>
              <a:rPr lang="en-US" altLang="zh-CN" sz="1600"/>
              <a:t>C </a:t>
            </a:r>
            <a:r>
              <a:rPr lang="zh-CN" altLang="en-US" sz="1600"/>
              <a:t>类继承</a:t>
            </a:r>
            <a:r>
              <a:rPr lang="en-US" altLang="zh-CN" sz="1600"/>
              <a:t> B </a:t>
            </a:r>
            <a:r>
              <a:rPr lang="zh-CN" altLang="en-US" sz="1600"/>
              <a:t>类，所以按照关系就是</a:t>
            </a:r>
            <a:r>
              <a:rPr lang="en-US" altLang="zh-CN" sz="1600"/>
              <a:t> B </a:t>
            </a:r>
            <a:r>
              <a:rPr lang="zh-CN" altLang="en-US" sz="1600"/>
              <a:t>类是</a:t>
            </a:r>
            <a:r>
              <a:rPr lang="en-US" altLang="zh-CN" sz="1600"/>
              <a:t> C </a:t>
            </a:r>
            <a:r>
              <a:rPr lang="zh-CN" altLang="en-US" sz="1600"/>
              <a:t>类的父类，</a:t>
            </a:r>
            <a:r>
              <a:rPr lang="en-US" altLang="zh-CN" sz="1600"/>
              <a:t>A </a:t>
            </a:r>
            <a:r>
              <a:rPr lang="zh-CN" altLang="en-US" sz="1600"/>
              <a:t>类是</a:t>
            </a:r>
            <a:r>
              <a:rPr lang="en-US" altLang="zh-CN" sz="1600"/>
              <a:t> B </a:t>
            </a:r>
            <a:r>
              <a:rPr lang="zh-CN" altLang="en-US" sz="1600"/>
              <a:t>类的父类，这是</a:t>
            </a:r>
            <a:r>
              <a:rPr lang="en-US" altLang="zh-CN" sz="1600"/>
              <a:t> Java </a:t>
            </a:r>
            <a:r>
              <a:rPr lang="zh-CN" altLang="en-US" sz="1600"/>
              <a:t>继承区别于</a:t>
            </a:r>
            <a:r>
              <a:rPr lang="en-US" altLang="zh-CN" sz="1600"/>
              <a:t> C++ </a:t>
            </a:r>
            <a:r>
              <a:rPr lang="zh-CN" altLang="en-US" sz="1600"/>
              <a:t>继承的一个特性。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提高了类之间的耦合性（继承的缺点，耦合度</a:t>
            </a:r>
            <a:r>
              <a:rPr lang="zh-CN" altLang="en-US" sz="1600"/>
              <a:t>越高就会造成代码独立性越差）。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继承</a:t>
            </a:r>
            <a:r>
              <a:rPr lang="zh-CN" altLang="en-US" sz="1600"/>
              <a:t>关键词：继承可以使用</a:t>
            </a:r>
            <a:r>
              <a:rPr lang="en-US" altLang="zh-CN" sz="1600"/>
              <a:t> </a:t>
            </a:r>
            <a:r>
              <a:rPr lang="en-US" altLang="zh-CN" sz="1600">
                <a:solidFill>
                  <a:srgbClr val="C00000"/>
                </a:solidFill>
              </a:rPr>
              <a:t>extends </a:t>
            </a:r>
            <a:r>
              <a:rPr lang="zh-CN" altLang="en-US" sz="1600"/>
              <a:t>和</a:t>
            </a:r>
            <a:r>
              <a:rPr lang="en-US" altLang="zh-CN" sz="1600">
                <a:solidFill>
                  <a:srgbClr val="C00000"/>
                </a:solidFill>
              </a:rPr>
              <a:t> implements</a:t>
            </a:r>
            <a:r>
              <a:rPr lang="en-US" altLang="zh-CN" sz="1600"/>
              <a:t> </a:t>
            </a:r>
            <a:r>
              <a:rPr lang="zh-CN" altLang="en-US" sz="1600"/>
              <a:t>这两个关键字来实现继承。当一个类没有继承的两个关键字，则默认继承</a:t>
            </a:r>
            <a:r>
              <a:rPr lang="en-US" altLang="zh-CN" sz="1600"/>
              <a:t> Object</a:t>
            </a:r>
            <a:r>
              <a:rPr lang="zh-CN" altLang="en-US" sz="1600"/>
              <a:t>祖先类。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extends</a:t>
            </a:r>
            <a:r>
              <a:rPr lang="zh-CN" altLang="en-US" sz="1600"/>
              <a:t>关键词：只能继承一个类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implements</a:t>
            </a:r>
            <a:r>
              <a:rPr lang="zh-CN" altLang="en-US" sz="1600"/>
              <a:t>关键词：</a:t>
            </a:r>
            <a:r>
              <a:rPr lang="en-US" altLang="zh-CN" sz="1600"/>
              <a:t> implements </a:t>
            </a:r>
            <a:r>
              <a:rPr lang="zh-CN" altLang="en-US" sz="1600"/>
              <a:t>关键字可以变相的使</a:t>
            </a:r>
            <a:r>
              <a:rPr lang="en-US" altLang="zh-CN" sz="1600"/>
              <a:t>java</a:t>
            </a:r>
            <a:r>
              <a:rPr lang="zh-CN" altLang="en-US" sz="1600"/>
              <a:t>具有多继承的特性，使用范围为类继承接口的情况，可以同时继承多个接口（接口跟接口之间采用逗号分隔）。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super </a:t>
            </a:r>
            <a:r>
              <a:rPr lang="zh-CN" altLang="en-US" sz="1600"/>
              <a:t>关键字：通过</a:t>
            </a:r>
            <a:r>
              <a:rPr lang="en-US" altLang="zh-CN" sz="1600"/>
              <a:t> super </a:t>
            </a:r>
            <a:r>
              <a:rPr lang="zh-CN" altLang="en-US" sz="1600"/>
              <a:t>关键字来实现对父类成员的访问，用来引用当前对象的父类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this </a:t>
            </a:r>
            <a:r>
              <a:rPr lang="zh-CN" altLang="en-US" sz="1600"/>
              <a:t>关键字：指向自己的引用，引用当前对象，即它所在的方法或构造函数所属的对象实例。</a:t>
            </a:r>
            <a:endParaRPr lang="zh-CN" altLang="en-US" sz="16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>
              <a:lnSpc>
                <a:spcPct val="150000"/>
              </a:lnSpc>
            </a:pPr>
            <a:r>
              <a:rPr lang="en-US" altLang="zh-CN" sz="1600"/>
              <a:t>final</a:t>
            </a:r>
            <a:r>
              <a:rPr lang="zh-CN" altLang="en-US" sz="1600"/>
              <a:t>关键字：把类定义定义为最终类，不能被继承，或者用于修饰方法，该方法不能被子类重写。（</a:t>
            </a:r>
            <a:r>
              <a:rPr lang="en-US" altLang="zh-CN" sz="1600">
                <a:solidFill>
                  <a:srgbClr val="C00000"/>
                </a:solidFill>
              </a:rPr>
              <a:t>final </a:t>
            </a:r>
            <a:r>
              <a:rPr lang="zh-CN" altLang="en-US" sz="1600">
                <a:solidFill>
                  <a:srgbClr val="C00000"/>
                </a:solidFill>
              </a:rPr>
              <a:t>定义的类，其中的属性、方法不是</a:t>
            </a:r>
            <a:r>
              <a:rPr lang="en-US" altLang="zh-CN" sz="1600">
                <a:solidFill>
                  <a:srgbClr val="C00000"/>
                </a:solidFill>
              </a:rPr>
              <a:t> final </a:t>
            </a:r>
            <a:r>
              <a:rPr lang="zh-CN" altLang="en-US" sz="1600">
                <a:solidFill>
                  <a:srgbClr val="C00000"/>
                </a:solidFill>
              </a:rPr>
              <a:t>的。</a:t>
            </a:r>
            <a:r>
              <a:rPr lang="zh-CN" altLang="en-US" sz="1600"/>
              <a:t>）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构造器（</a:t>
            </a:r>
            <a:r>
              <a:rPr lang="zh-CN" altLang="en-US" sz="1600">
                <a:sym typeface="+mn-ea"/>
              </a:rPr>
              <a:t>详细代码可见</a:t>
            </a:r>
            <a:r>
              <a:rPr lang="en-US" altLang="zh-CN" sz="1600">
                <a:sym typeface="+mn-ea"/>
              </a:rPr>
              <a:t>TestSuperSub.java</a:t>
            </a:r>
            <a:r>
              <a:rPr lang="zh-CN" altLang="en-US" sz="1600">
                <a:sym typeface="+mn-ea"/>
              </a:rPr>
              <a:t>）：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子类是不继承父类的构造器（构造方法或者构造函数）的，它只是调用（隐式或显式）。如果父类的构造器带有参数，则必须在子类的构造器中显式地通过</a:t>
            </a:r>
            <a:r>
              <a:rPr lang="en-US" altLang="zh-CN" sz="1600"/>
              <a:t> super </a:t>
            </a:r>
            <a:r>
              <a:rPr lang="zh-CN" altLang="en-US" sz="1600"/>
              <a:t>关键字调用父类的构造器并配以适当的参数列表。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如果父类构造器没有参数，则在子类的构造器中不需要使用</a:t>
            </a:r>
            <a:r>
              <a:rPr lang="en-US" altLang="zh-CN" sz="1600"/>
              <a:t> super </a:t>
            </a:r>
            <a:r>
              <a:rPr lang="zh-CN" altLang="en-US" sz="1600"/>
              <a:t>关键字调用父类构造器，系统会自动调用父类的无参构造器。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 descr="屏幕截图 2026-02-14 1656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3145" y="2780665"/>
            <a:ext cx="5207000" cy="346392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29640"/>
            <a:ext cx="4032250" cy="541528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ym typeface="+mn-ea"/>
              </a:rPr>
              <a:t>多态优点：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>
                <a:sym typeface="+mn-ea"/>
              </a:rPr>
              <a:t>消除类型之间的耦合关系</a:t>
            </a:r>
            <a:r>
              <a:rPr lang="en-US" altLang="zh-CN" sz="1600">
                <a:sym typeface="+mn-ea"/>
              </a:rPr>
              <a:t>	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>
                <a:sym typeface="+mn-ea"/>
              </a:rPr>
              <a:t>可替换性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>
                <a:sym typeface="+mn-ea"/>
              </a:rPr>
              <a:t>可扩充性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>
                <a:sym typeface="+mn-ea"/>
              </a:rPr>
              <a:t>接口性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>
                <a:sym typeface="+mn-ea"/>
              </a:rPr>
              <a:t>灵活性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>
                <a:sym typeface="+mn-ea"/>
              </a:rPr>
              <a:t>简化性</a:t>
            </a:r>
            <a:endParaRPr lang="zh-CN" altLang="en-US" sz="1600"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当使用多态方式调用方法时，首先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检查父类中是否有该方法，如果没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有，则编译错误；如果有，再去调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用子类的同名方法。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ym typeface="+mn-ea"/>
              </a:rPr>
              <a:t>多态的三种实现方式：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ym typeface="+mn-ea"/>
              </a:rPr>
              <a:t>①</a:t>
            </a:r>
            <a:r>
              <a:rPr lang="zh-CN" altLang="en-US" sz="1600">
                <a:sym typeface="+mn-ea"/>
                <a:hlinkClick r:id="rId2" action="ppaction://hlinksldjump"/>
              </a:rPr>
              <a:t>重写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②</a:t>
            </a:r>
            <a:r>
              <a:rPr lang="zh-CN" altLang="en-US" sz="1600">
                <a:sym typeface="+mn-ea"/>
                <a:hlinkClick r:id="" action="ppaction://noaction"/>
              </a:rPr>
              <a:t>接口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③</a:t>
            </a:r>
            <a:r>
              <a:rPr lang="zh-CN" altLang="en-US" sz="1600">
                <a:sym typeface="+mn-ea"/>
                <a:hlinkClick r:id="rId3" action="ppaction://hlinksldjump"/>
              </a:rPr>
              <a:t>抽象类和抽象方法</a:t>
            </a:r>
            <a:endParaRPr lang="zh-CN" altLang="en-US" sz="1600"/>
          </a:p>
        </p:txBody>
      </p:sp>
      <p:sp>
        <p:nvSpPr>
          <p:cNvPr id="12" name="内容占位符 11"/>
          <p:cNvSpPr>
            <a:spLocks noGrp="1"/>
          </p:cNvSpPr>
          <p:nvPr>
            <p:ph sz="half" idx="2"/>
          </p:nvPr>
        </p:nvSpPr>
        <p:spPr>
          <a:xfrm>
            <a:off x="4654550" y="972185"/>
            <a:ext cx="4032250" cy="515429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多态的三个必要条件：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继承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重写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父类引用</a:t>
            </a:r>
            <a:r>
              <a:rPr lang="zh-CN" altLang="en-US" sz="1600"/>
              <a:t>指向子类</a:t>
            </a:r>
            <a:r>
              <a:rPr lang="zh-CN" altLang="en-US" sz="1600"/>
              <a:t>对象</a:t>
            </a:r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457200" y="116840"/>
            <a:ext cx="8228965" cy="855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2000"/>
              <a:t>多态：同一个行为具有多个不同表现形式或形态的能力。</a:t>
            </a:r>
            <a:r>
              <a:rPr lang="en-US" altLang="zh-CN" sz="2000"/>
              <a:t>P</a:t>
            </a:r>
            <a:r>
              <a:rPr lang="en-US" altLang="zh-CN" sz="2000"/>
              <a:t>olymorphism.java</a:t>
            </a:r>
            <a:endParaRPr lang="en-US" altLang="zh-CN" sz="2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重写</a:t>
            </a:r>
            <a:r>
              <a:rPr lang="en-US" altLang="zh-CN" sz="2000"/>
              <a:t>(Override)</a:t>
            </a:r>
            <a:r>
              <a:rPr lang="zh-CN" altLang="en-US" sz="2000"/>
              <a:t>与重载</a:t>
            </a:r>
            <a:r>
              <a:rPr lang="en-US" altLang="zh-CN" sz="2000"/>
              <a:t>(Overload)</a:t>
            </a:r>
            <a:r>
              <a:rPr lang="zh-CN" altLang="en-US" sz="2000"/>
              <a:t>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重写：指子类定义了一个与其父类中具有相同名称、参数列表和返回类型的方法，并且子类方法的实现覆盖了父类</a:t>
            </a:r>
            <a:r>
              <a:rPr lang="zh-CN" altLang="en-US" sz="1600">
                <a:solidFill>
                  <a:schemeClr val="tx1"/>
                </a:solidFill>
              </a:rPr>
              <a:t>方法</a:t>
            </a:r>
            <a:r>
              <a:rPr lang="zh-CN" altLang="en-US" sz="1600"/>
              <a:t>的实现。</a:t>
            </a:r>
            <a:r>
              <a:rPr lang="en-US" altLang="zh-CN" sz="1600"/>
              <a:t> </a:t>
            </a:r>
            <a:r>
              <a:rPr lang="zh-CN" altLang="en-US" sz="1600">
                <a:solidFill>
                  <a:srgbClr val="FF0000"/>
                </a:solidFill>
              </a:rPr>
              <a:t>即外壳不变，核心重写！</a:t>
            </a:r>
            <a:endParaRPr lang="zh-CN" altLang="en-US" sz="160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</a:rPr>
              <a:t>好处在于子类可以根据需要，定义特定于自己的行为。</a:t>
            </a:r>
            <a:r>
              <a:rPr lang="zh-CN" altLang="en-US" sz="1600">
                <a:solidFill>
                  <a:schemeClr val="tx1"/>
                </a:solidFill>
              </a:rPr>
              <a:t>即子类能够根据需要实现父类的方法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</a:rPr>
              <a:t>不能抛出新的检查异常或者比被重写方法申明更加宽泛的异常</a:t>
            </a:r>
            <a:endParaRPr lang="zh-CN" altLang="en-US" sz="16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chemeClr val="tx1"/>
                </a:solidFill>
              </a:rPr>
              <a:t>方法</a:t>
            </a:r>
            <a:r>
              <a:rPr lang="zh-CN" altLang="en-US" sz="1600">
                <a:solidFill>
                  <a:schemeClr val="tx1"/>
                </a:solidFill>
              </a:rPr>
              <a:t>的重写</a:t>
            </a:r>
            <a:r>
              <a:rPr lang="zh-CN" altLang="en-US" sz="1600">
                <a:solidFill>
                  <a:schemeClr val="tx1"/>
                </a:solidFill>
              </a:rPr>
              <a:t>规则：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</a:rPr>
              <a:t>参数列表与被重写方法的参数列表必须完全相同。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</a:rPr>
              <a:t>返回类型与被重写方法的返回类型可以不相同，但是必须是父类返回值的派生类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</a:rPr>
              <a:t>访问权限不能比父类中被重写的方法的访问权限更低。例如：如果父类的一个方法被声明为</a:t>
            </a:r>
            <a:r>
              <a:rPr lang="en-US" altLang="zh-CN" sz="1600">
                <a:solidFill>
                  <a:schemeClr val="tx1"/>
                </a:solidFill>
              </a:rPr>
              <a:t> public</a:t>
            </a:r>
            <a:r>
              <a:rPr lang="zh-CN" altLang="en-US" sz="1600">
                <a:solidFill>
                  <a:schemeClr val="tx1"/>
                </a:solidFill>
              </a:rPr>
              <a:t>，那么在子类中重写该方法就不能声明为</a:t>
            </a:r>
            <a:r>
              <a:rPr lang="en-US" altLang="zh-CN" sz="1600">
                <a:solidFill>
                  <a:schemeClr val="tx1"/>
                </a:solidFill>
              </a:rPr>
              <a:t> protected</a:t>
            </a:r>
            <a:r>
              <a:rPr lang="zh-CN" altLang="en-US" sz="1600">
                <a:solidFill>
                  <a:schemeClr val="tx1"/>
                </a:solidFill>
              </a:rPr>
              <a:t>。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</a:rPr>
              <a:t>父类的成员方法只能被它的子类重写。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</a:rPr>
              <a:t>声明为</a:t>
            </a:r>
            <a:r>
              <a:rPr lang="en-US" altLang="zh-CN" sz="1600">
                <a:solidFill>
                  <a:schemeClr val="tx1"/>
                </a:solidFill>
              </a:rPr>
              <a:t> final </a:t>
            </a:r>
            <a:r>
              <a:rPr lang="zh-CN" altLang="en-US" sz="1600">
                <a:solidFill>
                  <a:schemeClr val="tx1"/>
                </a:solidFill>
              </a:rPr>
              <a:t>的方法不能被重写。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</a:rPr>
              <a:t>声明为</a:t>
            </a:r>
            <a:r>
              <a:rPr lang="en-US" altLang="zh-CN" sz="1600">
                <a:solidFill>
                  <a:schemeClr val="tx1"/>
                </a:solidFill>
              </a:rPr>
              <a:t> final </a:t>
            </a:r>
            <a:r>
              <a:rPr lang="zh-CN" altLang="en-US" sz="1600">
                <a:solidFill>
                  <a:schemeClr val="tx1"/>
                </a:solidFill>
              </a:rPr>
              <a:t>的方法不能被重写。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</a:rPr>
              <a:t>子类和父类在同一个包中，那么子类可以重写父类所有方法，除了声明为</a:t>
            </a:r>
            <a:r>
              <a:rPr lang="en-US" altLang="zh-CN" sz="1600">
                <a:solidFill>
                  <a:schemeClr val="tx1"/>
                </a:solidFill>
              </a:rPr>
              <a:t> private </a:t>
            </a:r>
            <a:r>
              <a:rPr lang="zh-CN" altLang="en-US" sz="1600">
                <a:solidFill>
                  <a:schemeClr val="tx1"/>
                </a:solidFill>
              </a:rPr>
              <a:t>和</a:t>
            </a:r>
            <a:r>
              <a:rPr lang="en-US" altLang="zh-CN" sz="1600">
                <a:solidFill>
                  <a:schemeClr val="tx1"/>
                </a:solidFill>
              </a:rPr>
              <a:t> final </a:t>
            </a:r>
            <a:r>
              <a:rPr lang="zh-CN" altLang="en-US" sz="1600">
                <a:solidFill>
                  <a:schemeClr val="tx1"/>
                </a:solidFill>
              </a:rPr>
              <a:t>的方法。</a:t>
            </a:r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 sz="1600"/>
              <a:t>子类和父类不在同一个包中，那么子类只能够重写父类的声明为</a:t>
            </a:r>
            <a:r>
              <a:rPr lang="en-US" altLang="zh-CN" sz="1600"/>
              <a:t> public </a:t>
            </a:r>
            <a:r>
              <a:rPr lang="zh-CN" altLang="en-US" sz="1600"/>
              <a:t>和</a:t>
            </a:r>
            <a:r>
              <a:rPr lang="en-US" altLang="zh-CN" sz="1600"/>
              <a:t> protected </a:t>
            </a:r>
            <a:r>
              <a:rPr lang="zh-CN" altLang="en-US" sz="1600"/>
              <a:t>的非</a:t>
            </a:r>
            <a:r>
              <a:rPr lang="en-US" altLang="zh-CN" sz="1600"/>
              <a:t> final </a:t>
            </a:r>
            <a:r>
              <a:rPr lang="zh-CN" altLang="en-US" sz="1600"/>
              <a:t>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重写的方法能够抛出任何非强制异常，无论被重写的方法是否抛出异常。但是，重写的方法不能抛出新的强制性异常，或者比被重写方法声明的更广泛的强制性异常，反之则可以。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构造方法不能被重写。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如果不能继承一个类，则不能重写该类的方法。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当需要在子类中调用父类的被重写方法时，要使用</a:t>
            </a:r>
            <a:r>
              <a:rPr lang="en-US" altLang="zh-CN" sz="1600"/>
              <a:t> super </a:t>
            </a:r>
            <a:r>
              <a:rPr lang="zh-CN" altLang="en-US" sz="1600"/>
              <a:t>关键字。（</a:t>
            </a:r>
            <a:r>
              <a:rPr lang="en-US" altLang="zh-CN" sz="1600"/>
              <a:t>OversideSuper.java</a:t>
            </a:r>
            <a:r>
              <a:rPr lang="zh-CN" altLang="en-US" sz="1600"/>
              <a:t>）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重载：在一个类里面，方法名字相同，而参数不同。返回类型可以相同也可以不同。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重载规则：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被重载的方法必须改变参数列表</a:t>
            </a:r>
            <a:r>
              <a:rPr lang="en-US" altLang="zh-CN" sz="1600"/>
              <a:t>(</a:t>
            </a:r>
            <a:r>
              <a:rPr lang="zh-CN" altLang="en-US" sz="1600"/>
              <a:t>参数个数或类型不一样</a:t>
            </a:r>
            <a:r>
              <a:rPr lang="en-US" altLang="zh-CN" sz="1600"/>
              <a:t>)</a:t>
            </a:r>
            <a:r>
              <a:rPr lang="zh-CN" altLang="en-US" sz="1600"/>
              <a:t>；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被重载的方法可以改变返回类型；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被重载的方法可以改变访问修饰符；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被重载的方法可以声明新的或更广的检查异常；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方法能够在同一个类中或者在一个子类中被重载。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无法以返回值类型作为重载函数的区分标准。</a:t>
            </a:r>
            <a:r>
              <a:rPr lang="en-US" altLang="zh-CN" sz="1600"/>
              <a:t>	</a:t>
            </a:r>
            <a:endParaRPr lang="en-US" altLang="zh-CN" sz="16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6-02-14 2234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0395"/>
            <a:ext cx="7439025" cy="244792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重写与重载的</a:t>
            </a:r>
            <a:r>
              <a:rPr lang="zh-CN" altLang="en-US" sz="1600"/>
              <a:t>区别：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总结：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方法的重写</a:t>
            </a:r>
            <a:r>
              <a:rPr lang="en-US" altLang="zh-CN" sz="1600"/>
              <a:t>(Overriding)</a:t>
            </a:r>
            <a:r>
              <a:rPr lang="zh-CN" altLang="en-US" sz="1600"/>
              <a:t>和重载</a:t>
            </a:r>
            <a:r>
              <a:rPr lang="en-US" altLang="zh-CN" sz="1600"/>
              <a:t>(Overloading)</a:t>
            </a:r>
            <a:r>
              <a:rPr lang="zh-CN" altLang="en-US" sz="1600"/>
              <a:t>是</a:t>
            </a:r>
            <a:r>
              <a:rPr lang="en-US" altLang="zh-CN" sz="1600"/>
              <a:t>java</a:t>
            </a:r>
            <a:r>
              <a:rPr lang="zh-CN" altLang="en-US" sz="1600"/>
              <a:t>多态性的不同表现，重写是父类与子类之间多态性的一种表现，重载可以理解成多态的具体表现形式。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方法重载是一个类中定义了多个方法名相同</a:t>
            </a:r>
            <a:r>
              <a:rPr lang="en-US" altLang="zh-CN" sz="1600"/>
              <a:t>,</a:t>
            </a:r>
            <a:r>
              <a:rPr lang="zh-CN" altLang="en-US" sz="1600"/>
              <a:t>而他们的参数的数量不同或数量相同而类型和次序不同</a:t>
            </a:r>
            <a:r>
              <a:rPr lang="en-US" altLang="zh-CN" sz="1600"/>
              <a:t>,</a:t>
            </a:r>
            <a:r>
              <a:rPr lang="zh-CN" altLang="en-US" sz="1600"/>
              <a:t>则称为方法的重载</a:t>
            </a:r>
            <a:r>
              <a:rPr lang="en-US" altLang="zh-CN" sz="1600"/>
              <a:t>(Overloading)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方法重写是在子类存在方法与父类的方法的名字相同</a:t>
            </a:r>
            <a:r>
              <a:rPr lang="en-US" altLang="zh-CN" sz="1600"/>
              <a:t>,</a:t>
            </a:r>
            <a:r>
              <a:rPr lang="zh-CN" altLang="en-US" sz="1600"/>
              <a:t>而且参数的个数与类型一样</a:t>
            </a:r>
            <a:r>
              <a:rPr lang="en-US" altLang="zh-CN" sz="1600"/>
              <a:t>,</a:t>
            </a:r>
            <a:r>
              <a:rPr lang="zh-CN" altLang="en-US" sz="1600"/>
              <a:t>返回值也一样的方法</a:t>
            </a:r>
            <a:r>
              <a:rPr lang="en-US" altLang="zh-CN" sz="1600"/>
              <a:t>,</a:t>
            </a:r>
            <a:r>
              <a:rPr lang="zh-CN" altLang="en-US" sz="1600"/>
              <a:t>就称为重写</a:t>
            </a:r>
            <a:r>
              <a:rPr lang="en-US" altLang="zh-CN" sz="1600"/>
              <a:t>(Overriding)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方法重载是一个类的多态性表现</a:t>
            </a:r>
            <a:r>
              <a:rPr lang="en-US" altLang="zh-CN" sz="1600"/>
              <a:t>,</a:t>
            </a:r>
            <a:r>
              <a:rPr lang="zh-CN" altLang="en-US" sz="1600"/>
              <a:t>而方法重写是子类与父类的一种多态性表现。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endParaRPr lang="zh-CN" altLang="en-US" sz="1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屏幕截图 2026-02-14 22355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5605" y="188595"/>
            <a:ext cx="8229600" cy="34848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26390"/>
            <a:ext cx="8229600" cy="621220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接口</a:t>
            </a:r>
            <a:r>
              <a:rPr lang="en-US" altLang="zh-CN" sz="2000"/>
              <a:t>(interface)</a:t>
            </a:r>
            <a:r>
              <a:rPr lang="zh-CN" altLang="en-US" sz="2000"/>
              <a:t>：是一个抽象类型，是抽象方法的集合，一个类通过继承接口的方式，从而来继承接口的抽象方法。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1600"/>
              <a:t>接口并不是类，编写接口的方式和类很相似，但是它们属于不同的概念。类描述对象的属性和方法。接口则包含类要实现的方法。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接口无法被实例化，但是可以被实现。一个实现接口的类，必须实现接口内所描述的所有方法，否则就必须声明为抽象类。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接口类型可用来声明一个变量，他们可以成为一个空指针，或是被绑定在一个以此接口实现的对象。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除非实现接口的类是抽象类，否则该类要定义接口中的所有方法。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接口与类的</a:t>
            </a:r>
            <a:r>
              <a:rPr lang="zh-CN" altLang="en-US" sz="1600">
                <a:solidFill>
                  <a:srgbClr val="FF0000"/>
                </a:solidFill>
              </a:rPr>
              <a:t>相似点</a:t>
            </a:r>
            <a:r>
              <a:rPr lang="zh-CN" altLang="en-US" sz="1600"/>
              <a:t>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一个接口可以有多个方法。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接口文件保存在</a:t>
            </a:r>
            <a:r>
              <a:rPr lang="en-US" altLang="zh-CN" sz="1600"/>
              <a:t> .java </a:t>
            </a:r>
            <a:r>
              <a:rPr lang="zh-CN" altLang="en-US" sz="1600"/>
              <a:t>结尾的文件中，文件名使用接口名。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接口的字节码文件保存在</a:t>
            </a:r>
            <a:r>
              <a:rPr lang="en-US" altLang="zh-CN" sz="1600"/>
              <a:t> .class </a:t>
            </a:r>
            <a:r>
              <a:rPr lang="zh-CN" altLang="en-US" sz="1600"/>
              <a:t>结尾的文件中。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接口相应的字节码文件必须在与包名称相匹配的目录结构中。</a:t>
            </a:r>
            <a:endParaRPr lang="zh-CN" altLang="en-US" sz="16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接口与类的</a:t>
            </a:r>
            <a:r>
              <a:rPr lang="zh-CN" altLang="en-US" sz="1600"/>
              <a:t>区别：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接口不能用于实例化对象。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接口没有构造方法。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接口中所有的方法必须是抽象方法，</a:t>
            </a:r>
            <a:r>
              <a:rPr lang="en-US" altLang="zh-CN" sz="1600">
                <a:solidFill>
                  <a:srgbClr val="FF0000"/>
                </a:solidFill>
              </a:rPr>
              <a:t>Java 8 </a:t>
            </a:r>
            <a:r>
              <a:rPr lang="zh-CN" altLang="en-US" sz="1600">
                <a:solidFill>
                  <a:srgbClr val="FF0000"/>
                </a:solidFill>
              </a:rPr>
              <a:t>之后</a:t>
            </a:r>
            <a:r>
              <a:rPr lang="zh-CN" altLang="en-US" sz="1600"/>
              <a:t>接口中</a:t>
            </a:r>
            <a:r>
              <a:rPr lang="zh-CN" altLang="en-US" sz="1600">
                <a:solidFill>
                  <a:srgbClr val="FF0000"/>
                </a:solidFill>
              </a:rPr>
              <a:t>可以使用</a:t>
            </a:r>
            <a:r>
              <a:rPr lang="en-US" altLang="zh-CN" sz="1600"/>
              <a:t> default </a:t>
            </a:r>
            <a:r>
              <a:rPr lang="zh-CN" altLang="en-US" sz="1600"/>
              <a:t>关键字修饰的非抽象方法。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接口不能包含成员变量，除了</a:t>
            </a:r>
            <a:r>
              <a:rPr lang="en-US" altLang="zh-CN" sz="1600"/>
              <a:t> static </a:t>
            </a:r>
            <a:r>
              <a:rPr lang="zh-CN" altLang="en-US" sz="1600"/>
              <a:t>和</a:t>
            </a:r>
            <a:r>
              <a:rPr lang="en-US" altLang="zh-CN" sz="1600"/>
              <a:t> final </a:t>
            </a:r>
            <a:r>
              <a:rPr lang="zh-CN" altLang="en-US" sz="1600"/>
              <a:t>变量。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接口不是被类继承了，而是要</a:t>
            </a:r>
            <a:r>
              <a:rPr lang="zh-CN" altLang="en-US" sz="1600">
                <a:solidFill>
                  <a:srgbClr val="FF0000"/>
                </a:solidFill>
              </a:rPr>
              <a:t>被类实现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接口支持多继承。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接口</a:t>
            </a:r>
            <a:r>
              <a:rPr lang="zh-CN" altLang="en-US" sz="1600"/>
              <a:t>特性：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接口中每一个方法也是隐式抽象的</a:t>
            </a:r>
            <a:r>
              <a:rPr lang="en-US" altLang="zh-CN" sz="1600"/>
              <a:t>,</a:t>
            </a:r>
            <a:r>
              <a:rPr lang="zh-CN" altLang="en-US" sz="1600"/>
              <a:t>接口中的方法会被隐式的指定为</a:t>
            </a:r>
            <a:r>
              <a:rPr lang="en-US" altLang="zh-CN" sz="1600"/>
              <a:t> public abstract</a:t>
            </a:r>
            <a:r>
              <a:rPr lang="zh-CN" altLang="en-US" sz="1600"/>
              <a:t>（只能是</a:t>
            </a:r>
            <a:r>
              <a:rPr lang="en-US" altLang="zh-CN" sz="1600"/>
              <a:t> public abstract</a:t>
            </a:r>
            <a:r>
              <a:rPr lang="zh-CN" altLang="en-US" sz="1600"/>
              <a:t>，其他修饰符都会报错）。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接口中可以含有变量，但是接口中的变量会被隐式的指定为</a:t>
            </a:r>
            <a:r>
              <a:rPr lang="en-US" altLang="zh-CN" sz="1600"/>
              <a:t> public static final </a:t>
            </a:r>
            <a:r>
              <a:rPr lang="zh-CN" altLang="en-US" sz="1600"/>
              <a:t>变量（并且只能是</a:t>
            </a:r>
            <a:r>
              <a:rPr lang="en-US" altLang="zh-CN" sz="1600"/>
              <a:t> public</a:t>
            </a:r>
            <a:r>
              <a:rPr lang="zh-CN" altLang="en-US" sz="1600"/>
              <a:t>，用</a:t>
            </a:r>
            <a:r>
              <a:rPr lang="en-US" altLang="zh-CN" sz="1600"/>
              <a:t> private </a:t>
            </a:r>
            <a:r>
              <a:rPr lang="zh-CN" altLang="en-US" sz="1600"/>
              <a:t>修饰会报编译错误）。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接口中的方法是不能在接口中实现的，只能由实现接口的类来实现接口中的方法。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接口中的方法都是公有的。</a:t>
            </a:r>
            <a:endParaRPr lang="zh-CN" altLang="en-US" sz="16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接口与抽象类的</a:t>
            </a:r>
            <a:r>
              <a:rPr lang="zh-CN" altLang="en-US" sz="1600"/>
              <a:t>区别：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抽象类中的方法可以有方法体，就是能实现方法的具体功能，但是接口中的方法不行。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抽象类中的成员变量可以是各种类型的，而接口中的成员变量只能是</a:t>
            </a:r>
            <a:r>
              <a:rPr lang="en-US" altLang="zh-CN" sz="1600"/>
              <a:t> public static final </a:t>
            </a:r>
            <a:r>
              <a:rPr lang="zh-CN" altLang="en-US" sz="1600"/>
              <a:t>类型的。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接口中不能含有静态代码块以及静态方法</a:t>
            </a:r>
            <a:r>
              <a:rPr lang="en-US" altLang="zh-CN" sz="1600"/>
              <a:t>(</a:t>
            </a:r>
            <a:r>
              <a:rPr lang="zh-CN" altLang="en-US" sz="1600"/>
              <a:t>用</a:t>
            </a:r>
            <a:r>
              <a:rPr lang="en-US" altLang="zh-CN" sz="1600"/>
              <a:t> static </a:t>
            </a:r>
            <a:r>
              <a:rPr lang="zh-CN" altLang="en-US" sz="1600"/>
              <a:t>修饰的方法</a:t>
            </a:r>
            <a:r>
              <a:rPr lang="en-US" altLang="zh-CN" sz="1600"/>
              <a:t>)</a:t>
            </a:r>
            <a:r>
              <a:rPr lang="zh-CN" altLang="en-US" sz="1600"/>
              <a:t>，而抽象类是可以有静态代码块和静态方法。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一个类只能继承一个抽象类，而一个类却可以实现多个接口。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注：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JDK 1.8 </a:t>
            </a:r>
            <a:r>
              <a:rPr lang="zh-CN" altLang="en-US" sz="1600"/>
              <a:t>以后，接口里可以有静态方法和方法体了。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JDK 1.8 </a:t>
            </a:r>
            <a:r>
              <a:rPr lang="zh-CN" altLang="en-US" sz="1600"/>
              <a:t>以后，接口允许包含具体实现的方法，该方法称为</a:t>
            </a:r>
            <a:r>
              <a:rPr lang="en-US" altLang="zh-CN" sz="1600"/>
              <a:t>"</a:t>
            </a:r>
            <a:r>
              <a:rPr lang="zh-CN" altLang="en-US" sz="1600"/>
              <a:t>默认方法</a:t>
            </a:r>
            <a:r>
              <a:rPr lang="en-US" altLang="zh-CN" sz="1600"/>
              <a:t>"</a:t>
            </a:r>
            <a:r>
              <a:rPr lang="zh-CN" altLang="en-US" sz="1600"/>
              <a:t>，默认方法使用</a:t>
            </a:r>
            <a:r>
              <a:rPr lang="en-US" altLang="zh-CN" sz="1600"/>
              <a:t> default </a:t>
            </a:r>
            <a:r>
              <a:rPr lang="zh-CN" altLang="en-US" sz="1600"/>
              <a:t>关键字修饰。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JDK 1.9 </a:t>
            </a:r>
            <a:r>
              <a:rPr lang="zh-CN" altLang="en-US" sz="1600"/>
              <a:t>以后，允许将方法定义为</a:t>
            </a:r>
            <a:r>
              <a:rPr lang="en-US" altLang="zh-CN" sz="1600"/>
              <a:t> private</a:t>
            </a:r>
            <a:r>
              <a:rPr lang="zh-CN" altLang="en-US" sz="1600"/>
              <a:t>，使得某些复用的代码不会把方法暴露出去。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ym typeface="+mn-ea"/>
              </a:rPr>
              <a:t>重写接口中声明的方法时，需要注意以下规则：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>
                <a:sym typeface="+mn-ea"/>
              </a:rPr>
              <a:t>类在实现接口的方法时，不能抛出强制性异常，只能在接口中，或者继承接口的抽象类中抛出该强制性异常。</a:t>
            </a:r>
            <a:endParaRPr lang="zh-CN" altLang="en-US" sz="16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/>
              <a:t>类在重写方法时要保持一致的方法名，并且应该保持相同或者相兼容的返回值类型。</a:t>
            </a:r>
            <a:endParaRPr lang="zh-CN" altLang="en-US" sz="16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/>
              <a:t>如果实现接口的类是抽象类，那么就没必要实现该接口的方法。</a:t>
            </a:r>
            <a:endParaRPr lang="zh-CN" altLang="en-US" sz="1600"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在实现接口的时候，也要注意一些规则：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一个类可以同时实现多个接口。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一个类只能继承一个类，但是能实现多个接口。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一个接口能继承另一个接口，这和类之间的继承比较相似。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接口的继承：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一个接口能继承另一个接口，和类之间的继承方式比较相似。</a:t>
            </a:r>
            <a:r>
              <a:rPr lang="zh-CN" altLang="en-US" sz="1600">
                <a:solidFill>
                  <a:srgbClr val="C00000"/>
                </a:solidFill>
              </a:rPr>
              <a:t>接口的继承使用</a:t>
            </a:r>
            <a:r>
              <a:rPr lang="en-US" altLang="zh-CN" sz="1600">
                <a:solidFill>
                  <a:srgbClr val="C00000"/>
                </a:solidFill>
              </a:rPr>
              <a:t>extends</a:t>
            </a:r>
            <a:r>
              <a:rPr lang="zh-CN" altLang="en-US" sz="1600">
                <a:solidFill>
                  <a:srgbClr val="C00000"/>
                </a:solidFill>
              </a:rPr>
              <a:t>关键字，子接口继承父接口的方法。</a:t>
            </a:r>
            <a:endParaRPr lang="zh-CN" altLang="en-US" sz="160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/>
              <a:t>在接口的多继承中</a:t>
            </a:r>
            <a:r>
              <a:rPr lang="en-US" altLang="zh-CN" sz="1600"/>
              <a:t>extends</a:t>
            </a:r>
            <a:r>
              <a:rPr lang="zh-CN" altLang="en-US" sz="1600"/>
              <a:t>关键字只需要使用一次，在其后跟着继承接口。</a:t>
            </a:r>
            <a:endParaRPr lang="zh-CN" altLang="en-US" sz="16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标记</a:t>
            </a:r>
            <a:r>
              <a:rPr lang="zh-CN" altLang="en-US" sz="1600"/>
              <a:t>接口：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标记接口是没有任何方法和属性的接口</a:t>
            </a:r>
            <a:r>
              <a:rPr lang="en-US" altLang="zh-CN" sz="1600"/>
              <a:t>.</a:t>
            </a:r>
            <a:r>
              <a:rPr lang="zh-CN" altLang="en-US" sz="1600"/>
              <a:t>它仅仅表明它的类属于一个特定的类型</a:t>
            </a:r>
            <a:r>
              <a:rPr lang="en-US" altLang="zh-CN" sz="1600"/>
              <a:t>,</a:t>
            </a:r>
            <a:r>
              <a:rPr lang="zh-CN" altLang="en-US" sz="1600"/>
              <a:t>供其他代码来测试允许做一些事情。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目的：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建立一个公共的父接口：可以使用一个标记接口来建立一组接口的父接口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向一个类添加数据类型：这种情况是标记接口最初的目的，实现标记接口的类不需要定义任何接口方法</a:t>
            </a:r>
            <a:r>
              <a:rPr lang="en-US" altLang="zh-CN" sz="1600"/>
              <a:t>(</a:t>
            </a:r>
            <a:r>
              <a:rPr lang="zh-CN" altLang="en-US" sz="1600"/>
              <a:t>因为标记接口根本就没有方法</a:t>
            </a:r>
            <a:r>
              <a:rPr lang="en-US" altLang="zh-CN" sz="1600"/>
              <a:t>)</a:t>
            </a:r>
            <a:r>
              <a:rPr lang="zh-CN" altLang="en-US" sz="1600"/>
              <a:t>，但是该类通过多态性变成一个接口类型。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抽象类：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1600"/>
              <a:t>抽象类不能被实例化</a:t>
            </a:r>
            <a:r>
              <a:rPr lang="en-US" altLang="zh-CN" sz="1600"/>
              <a:t>(</a:t>
            </a:r>
            <a:r>
              <a:rPr lang="zh-CN" altLang="en-US" sz="1600"/>
              <a:t>初学者很容易犯的错</a:t>
            </a:r>
            <a:r>
              <a:rPr lang="en-US" altLang="zh-CN" sz="1600"/>
              <a:t>)</a:t>
            </a:r>
            <a:r>
              <a:rPr lang="zh-CN" altLang="en-US" sz="1600"/>
              <a:t>，如果被实例化，就会报错，编译无法通过。只有抽象类的非抽象子类可以创建对象。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抽象类中不一定包含抽象方法，但是有抽象方法的类必定是抽象类。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抽象类中的抽象方法只是声明，不包含方法体，就是不给出方法的具体实现也就是方法的具体功能。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构造方法，类方法（用</a:t>
            </a:r>
            <a:r>
              <a:rPr lang="en-US" altLang="zh-CN" sz="1600"/>
              <a:t> static </a:t>
            </a:r>
            <a:r>
              <a:rPr lang="zh-CN" altLang="en-US" sz="1600"/>
              <a:t>修饰的方法）不能声明为抽象方法。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抽象类的子类必须给出抽象类中的抽象方法的具体实现，除非该子类也是抽象类。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endParaRPr lang="zh-CN" altLang="en-US" sz="2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抽象方法：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Abstract </a:t>
            </a:r>
            <a:r>
              <a:rPr lang="zh-CN" altLang="en-US" sz="1600"/>
              <a:t>关键字同样可以用来声明抽象方法，抽象方法只包含一个方法名，而没有方法体。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抽象方法没有定义，方法名后面直接跟一个分号，而不是花括号。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声明抽象方法会造成以下两个结果：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如果一个类包含抽象方法，那么该类必须是抽象类。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任何子类必须重写父类的抽象方法，或者声明自身为抽象类。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继承抽象方法的子类</a:t>
            </a:r>
            <a:r>
              <a:rPr lang="zh-CN" altLang="en-US" sz="1600">
                <a:solidFill>
                  <a:srgbClr val="C00000"/>
                </a:solidFill>
              </a:rPr>
              <a:t>必须</a:t>
            </a:r>
            <a:r>
              <a:rPr lang="zh-CN" altLang="en-US" sz="1600"/>
              <a:t>重写该方法。否则，该子类也必须声明为抽象类。最终，必须有子类实现该抽象方法，否则，从最初的父类到最终的子类都不能用来实例化对象。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（详细内容可见</a:t>
            </a:r>
            <a:r>
              <a:rPr lang="zh-CN" altLang="en-US" sz="1600">
                <a:hlinkClick r:id="rId1" action="ppaction://hlinkfile"/>
              </a:rPr>
              <a:t>教程</a:t>
            </a:r>
            <a:r>
              <a:rPr lang="zh-CN" altLang="en-US" sz="1600"/>
              <a:t>）</a:t>
            </a:r>
            <a:endParaRPr lang="zh-CN" altLang="en-US" sz="16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封装（</a:t>
            </a:r>
            <a:r>
              <a:rPr lang="en-US" altLang="zh-CN" sz="2000"/>
              <a:t>Encapsulation</a:t>
            </a:r>
            <a:r>
              <a:rPr lang="zh-CN" altLang="en-US" sz="2000"/>
              <a:t>）：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封装指一种将抽象性函式接口的实现细节部分包装、隐藏起来的方法。它可以被认为是一个保护屏障，</a:t>
            </a:r>
            <a:r>
              <a:rPr lang="zh-CN" altLang="en-US" sz="1600">
                <a:solidFill>
                  <a:srgbClr val="C00000"/>
                </a:solidFill>
              </a:rPr>
              <a:t>防止该类的代码和数据被外部类定义的代码随机访问</a:t>
            </a:r>
            <a:r>
              <a:rPr lang="zh-CN" altLang="en-US" sz="1600"/>
              <a:t>。要访问该类的代码和数据，</a:t>
            </a:r>
            <a:r>
              <a:rPr lang="zh-CN" altLang="en-US" sz="1600">
                <a:solidFill>
                  <a:srgbClr val="C00000"/>
                </a:solidFill>
              </a:rPr>
              <a:t>必须通过严格的接口控制</a:t>
            </a:r>
            <a:r>
              <a:rPr lang="zh-CN" altLang="en-US" sz="1600"/>
              <a:t>。封装</a:t>
            </a:r>
            <a:r>
              <a:rPr lang="zh-CN" altLang="en-US" sz="1600">
                <a:solidFill>
                  <a:srgbClr val="C00000"/>
                </a:solidFill>
              </a:rPr>
              <a:t>最主要的功能在于我们能修改自己的实现代码，而不用修改那些调用我们代码的程序片段</a:t>
            </a:r>
            <a:r>
              <a:rPr lang="zh-CN" altLang="en-US" sz="1600"/>
              <a:t>。适当的封装可以</a:t>
            </a:r>
            <a:r>
              <a:rPr lang="zh-CN" altLang="en-US" sz="1600">
                <a:solidFill>
                  <a:srgbClr val="C00000"/>
                </a:solidFill>
              </a:rPr>
              <a:t>让程式码更容易理解与维护</a:t>
            </a:r>
            <a:r>
              <a:rPr lang="zh-CN" altLang="en-US" sz="1600"/>
              <a:t>，也</a:t>
            </a:r>
            <a:r>
              <a:rPr lang="zh-CN" altLang="en-US" sz="1600">
                <a:solidFill>
                  <a:srgbClr val="C00000"/>
                </a:solidFill>
              </a:rPr>
              <a:t>加强了程式码的安全性</a:t>
            </a:r>
            <a:r>
              <a:rPr lang="zh-CN" altLang="en-US" sz="1600"/>
              <a:t>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优点：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 </a:t>
            </a:r>
            <a:r>
              <a:rPr lang="zh-CN" altLang="en-US" sz="1600"/>
              <a:t>良好的封装能够减少耦合。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类内部的结构可以自由修改。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可以对成员变量进行更精确的控制。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隐藏信息，实现细节。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实现</a:t>
            </a:r>
            <a:r>
              <a:rPr lang="en-US" altLang="zh-CN" sz="1600"/>
              <a:t>Java</a:t>
            </a:r>
            <a:r>
              <a:rPr lang="zh-CN" altLang="en-US" sz="1600"/>
              <a:t>封装的</a:t>
            </a:r>
            <a:r>
              <a:rPr lang="zh-CN" altLang="en-US" sz="1600"/>
              <a:t>步骤：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修改属性的可见性来限制对属性的访问（一般限制为</a:t>
            </a:r>
            <a:r>
              <a:rPr lang="en-US" altLang="zh-CN" sz="1600"/>
              <a:t>private</a:t>
            </a:r>
            <a:r>
              <a:rPr lang="zh-CN" altLang="en-US" sz="1600"/>
              <a:t>）。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对每个值属性提供对外的公共方法访问，也就是创建一对赋取值方法，用于对私有属性的访问。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代码实例：</a:t>
            </a:r>
            <a:r>
              <a:rPr lang="en-US" altLang="zh-CN" sz="1600"/>
              <a:t>EncapTest.java </a:t>
            </a:r>
            <a:r>
              <a:rPr lang="zh-CN" altLang="en-US" sz="1600"/>
              <a:t>和</a:t>
            </a:r>
            <a:r>
              <a:rPr lang="en-US" altLang="zh-CN" sz="1600"/>
              <a:t> RunE</a:t>
            </a:r>
            <a:r>
              <a:rPr lang="en-US" altLang="zh-CN" sz="1600"/>
              <a:t>ncap.java</a:t>
            </a:r>
            <a:endParaRPr lang="en-US" altLang="zh-CN" sz="16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枚举（</a:t>
            </a:r>
            <a:r>
              <a:rPr lang="en-US" altLang="zh-CN" sz="2000"/>
              <a:t>enum</a:t>
            </a:r>
            <a:r>
              <a:rPr lang="zh-CN" altLang="en-US" sz="2000"/>
              <a:t>）：</a:t>
            </a:r>
            <a:r>
              <a:rPr lang="en-US" altLang="zh-CN" sz="2000"/>
              <a:t>EnumTest.java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1600"/>
              <a:t>Java </a:t>
            </a:r>
            <a:r>
              <a:rPr lang="zh-CN" altLang="en-US" sz="1600"/>
              <a:t>枚举是一个特殊的类，</a:t>
            </a:r>
            <a:r>
              <a:rPr lang="zh-CN" altLang="en-US" sz="1600">
                <a:solidFill>
                  <a:srgbClr val="FF0000"/>
                </a:solidFill>
              </a:rPr>
              <a:t>一般表示一组常量</a:t>
            </a:r>
            <a:r>
              <a:rPr lang="zh-CN" altLang="en-US" sz="1600"/>
              <a:t>，比如一年的</a:t>
            </a:r>
            <a:r>
              <a:rPr lang="en-US" altLang="zh-CN" sz="1600"/>
              <a:t> 4 </a:t>
            </a:r>
            <a:r>
              <a:rPr lang="zh-CN" altLang="en-US" sz="1600"/>
              <a:t>个季节，一年的</a:t>
            </a:r>
            <a:r>
              <a:rPr lang="en-US" altLang="zh-CN" sz="1600"/>
              <a:t> 12 </a:t>
            </a:r>
            <a:r>
              <a:rPr lang="zh-CN" altLang="en-US" sz="1600"/>
              <a:t>个月份，一个星期的</a:t>
            </a:r>
            <a:r>
              <a:rPr lang="en-US" altLang="zh-CN" sz="1600"/>
              <a:t> 7 </a:t>
            </a:r>
            <a:r>
              <a:rPr lang="zh-CN" altLang="en-US" sz="1600"/>
              <a:t>天，方向有东南西北等。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zh-CN" sz="1600"/>
              <a:t>Java </a:t>
            </a:r>
            <a:r>
              <a:rPr lang="zh-CN" altLang="en-US" sz="1600"/>
              <a:t>枚举</a:t>
            </a:r>
            <a:r>
              <a:rPr lang="zh-CN" altLang="en-US" sz="1600">
                <a:solidFill>
                  <a:srgbClr val="FF0000"/>
                </a:solidFill>
              </a:rPr>
              <a:t>类使用</a:t>
            </a:r>
            <a:r>
              <a:rPr lang="en-US" altLang="zh-CN" sz="1600">
                <a:solidFill>
                  <a:srgbClr val="FF0000"/>
                </a:solidFill>
              </a:rPr>
              <a:t> enum </a:t>
            </a:r>
            <a:r>
              <a:rPr lang="zh-CN" altLang="en-US" sz="1600">
                <a:solidFill>
                  <a:srgbClr val="FF0000"/>
                </a:solidFill>
              </a:rPr>
              <a:t>关键字来定义</a:t>
            </a:r>
            <a:r>
              <a:rPr lang="zh-CN" altLang="en-US" sz="1600"/>
              <a:t>，各个常量</a:t>
            </a:r>
            <a:r>
              <a:rPr lang="zh-CN" altLang="en-US" sz="1600">
                <a:solidFill>
                  <a:srgbClr val="FF0000"/>
                </a:solidFill>
              </a:rPr>
              <a:t>使用</a:t>
            </a:r>
            <a:r>
              <a:rPr lang="en-US" altLang="zh-CN" sz="1600">
                <a:solidFill>
                  <a:srgbClr val="FF0000"/>
                </a:solidFill>
              </a:rPr>
              <a:t> </a:t>
            </a:r>
            <a:r>
              <a:rPr lang="zh-CN" altLang="en-US" sz="1600">
                <a:solidFill>
                  <a:srgbClr val="FF0000"/>
                </a:solidFill>
              </a:rPr>
              <a:t>逗号</a:t>
            </a:r>
            <a:r>
              <a:rPr lang="en-US" altLang="zh-CN" sz="1600">
                <a:solidFill>
                  <a:srgbClr val="FF0000"/>
                </a:solidFill>
              </a:rPr>
              <a:t> ,  </a:t>
            </a:r>
            <a:r>
              <a:rPr lang="zh-CN" altLang="en-US" sz="1600">
                <a:solidFill>
                  <a:srgbClr val="FF0000"/>
                </a:solidFill>
              </a:rPr>
              <a:t>分割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Java</a:t>
            </a:r>
            <a:r>
              <a:rPr lang="zh-CN" altLang="en-US" sz="1600"/>
              <a:t>枚举类也可以声明在内部类中。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可以使用</a:t>
            </a:r>
            <a:r>
              <a:rPr lang="en-US" altLang="zh-CN" sz="1600"/>
              <a:t> for </a:t>
            </a:r>
            <a:r>
              <a:rPr lang="zh-CN" altLang="en-US" sz="1600"/>
              <a:t>语句来迭代枚举元素。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枚举类常应用于</a:t>
            </a:r>
            <a:r>
              <a:rPr lang="en-US" altLang="zh-CN" sz="1600"/>
              <a:t> switch </a:t>
            </a:r>
            <a:r>
              <a:rPr lang="zh-CN" altLang="en-US" sz="1600"/>
              <a:t>语句</a:t>
            </a:r>
            <a:r>
              <a:rPr lang="zh-CN" altLang="en-US" sz="1600"/>
              <a:t>中。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values() </a:t>
            </a:r>
            <a:r>
              <a:rPr lang="zh-CN" altLang="en-US" sz="1600"/>
              <a:t>返回枚举类中所有的值。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ordinal()</a:t>
            </a:r>
            <a:r>
              <a:rPr lang="zh-CN" altLang="en-US" sz="1600"/>
              <a:t>方法可以找到每个枚举常量的索引，就像数组索引一样。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valueOf()</a:t>
            </a:r>
            <a:r>
              <a:rPr lang="zh-CN" altLang="en-US" sz="1600"/>
              <a:t>方法返回指定字符串值的枚举常量。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枚举跟普通类一样可以用自己的变量、方法和构造函数，构造函数只能使用</a:t>
            </a:r>
            <a:r>
              <a:rPr lang="en-US" altLang="zh-CN" sz="1600"/>
              <a:t> private </a:t>
            </a:r>
            <a:r>
              <a:rPr lang="zh-CN" altLang="en-US" sz="1600"/>
              <a:t>访问修饰符，所以外部无法调用。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枚举既可以包含具体方法，也可以包含抽象方法。</a:t>
            </a:r>
            <a:r>
              <a:rPr lang="en-US" altLang="zh-CN" sz="1600"/>
              <a:t> </a:t>
            </a:r>
            <a:r>
              <a:rPr lang="zh-CN" altLang="en-US" sz="1600"/>
              <a:t>如果枚举类具有抽象方法，则枚举类的每个实例都必须实现它。</a:t>
            </a:r>
            <a:endParaRPr lang="zh-CN" altLang="en-US" sz="16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>
                <a:ea typeface="宋体" panose="02010600030101010101" pitchFamily="2" charset="-122"/>
                <a:cs typeface="+mn-lt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包（</a:t>
            </a:r>
            <a:r>
              <a:rPr lang="en-US" altLang="zh-CN" sz="2000">
                <a:ea typeface="宋体" panose="02010600030101010101" pitchFamily="2" charset="-122"/>
                <a:cs typeface="+mn-lt"/>
              </a:rPr>
              <a:t>package</a:t>
            </a:r>
            <a:r>
              <a:rPr lang="zh-CN" altLang="en-US" sz="2000">
                <a:ea typeface="宋体" panose="02010600030101010101" pitchFamily="2" charset="-122"/>
                <a:cs typeface="+mn-lt"/>
              </a:rPr>
              <a:t>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把功能相似或相关的类或接口组织在同一个包中，方便类的查找和使用。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如同文件夹一样，包也采用了树形目录的存储方式。同一个包中的类名字是不同的，不同的包中的类的名字是可以相同的，当同时调用两个不同包中相同类名的类时，应该加上包名加以区别。因此，包可以避免名字冲突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包也限定了访问权限，拥有包访问权限的类才能访问某个包中的类。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import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关键词：用于引入其他包中的类、接口或静态成员，它允许你在代码中直接使用其他包中的类，而不需要完整地指定类的包名。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import 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语句必须位于</a:t>
            </a:r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Java 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源文件的头部。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import 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语句位于</a:t>
            </a:r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package 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语句之后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可以使用</a:t>
            </a:r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import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语句来引入一个特定的类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可以使用通配符</a:t>
            </a:r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* 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来引入整个包或包的子包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>
                <a:sym typeface="+mn-ea"/>
              </a:rPr>
              <a:t>Java</a:t>
            </a:r>
            <a:r>
              <a:rPr lang="zh-CN" altLang="en-US" sz="2000">
                <a:sym typeface="+mn-ea"/>
              </a:rPr>
              <a:t>反射（</a:t>
            </a:r>
            <a:r>
              <a:rPr lang="en-US" altLang="zh-CN" sz="2000">
                <a:sym typeface="+mn-ea"/>
              </a:rPr>
              <a:t>reflection</a:t>
            </a:r>
            <a:r>
              <a:rPr lang="zh-CN" altLang="en-US" sz="2000">
                <a:sym typeface="+mn-ea"/>
              </a:rPr>
              <a:t>）：点此</a:t>
            </a:r>
            <a:r>
              <a:rPr lang="zh-CN" altLang="en-US" sz="2000">
                <a:sym typeface="+mn-ea"/>
                <a:hlinkClick r:id="rId1" action="ppaction://hlinkfile"/>
              </a:rPr>
              <a:t>具体</a:t>
            </a:r>
            <a:r>
              <a:rPr lang="zh-CN" altLang="en-US" sz="2000">
                <a:sym typeface="+mn-ea"/>
              </a:rPr>
              <a:t>见网页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360" y="2857183"/>
            <a:ext cx="8229600" cy="1143000"/>
          </a:xfrm>
        </p:spPr>
        <p:txBody>
          <a:bodyPr/>
          <a:p>
            <a:pPr algn="ctr"/>
            <a:r>
              <a:rPr lang="en-US" altLang="zh-CN"/>
              <a:t>Java</a:t>
            </a:r>
            <a:r>
              <a:rPr lang="zh-CN" altLang="en-US"/>
              <a:t>高级</a:t>
            </a:r>
            <a:r>
              <a:rPr lang="zh-CN" altLang="en-US"/>
              <a:t>教程</a:t>
            </a:r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1755"/>
            <a:ext cx="8229600" cy="665861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数据类型：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Java </a:t>
            </a:r>
            <a:r>
              <a:rPr lang="zh-CN" altLang="en-US" sz="1600"/>
              <a:t>的</a:t>
            </a:r>
            <a:r>
              <a:rPr lang="en-US" altLang="zh-CN" sz="1600"/>
              <a:t> java.util </a:t>
            </a:r>
            <a:r>
              <a:rPr lang="zh-CN" altLang="en-US" sz="1600"/>
              <a:t>包中提供了许多这些数据结构的实现，可以根据需要选择合适的类。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常见数据类型可见：</a:t>
            </a:r>
            <a:r>
              <a:rPr lang="en-US" altLang="zh-CN" sz="1600">
                <a:hlinkClick r:id="rId1" action="ppaction://hlinkfile"/>
              </a:rPr>
              <a:t>url</a:t>
            </a:r>
            <a:endParaRPr lang="en-US" altLang="zh-CN" sz="1600">
              <a:hlinkClick r:id="rId1" action="ppaction://hlinkfile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集合框架：代表和操纵集合的统一架构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集合框架被设计成要满足以下几个目标：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该框架必须是高性能的。基本集合（动态数组，链表，树，哈希表）的实现也必须是高效的。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该框架允许不同类型的集合，以类似的方式工作，具有高度的互操作性。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对一个集合的扩展和适应必须是简单的。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所有的集合框架都包含如下内容：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接口：是代表集合的抽象数据类型。例如</a:t>
            </a:r>
            <a:r>
              <a:rPr lang="en-US" altLang="zh-CN" sz="1600"/>
              <a:t> Collection</a:t>
            </a:r>
            <a:r>
              <a:rPr lang="zh-CN" altLang="en-US" sz="1600"/>
              <a:t>、</a:t>
            </a:r>
            <a:r>
              <a:rPr lang="en-US" altLang="zh-CN" sz="1600"/>
              <a:t>List</a:t>
            </a:r>
            <a:r>
              <a:rPr lang="zh-CN" altLang="en-US" sz="1600"/>
              <a:t>、</a:t>
            </a:r>
            <a:r>
              <a:rPr lang="en-US" altLang="zh-CN" sz="1600"/>
              <a:t>Set</a:t>
            </a:r>
            <a:r>
              <a:rPr lang="zh-CN" altLang="en-US" sz="1600"/>
              <a:t>、</a:t>
            </a:r>
            <a:r>
              <a:rPr lang="en-US" altLang="zh-CN" sz="1600"/>
              <a:t>Map </a:t>
            </a:r>
            <a:r>
              <a:rPr lang="zh-CN" altLang="en-US" sz="1600"/>
              <a:t>等。之所以定义多个接口，是为了以不同的方式操作集合对象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实现（类）：是集合接口的具体实现。从本质上讲，它们是可重复使用的数据结构，例如：</a:t>
            </a:r>
            <a:r>
              <a:rPr lang="en-US" altLang="zh-CN" sz="1600"/>
              <a:t>ArrayList</a:t>
            </a:r>
            <a:r>
              <a:rPr lang="zh-CN" altLang="en-US" sz="1600"/>
              <a:t>、</a:t>
            </a:r>
            <a:r>
              <a:rPr lang="en-US" altLang="zh-CN" sz="1600"/>
              <a:t>LinkedList</a:t>
            </a:r>
            <a:r>
              <a:rPr lang="zh-CN" altLang="en-US" sz="1600"/>
              <a:t>、</a:t>
            </a:r>
            <a:r>
              <a:rPr lang="en-US" altLang="zh-CN" sz="1600"/>
              <a:t>HashSet</a:t>
            </a:r>
            <a:r>
              <a:rPr lang="zh-CN" altLang="en-US" sz="1600"/>
              <a:t>、</a:t>
            </a:r>
            <a:r>
              <a:rPr lang="en-US" altLang="zh-CN" sz="1600"/>
              <a:t>HashMap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算法：是实现集合接口的对象里的方法执行的一些有用的计算，例如：搜索和排序，这些算法实现了多态，那是因为相同的方法可以在相似的接口上有着不同的实现。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屏幕截图 2026-02-27 17044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15695" y="116840"/>
            <a:ext cx="7059295" cy="664019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6-02-27 1708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41910"/>
            <a:ext cx="7207885" cy="598551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087745"/>
            <a:ext cx="8229600" cy="56451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集合接口、集合实现类（集合类）、集合算法等</a:t>
            </a:r>
            <a:r>
              <a:rPr lang="zh-CN" altLang="en-US" sz="1600">
                <a:hlinkClick r:id="rId2" action="ppaction://hlinkfile"/>
              </a:rPr>
              <a:t>点此</a:t>
            </a:r>
            <a:r>
              <a:rPr lang="zh-CN" altLang="en-US" sz="1600"/>
              <a:t>见</a:t>
            </a:r>
            <a:r>
              <a:rPr lang="en-US" altLang="zh-CN" sz="1600"/>
              <a:t>...</a:t>
            </a:r>
            <a:endParaRPr lang="en-US" altLang="zh-CN" sz="16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ArrayList</a:t>
            </a:r>
            <a:r>
              <a:rPr lang="zh-CN" altLang="en-US" sz="2000"/>
              <a:t>：</a:t>
            </a:r>
            <a:r>
              <a:rPr lang="en-US" altLang="zh-CN" sz="2000"/>
              <a:t>ArrList.java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1600"/>
              <a:t>ArrayList </a:t>
            </a:r>
            <a:r>
              <a:rPr lang="zh-CN" altLang="en-US" sz="1600"/>
              <a:t>类是一个可以动态修改的数组，与普通数组的区别就是它是</a:t>
            </a:r>
            <a:r>
              <a:rPr lang="zh-CN" altLang="en-US" sz="1600">
                <a:solidFill>
                  <a:srgbClr val="FF0000"/>
                </a:solidFill>
              </a:rPr>
              <a:t>没有固定大小</a:t>
            </a:r>
            <a:r>
              <a:rPr lang="zh-CN" altLang="en-US" sz="1600"/>
              <a:t>的限制，我们可以添加或删除元素。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ArrayList </a:t>
            </a:r>
            <a:r>
              <a:rPr lang="zh-CN" altLang="en-US" sz="1600"/>
              <a:t>继承了</a:t>
            </a:r>
            <a:r>
              <a:rPr lang="en-US" altLang="zh-CN" sz="1600"/>
              <a:t> AbstractList </a:t>
            </a:r>
            <a:r>
              <a:rPr lang="zh-CN" altLang="en-US" sz="1600"/>
              <a:t>，并实现了</a:t>
            </a:r>
            <a:r>
              <a:rPr lang="en-US" altLang="zh-CN" sz="1600"/>
              <a:t> List </a:t>
            </a:r>
            <a:r>
              <a:rPr lang="zh-CN" altLang="en-US" sz="1600"/>
              <a:t>接口。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ArrayList </a:t>
            </a:r>
            <a:r>
              <a:rPr lang="zh-CN" altLang="en-US" sz="1600"/>
              <a:t>是一个</a:t>
            </a:r>
            <a:r>
              <a:rPr lang="zh-CN" altLang="en-US" sz="1600">
                <a:solidFill>
                  <a:srgbClr val="FF0000"/>
                </a:solidFill>
              </a:rPr>
              <a:t>数组队列</a:t>
            </a:r>
            <a:r>
              <a:rPr lang="zh-CN" altLang="en-US" sz="1600"/>
              <a:t>，提供了相关的</a:t>
            </a:r>
            <a:r>
              <a:rPr lang="zh-CN" altLang="en-US" sz="1600">
                <a:solidFill>
                  <a:srgbClr val="FF0000"/>
                </a:solidFill>
              </a:rPr>
              <a:t>添加</a:t>
            </a:r>
            <a:r>
              <a:rPr lang="zh-CN" altLang="en-US" sz="1600"/>
              <a:t>、</a:t>
            </a:r>
            <a:r>
              <a:rPr lang="zh-CN" altLang="en-US" sz="1600">
                <a:solidFill>
                  <a:srgbClr val="FF0000"/>
                </a:solidFill>
              </a:rPr>
              <a:t>删除</a:t>
            </a:r>
            <a:r>
              <a:rPr lang="zh-CN" altLang="en-US" sz="1600"/>
              <a:t>、</a:t>
            </a:r>
            <a:r>
              <a:rPr lang="zh-CN" altLang="en-US" sz="1600">
                <a:solidFill>
                  <a:srgbClr val="FF0000"/>
                </a:solidFill>
              </a:rPr>
              <a:t>修改</a:t>
            </a:r>
            <a:r>
              <a:rPr lang="zh-CN" altLang="en-US" sz="1600"/>
              <a:t>、</a:t>
            </a:r>
            <a:r>
              <a:rPr lang="zh-CN" altLang="en-US" sz="1600">
                <a:solidFill>
                  <a:srgbClr val="FF0000"/>
                </a:solidFill>
              </a:rPr>
              <a:t>遍历</a:t>
            </a:r>
            <a:r>
              <a:rPr lang="zh-CN" altLang="en-US" sz="1600"/>
              <a:t>等功能。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ArrayList </a:t>
            </a:r>
            <a:r>
              <a:rPr lang="zh-CN" altLang="en-US" sz="1600"/>
              <a:t>类位于</a:t>
            </a:r>
            <a:r>
              <a:rPr lang="en-US" altLang="zh-CN" sz="1600"/>
              <a:t> java.util </a:t>
            </a:r>
            <a:r>
              <a:rPr lang="zh-CN" altLang="en-US" sz="1600"/>
              <a:t>包中，使用前需要引入它。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  <p:pic>
        <p:nvPicPr>
          <p:cNvPr id="2" name="图片 1" descr="屏幕截图 2026-02-28 1632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2722245"/>
            <a:ext cx="7493635" cy="393001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LinkedList</a:t>
            </a:r>
            <a:r>
              <a:rPr lang="zh-CN" altLang="en-US" sz="2000"/>
              <a:t>：</a:t>
            </a:r>
            <a:r>
              <a:rPr lang="en-US" altLang="zh-CN" sz="2000"/>
              <a:t>LinList.java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链表（</a:t>
            </a:r>
            <a:r>
              <a:rPr lang="en-US" altLang="zh-CN" sz="1600"/>
              <a:t>Linked list</a:t>
            </a:r>
            <a:r>
              <a:rPr lang="zh-CN" altLang="en-US" sz="1600"/>
              <a:t>）是一种常见的基础数据结构，是一种线性表，但是并不会按线性的顺序存储数据，而是在每一个节点里存到下一个节点的地址。</a:t>
            </a:r>
            <a:r>
              <a:rPr lang="en-US" altLang="zh-CN" sz="1600"/>
              <a:t> </a:t>
            </a:r>
            <a:r>
              <a:rPr lang="zh-CN" altLang="en-US" sz="1600"/>
              <a:t>其类似于</a:t>
            </a:r>
            <a:r>
              <a:rPr lang="en-US" altLang="zh-CN" sz="1600"/>
              <a:t> ArrayList</a:t>
            </a:r>
            <a:r>
              <a:rPr lang="zh-CN" altLang="en-US" sz="1600"/>
              <a:t>，是一种常用的数据容器。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链表可分为单向链表和双向链表：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一个单向链表包含两个值</a:t>
            </a:r>
            <a:r>
              <a:rPr lang="en-US" altLang="zh-CN" sz="1600"/>
              <a:t>: </a:t>
            </a:r>
            <a:r>
              <a:rPr lang="zh-CN" altLang="en-US" sz="1600"/>
              <a:t>当前节点的值和一个指向下一个节点的链接。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一个双向链表有三个整数值</a:t>
            </a:r>
            <a:r>
              <a:rPr lang="en-US" altLang="zh-CN" sz="1600"/>
              <a:t>: </a:t>
            </a:r>
            <a:r>
              <a:rPr lang="zh-CN" altLang="en-US" sz="1600"/>
              <a:t>数值、向后的节点链接、向前的节点链接。</a:t>
            </a:r>
            <a:endParaRPr lang="zh-CN" altLang="en-US" sz="1600"/>
          </a:p>
          <a:p>
            <a:pPr>
              <a:lnSpc>
                <a:spcPct val="150000"/>
              </a:lnSpc>
            </a:pPr>
            <a:endParaRPr lang="zh-CN" altLang="en-US" sz="1600"/>
          </a:p>
        </p:txBody>
      </p:sp>
      <p:pic>
        <p:nvPicPr>
          <p:cNvPr id="2" name="图片 1" descr="屏幕截图 2026-03-01 1539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3068320"/>
            <a:ext cx="5200650" cy="378968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6-03-01 1636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3210" y="2659380"/>
            <a:ext cx="3675380" cy="419862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以下情况使用</a:t>
            </a:r>
            <a:r>
              <a:rPr lang="en-US" altLang="zh-CN" sz="1600"/>
              <a:t> ArrayList :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频繁访问列表中的某一个元素。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只需要在列表末尾进行添加和删除元素操作。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以下情况使用</a:t>
            </a:r>
            <a:r>
              <a:rPr lang="en-US" altLang="zh-CN" sz="1600"/>
              <a:t> LinkedList :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需要通过循环迭代来访问列表中的某些元素。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需要频繁的在列表开头、中间、末尾等位置进行添加和删除元素操作。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HashSet</a:t>
            </a:r>
            <a:r>
              <a:rPr lang="zh-CN" altLang="en-US" sz="2000"/>
              <a:t>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HashSet </a:t>
            </a:r>
            <a:r>
              <a:rPr lang="zh-CN" altLang="en-US" sz="1600">
                <a:sym typeface="+mn-ea"/>
              </a:rPr>
              <a:t>实现了</a:t>
            </a:r>
            <a:r>
              <a:rPr lang="en-US" altLang="zh-CN" sz="1600">
                <a:sym typeface="+mn-ea"/>
              </a:rPr>
              <a:t> Set </a:t>
            </a:r>
            <a:r>
              <a:rPr lang="zh-CN" altLang="en-US" sz="1600">
                <a:sym typeface="+mn-ea"/>
              </a:rPr>
              <a:t>接口。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HashSet </a:t>
            </a:r>
            <a:r>
              <a:rPr lang="zh-CN" altLang="en-US" sz="1600"/>
              <a:t>允许有</a:t>
            </a:r>
            <a:r>
              <a:rPr lang="en-US" altLang="zh-CN" sz="1600"/>
              <a:t> null </a:t>
            </a:r>
            <a:r>
              <a:rPr lang="zh-CN" altLang="en-US" sz="1600"/>
              <a:t>值。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HashSet </a:t>
            </a:r>
            <a:r>
              <a:rPr lang="zh-CN" altLang="en-US" sz="1600"/>
              <a:t>是无序的，即不会记录插入的顺序。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HashSet </a:t>
            </a:r>
            <a:r>
              <a:rPr lang="zh-CN" altLang="en-US" sz="1600">
                <a:sym typeface="+mn-ea"/>
              </a:rPr>
              <a:t>基于</a:t>
            </a:r>
            <a:r>
              <a:rPr lang="en-US" altLang="zh-CN" sz="1600">
                <a:sym typeface="+mn-ea"/>
              </a:rPr>
              <a:t> HashMap </a:t>
            </a:r>
            <a:r>
              <a:rPr lang="zh-CN" altLang="en-US" sz="1600">
                <a:sym typeface="+mn-ea"/>
              </a:rPr>
              <a:t>来实现的，是一个不允许有重复元素的集合。</a:t>
            </a:r>
            <a:endParaRPr lang="zh-CN" altLang="en-US" sz="16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HashSet </a:t>
            </a:r>
            <a:r>
              <a:rPr lang="zh-CN" altLang="en-US" sz="1600">
                <a:sym typeface="+mn-ea"/>
              </a:rPr>
              <a:t>不是线程安全的，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如果多个线程尝试同时修改</a:t>
            </a:r>
            <a:r>
              <a:rPr lang="en-US" altLang="zh-CN" sz="1600">
                <a:sym typeface="+mn-ea"/>
              </a:rPr>
              <a:t> HashSet</a:t>
            </a:r>
            <a:r>
              <a:rPr lang="zh-CN" altLang="en-US" sz="1600">
                <a:sym typeface="+mn-ea"/>
              </a:rPr>
              <a:t>，则最终结果是不确定的。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您必须在多线程访问时显式同步对</a:t>
            </a:r>
            <a:r>
              <a:rPr lang="en-US" altLang="zh-CN" sz="1600">
                <a:sym typeface="+mn-ea"/>
              </a:rPr>
              <a:t> HashSet </a:t>
            </a:r>
            <a:r>
              <a:rPr lang="zh-CN" altLang="en-US" sz="1600">
                <a:sym typeface="+mn-ea"/>
              </a:rPr>
              <a:t>的并发访问。</a:t>
            </a:r>
            <a:endParaRPr lang="zh-CN" altLang="en-US" sz="1600"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HashSetTest.java</a:t>
            </a:r>
            <a:endParaRPr lang="zh-CN" altLang="en-US" sz="1600"/>
          </a:p>
          <a:p>
            <a:pPr>
              <a:lnSpc>
                <a:spcPct val="150000"/>
              </a:lnSpc>
            </a:pP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HashMap</a:t>
            </a:r>
            <a:r>
              <a:rPr lang="zh-CN" altLang="en-US" sz="2000"/>
              <a:t>：</a:t>
            </a:r>
            <a:r>
              <a:rPr lang="en-US" altLang="zh-CN" sz="2000"/>
              <a:t>HashMapTest.java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1600"/>
              <a:t>HashMap </a:t>
            </a:r>
            <a:r>
              <a:rPr lang="zh-CN" altLang="en-US" sz="1600"/>
              <a:t>是一个散列表，它存储的内容是键值对</a:t>
            </a:r>
            <a:r>
              <a:rPr lang="en-US" altLang="zh-CN" sz="1600"/>
              <a:t>(key-value)</a:t>
            </a:r>
            <a:r>
              <a:rPr lang="zh-CN" altLang="en-US" sz="1600"/>
              <a:t>映射。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HashMap </a:t>
            </a:r>
            <a:r>
              <a:rPr lang="zh-CN" altLang="en-US" sz="1600"/>
              <a:t>实现了</a:t>
            </a:r>
            <a:r>
              <a:rPr lang="en-US" altLang="zh-CN" sz="1600"/>
              <a:t> Map </a:t>
            </a:r>
            <a:r>
              <a:rPr lang="zh-CN" altLang="en-US" sz="1600"/>
              <a:t>接口，根据键的</a:t>
            </a:r>
            <a:r>
              <a:rPr lang="en-US" altLang="zh-CN" sz="1600"/>
              <a:t> HashCode </a:t>
            </a:r>
            <a:r>
              <a:rPr lang="zh-CN" altLang="en-US" sz="1600"/>
              <a:t>值存储数据，具有很快的访问速度，最多允许一条记录的键为</a:t>
            </a:r>
            <a:r>
              <a:rPr lang="en-US" altLang="zh-CN" sz="1600"/>
              <a:t> null</a:t>
            </a:r>
            <a:r>
              <a:rPr lang="zh-CN" altLang="en-US" sz="1600"/>
              <a:t>，不支持线程同步。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HashMap </a:t>
            </a:r>
            <a:r>
              <a:rPr lang="zh-CN" altLang="en-US" sz="1600"/>
              <a:t>是无序的，即不会记录插入的顺序。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HashMap </a:t>
            </a:r>
            <a:r>
              <a:rPr lang="zh-CN" altLang="en-US" sz="1600"/>
              <a:t>继承于</a:t>
            </a:r>
            <a:r>
              <a:rPr lang="en-US" altLang="zh-CN" sz="1600"/>
              <a:t>AbstractMap</a:t>
            </a:r>
            <a:r>
              <a:rPr lang="zh-CN" altLang="en-US" sz="1600"/>
              <a:t>，实现了</a:t>
            </a:r>
            <a:r>
              <a:rPr lang="en-US" altLang="zh-CN" sz="1600"/>
              <a:t> Map</a:t>
            </a:r>
            <a:r>
              <a:rPr lang="zh-CN" altLang="en-US" sz="1600"/>
              <a:t>、</a:t>
            </a:r>
            <a:r>
              <a:rPr lang="en-US" altLang="zh-CN" sz="1600"/>
              <a:t>Cloneable</a:t>
            </a:r>
            <a:r>
              <a:rPr lang="zh-CN" altLang="en-US" sz="1600"/>
              <a:t>、</a:t>
            </a:r>
            <a:r>
              <a:rPr lang="en-US" altLang="zh-CN" sz="1600"/>
              <a:t>java.io.Serializable </a:t>
            </a:r>
            <a:r>
              <a:rPr lang="zh-CN" altLang="en-US" sz="1600"/>
              <a:t>接口。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HashMap </a:t>
            </a:r>
            <a:r>
              <a:rPr lang="zh-CN" altLang="en-US" sz="1600"/>
              <a:t>的</a:t>
            </a:r>
            <a:r>
              <a:rPr lang="en-US" altLang="zh-CN" sz="1600"/>
              <a:t> key </a:t>
            </a:r>
            <a:r>
              <a:rPr lang="zh-CN" altLang="en-US" sz="1600"/>
              <a:t>与</a:t>
            </a:r>
            <a:r>
              <a:rPr lang="en-US" altLang="zh-CN" sz="1600"/>
              <a:t> value </a:t>
            </a:r>
            <a:r>
              <a:rPr lang="zh-CN" altLang="en-US" sz="1600"/>
              <a:t>类型可以相同也可以不同，可以是字符串（</a:t>
            </a:r>
            <a:r>
              <a:rPr lang="en-US" altLang="zh-CN" sz="1600"/>
              <a:t>String</a:t>
            </a:r>
            <a:r>
              <a:rPr lang="zh-CN" altLang="en-US" sz="1600"/>
              <a:t>）类型的</a:t>
            </a:r>
            <a:r>
              <a:rPr lang="en-US" altLang="zh-CN" sz="1600"/>
              <a:t> key </a:t>
            </a:r>
            <a:r>
              <a:rPr lang="zh-CN" altLang="en-US" sz="1600"/>
              <a:t>和</a:t>
            </a:r>
            <a:r>
              <a:rPr lang="en-US" altLang="zh-CN" sz="1600"/>
              <a:t> value</a:t>
            </a:r>
            <a:r>
              <a:rPr lang="zh-CN" altLang="en-US" sz="1600"/>
              <a:t>，也可以是整型（</a:t>
            </a:r>
            <a:r>
              <a:rPr lang="en-US" altLang="zh-CN" sz="1600"/>
              <a:t>Integer</a:t>
            </a:r>
            <a:r>
              <a:rPr lang="zh-CN" altLang="en-US" sz="1600"/>
              <a:t>）的</a:t>
            </a:r>
            <a:r>
              <a:rPr lang="en-US" altLang="zh-CN" sz="1600"/>
              <a:t> key </a:t>
            </a:r>
            <a:r>
              <a:rPr lang="zh-CN" altLang="en-US" sz="1600"/>
              <a:t>和字符串（</a:t>
            </a:r>
            <a:r>
              <a:rPr lang="en-US" altLang="zh-CN" sz="1600"/>
              <a:t>String</a:t>
            </a:r>
            <a:r>
              <a:rPr lang="zh-CN" altLang="en-US" sz="1600"/>
              <a:t>）类型的</a:t>
            </a:r>
            <a:r>
              <a:rPr lang="en-US" altLang="zh-CN" sz="1600"/>
              <a:t> value</a:t>
            </a:r>
            <a:r>
              <a:rPr lang="zh-CN" altLang="en-US" sz="1600"/>
              <a:t>。</a:t>
            </a:r>
            <a:endParaRPr lang="zh-CN" altLang="en-US" sz="1600"/>
          </a:p>
        </p:txBody>
      </p:sp>
      <p:pic>
        <p:nvPicPr>
          <p:cNvPr id="2" name="图片 1" descr="屏幕截图 2026-03-01 1714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500755"/>
            <a:ext cx="5933440" cy="288988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Iterator</a:t>
            </a:r>
            <a:r>
              <a:rPr lang="zh-CN" altLang="en-US" sz="2000"/>
              <a:t>（迭代器）：</a:t>
            </a:r>
            <a:r>
              <a:rPr lang="en-US" altLang="zh-CN" sz="2000">
                <a:sym typeface="+mn-ea"/>
              </a:rPr>
              <a:t>IteratorTest.java</a:t>
            </a:r>
            <a:endParaRPr lang="en-US" altLang="zh-CN" sz="2000"/>
          </a:p>
          <a:p>
            <a:pPr>
              <a:lnSpc>
                <a:spcPct val="150000"/>
              </a:lnSpc>
            </a:pPr>
            <a:r>
              <a:rPr lang="en-US" altLang="zh-CN" sz="1600"/>
              <a:t>Java</a:t>
            </a:r>
            <a:r>
              <a:rPr lang="zh-CN" altLang="en-US" sz="1600"/>
              <a:t>迭代器（</a:t>
            </a:r>
            <a:r>
              <a:rPr lang="en-US" altLang="zh-CN" sz="1600"/>
              <a:t>Iterator</a:t>
            </a:r>
            <a:r>
              <a:rPr lang="zh-CN" altLang="en-US" sz="1600"/>
              <a:t>）是</a:t>
            </a:r>
            <a:r>
              <a:rPr lang="en-US" altLang="zh-CN" sz="1600"/>
              <a:t>Java </a:t>
            </a:r>
            <a:r>
              <a:rPr lang="zh-CN" altLang="en-US" sz="1600"/>
              <a:t>集合框架中的一种</a:t>
            </a:r>
            <a:r>
              <a:rPr lang="zh-CN" altLang="en-US" sz="1600">
                <a:solidFill>
                  <a:srgbClr val="FF0000"/>
                </a:solidFill>
              </a:rPr>
              <a:t>机制</a:t>
            </a:r>
            <a:r>
              <a:rPr lang="zh-CN" altLang="en-US" sz="1600"/>
              <a:t>，是一种用于遍历集合（如列表、集合和映射等）的接口。它提供了一种统一的方式来访问集合中的元素，而不需要了解底层集合的具体实现细节。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Java Iterator</a:t>
            </a:r>
            <a:r>
              <a:rPr lang="zh-CN" altLang="en-US" sz="1600"/>
              <a:t>（迭代器）不是一个集合，它是一种用于访问集合的</a:t>
            </a:r>
            <a:r>
              <a:rPr lang="zh-CN" altLang="en-US" sz="1600">
                <a:solidFill>
                  <a:srgbClr val="FF0000"/>
                </a:solidFill>
              </a:rPr>
              <a:t>方法</a:t>
            </a:r>
            <a:r>
              <a:rPr lang="zh-CN" altLang="en-US" sz="1600"/>
              <a:t>，可用于迭代</a:t>
            </a:r>
            <a:r>
              <a:rPr lang="en-US" altLang="zh-CN" sz="1600"/>
              <a:t> ArrayList </a:t>
            </a:r>
            <a:r>
              <a:rPr lang="zh-CN" altLang="en-US" sz="1600"/>
              <a:t>和</a:t>
            </a:r>
            <a:r>
              <a:rPr lang="en-US" altLang="zh-CN" sz="1600"/>
              <a:t> HashSet </a:t>
            </a:r>
            <a:r>
              <a:rPr lang="zh-CN" altLang="en-US" sz="1600"/>
              <a:t>等集合。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Iterator </a:t>
            </a:r>
            <a:r>
              <a:rPr lang="zh-CN" altLang="en-US" sz="1600"/>
              <a:t>是</a:t>
            </a:r>
            <a:r>
              <a:rPr lang="en-US" altLang="zh-CN" sz="1600"/>
              <a:t> Java </a:t>
            </a:r>
            <a:r>
              <a:rPr lang="zh-CN" altLang="en-US" sz="1600"/>
              <a:t>迭代器</a:t>
            </a:r>
            <a:r>
              <a:rPr lang="zh-CN" altLang="en-US" sz="1600">
                <a:solidFill>
                  <a:srgbClr val="FF0000"/>
                </a:solidFill>
              </a:rPr>
              <a:t>最简单</a:t>
            </a:r>
            <a:r>
              <a:rPr lang="zh-CN" altLang="en-US" sz="1600"/>
              <a:t>的实现，</a:t>
            </a:r>
            <a:r>
              <a:rPr lang="en-US" altLang="zh-CN" sz="1600"/>
              <a:t>ListIterator </a:t>
            </a:r>
            <a:r>
              <a:rPr lang="zh-CN" altLang="en-US" sz="1600"/>
              <a:t>是</a:t>
            </a:r>
            <a:r>
              <a:rPr lang="en-US" altLang="zh-CN" sz="1600"/>
              <a:t> Collection API </a:t>
            </a:r>
            <a:r>
              <a:rPr lang="zh-CN" altLang="en-US" sz="1600"/>
              <a:t>中的接口，</a:t>
            </a:r>
            <a:r>
              <a:rPr lang="en-US" altLang="zh-CN" sz="1600"/>
              <a:t> </a:t>
            </a:r>
            <a:r>
              <a:rPr lang="zh-CN" altLang="en-US" sz="1600"/>
              <a:t>它扩展了</a:t>
            </a:r>
            <a:r>
              <a:rPr lang="en-US" altLang="zh-CN" sz="1600"/>
              <a:t> Iterator </a:t>
            </a:r>
            <a:r>
              <a:rPr lang="zh-CN" altLang="en-US" sz="1600"/>
              <a:t>接口。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迭代器接口定义了几个方法，最常用的是以下三个：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en-US" altLang="zh-CN" sz="1600"/>
              <a:t>next() - </a:t>
            </a:r>
            <a:r>
              <a:rPr lang="zh-CN" altLang="en-US" sz="1600"/>
              <a:t>返回迭代器的下一个元素，并将迭代器的指针移到下一个位置。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en-US" altLang="zh-CN" sz="1600"/>
              <a:t>hasNext() - </a:t>
            </a:r>
            <a:r>
              <a:rPr lang="zh-CN" altLang="en-US" sz="1600"/>
              <a:t>用于判断集合中是否还有下一个元素可以访问。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en-US" altLang="zh-CN" sz="1600"/>
              <a:t>remove() - </a:t>
            </a:r>
            <a:r>
              <a:rPr lang="zh-CN" altLang="en-US" sz="1600"/>
              <a:t>从集合中删除迭代器最后访问的元素（可选操作）。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注意：</a:t>
            </a:r>
            <a:r>
              <a:rPr lang="en-US" altLang="zh-CN" sz="1600"/>
              <a:t>Java </a:t>
            </a:r>
            <a:r>
              <a:rPr lang="zh-CN" altLang="en-US" sz="1600"/>
              <a:t>迭代器是一种</a:t>
            </a:r>
            <a:r>
              <a:rPr lang="zh-CN" altLang="en-US" sz="1600">
                <a:solidFill>
                  <a:srgbClr val="FF0000"/>
                </a:solidFill>
              </a:rPr>
              <a:t>单向遍历机制</a:t>
            </a:r>
            <a:r>
              <a:rPr lang="zh-CN" altLang="en-US" sz="1600"/>
              <a:t>，即</a:t>
            </a:r>
            <a:r>
              <a:rPr lang="zh-CN" altLang="en-US" sz="1600">
                <a:solidFill>
                  <a:srgbClr val="FF0000"/>
                </a:solidFill>
              </a:rPr>
              <a:t>只能从前往后</a:t>
            </a:r>
            <a:r>
              <a:rPr lang="zh-CN" altLang="en-US" sz="1600"/>
              <a:t>遍历集合中的元素，不能往回遍历。同时，在使用迭代器遍历集合时，</a:t>
            </a:r>
            <a:r>
              <a:rPr lang="zh-CN" altLang="en-US" sz="1600">
                <a:solidFill>
                  <a:srgbClr val="FF0000"/>
                </a:solidFill>
              </a:rPr>
              <a:t>不能直接修改集合中的元素</a:t>
            </a:r>
            <a:r>
              <a:rPr lang="zh-CN" altLang="en-US" sz="1600"/>
              <a:t>，而是需要使用迭代器的</a:t>
            </a:r>
            <a:r>
              <a:rPr lang="en-US" altLang="zh-CN" sz="1600"/>
              <a:t> </a:t>
            </a:r>
            <a:r>
              <a:rPr lang="en-US" altLang="zh-CN" sz="1600">
                <a:solidFill>
                  <a:srgbClr val="FF0000"/>
                </a:solidFill>
              </a:rPr>
              <a:t>remove() </a:t>
            </a:r>
            <a:r>
              <a:rPr lang="zh-CN" altLang="en-US" sz="1600">
                <a:solidFill>
                  <a:srgbClr val="FF0000"/>
                </a:solidFill>
              </a:rPr>
              <a:t>方法来删除当前元素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Object</a:t>
            </a:r>
            <a:r>
              <a:rPr lang="zh-CN" altLang="en-US" sz="2000"/>
              <a:t>类：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1600"/>
              <a:t>Java Object </a:t>
            </a:r>
            <a:r>
              <a:rPr lang="zh-CN" altLang="en-US" sz="1600"/>
              <a:t>类是所有类的父类，也就是说</a:t>
            </a:r>
            <a:r>
              <a:rPr lang="en-US" altLang="zh-CN" sz="1600"/>
              <a:t> Java </a:t>
            </a:r>
            <a:r>
              <a:rPr lang="zh-CN" altLang="en-US" sz="1600"/>
              <a:t>的所有类都继承了</a:t>
            </a:r>
            <a:r>
              <a:rPr lang="en-US" altLang="zh-CN" sz="1600"/>
              <a:t> Object</a:t>
            </a:r>
            <a:r>
              <a:rPr lang="zh-CN" altLang="en-US" sz="1600"/>
              <a:t>，子类可以使用</a:t>
            </a:r>
            <a:r>
              <a:rPr lang="en-US" altLang="zh-CN" sz="1600"/>
              <a:t> Object </a:t>
            </a:r>
            <a:r>
              <a:rPr lang="zh-CN" altLang="en-US" sz="1600"/>
              <a:t>的所有方法。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Object </a:t>
            </a:r>
            <a:r>
              <a:rPr lang="zh-CN" altLang="en-US" sz="1600"/>
              <a:t>类位于</a:t>
            </a:r>
            <a:r>
              <a:rPr lang="en-US" altLang="zh-CN" sz="1600"/>
              <a:t> java.lang </a:t>
            </a:r>
            <a:r>
              <a:rPr lang="zh-CN" altLang="en-US" sz="1600"/>
              <a:t>包中，编译时会自动导入，我们创建一个类时，如果没有明确继承一个父类，那么它就会自动继承</a:t>
            </a:r>
            <a:r>
              <a:rPr lang="en-US" altLang="zh-CN" sz="1600"/>
              <a:t> Object</a:t>
            </a:r>
            <a:r>
              <a:rPr lang="zh-CN" altLang="en-US" sz="1600"/>
              <a:t>，成为</a:t>
            </a:r>
            <a:r>
              <a:rPr lang="en-US" altLang="zh-CN" sz="1600"/>
              <a:t> Object </a:t>
            </a:r>
            <a:r>
              <a:rPr lang="zh-CN" altLang="en-US" sz="1600"/>
              <a:t>的子类。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Object </a:t>
            </a:r>
            <a:r>
              <a:rPr lang="zh-CN" altLang="en-US" sz="1600"/>
              <a:t>类可以显式继承，也可以隐式继承，两种方式是一样的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NIO Files </a:t>
            </a:r>
            <a:r>
              <a:rPr lang="zh-CN" altLang="en-US" sz="2000"/>
              <a:t>类：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java.nio.file.Files </a:t>
            </a:r>
            <a:r>
              <a:rPr lang="zh-CN" altLang="en-US" sz="1600"/>
              <a:t>提供了一系列静态方法来操作文件系统中的文件和目录，大大简化了文件</a:t>
            </a:r>
            <a:r>
              <a:rPr lang="en-US" altLang="zh-CN" sz="1600"/>
              <a:t> I/O </a:t>
            </a:r>
            <a:r>
              <a:rPr lang="zh-CN" altLang="en-US" sz="1600"/>
              <a:t>操作。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主要特</a:t>
            </a:r>
            <a:r>
              <a:rPr lang="zh-CN" altLang="en-US" sz="1600"/>
              <a:t>点：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静态方法：所有方法都是静态的，无需创建实例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功能丰富：提供文件读写、属性操作、目录遍历等多种功能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异常处理：统一使用</a:t>
            </a:r>
            <a:r>
              <a:rPr lang="en-US" altLang="zh-CN" sz="1600"/>
              <a:t> IOException </a:t>
            </a:r>
            <a:r>
              <a:rPr lang="zh-CN" altLang="en-US" sz="1600"/>
              <a:t>处理文件操作异常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与</a:t>
            </a:r>
            <a:r>
              <a:rPr lang="en-US" altLang="zh-CN" sz="1600"/>
              <a:t> Path </a:t>
            </a:r>
            <a:r>
              <a:rPr lang="zh-CN" altLang="en-US" sz="1600"/>
              <a:t>配合：主要与</a:t>
            </a:r>
            <a:r>
              <a:rPr lang="en-US" altLang="zh-CN" sz="1600"/>
              <a:t> java.nio.file.Path </a:t>
            </a:r>
            <a:r>
              <a:rPr lang="zh-CN" altLang="en-US" sz="1600"/>
              <a:t>接口一起使用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更多</a:t>
            </a:r>
            <a:r>
              <a:rPr lang="zh-CN" altLang="en-US" sz="1600"/>
              <a:t>常用方法详情</a:t>
            </a:r>
            <a:r>
              <a:rPr lang="zh-CN" altLang="en-US" sz="1600">
                <a:hlinkClick r:id="rId1" action="ppaction://hlinkfile"/>
              </a:rPr>
              <a:t>点此见</a:t>
            </a:r>
            <a:endParaRPr lang="zh-CN" altLang="en-US" sz="16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屏幕截图 2026-03-04 14334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5920" y="260350"/>
            <a:ext cx="8392160" cy="363283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</a:t>
            </a:r>
            <a:r>
              <a:rPr lang="zh-CN" altLang="en-US" sz="2000"/>
              <a:t>泛型：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Java </a:t>
            </a:r>
            <a:r>
              <a:rPr lang="zh-CN" altLang="en-US" sz="1600"/>
              <a:t>泛型（</a:t>
            </a:r>
            <a:r>
              <a:rPr lang="en-US" altLang="zh-CN" sz="1600"/>
              <a:t>generics</a:t>
            </a:r>
            <a:r>
              <a:rPr lang="zh-CN" altLang="en-US" sz="1600"/>
              <a:t>）是</a:t>
            </a:r>
            <a:r>
              <a:rPr lang="en-US" altLang="zh-CN" sz="1600"/>
              <a:t> JDK 5 </a:t>
            </a:r>
            <a:r>
              <a:rPr lang="zh-CN" altLang="en-US" sz="1600"/>
              <a:t>中引入的一个新特性</a:t>
            </a:r>
            <a:r>
              <a:rPr lang="en-US" altLang="zh-CN" sz="1600"/>
              <a:t>, </a:t>
            </a:r>
            <a:r>
              <a:rPr lang="zh-CN" altLang="en-US" sz="1600"/>
              <a:t>泛型提供了编译时类型安全检测机制，该机制允许程序员在编译时检测到非法的类型。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rgbClr val="FF0000"/>
                </a:solidFill>
              </a:rPr>
              <a:t>泛型的本质是参数化类型，也就是说所操作的数据类型被指定为一个参数。</a:t>
            </a:r>
            <a:endParaRPr lang="zh-CN" altLang="en-US" sz="160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chemeClr val="tx1"/>
                </a:solidFill>
              </a:rPr>
              <a:t>泛型方法</a:t>
            </a:r>
            <a:r>
              <a:rPr lang="en-US" altLang="zh-CN" sz="1600">
                <a:solidFill>
                  <a:schemeClr val="tx1"/>
                </a:solidFill>
              </a:rPr>
              <a:t>:</a:t>
            </a:r>
            <a:endParaRPr lang="zh-CN" altLang="en-US" sz="16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chemeClr val="tx1"/>
                </a:solidFill>
              </a:rPr>
              <a:t>定义泛型方法的规则：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</a:rPr>
              <a:t>所有泛型方法声明都有一个类型参数声明部分（由尖括号分隔），该类型参数声明部分在方法返回类型之前（在下面例子中的</a:t>
            </a:r>
            <a:r>
              <a:rPr lang="en-US" altLang="zh-CN" sz="1600">
                <a:solidFill>
                  <a:schemeClr val="tx1"/>
                </a:solidFill>
              </a:rPr>
              <a:t> &lt;E&gt;</a:t>
            </a:r>
            <a:r>
              <a:rPr lang="zh-CN" altLang="en-US" sz="1600">
                <a:solidFill>
                  <a:schemeClr val="tx1"/>
                </a:solidFill>
              </a:rPr>
              <a:t>）。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</a:rPr>
              <a:t>每一个类型参数声明部分包含一个或多个类型参数，参数间用逗号隔开。一个泛型参数，也被称为一个类型变量，是用于指定一个泛型类型名称的标识符。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</a:rPr>
              <a:t>类型参数能被用来声明返回值类型，并且能作为泛型方法得到的实际参数类型的占位符。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</a:rPr>
              <a:t>泛型方法体的声明和其他方法一样。注意类型参数只能代表引用型类型，不能是原始类型（像</a:t>
            </a:r>
            <a:r>
              <a:rPr lang="en-US" altLang="zh-CN" sz="1600">
                <a:solidFill>
                  <a:schemeClr val="tx1"/>
                </a:solidFill>
              </a:rPr>
              <a:t> int</a:t>
            </a:r>
            <a:r>
              <a:rPr lang="zh-CN" altLang="en-US" sz="1600">
                <a:solidFill>
                  <a:schemeClr val="tx1"/>
                </a:solidFill>
              </a:rPr>
              <a:t>、</a:t>
            </a:r>
            <a:r>
              <a:rPr lang="en-US" altLang="zh-CN" sz="1600">
                <a:solidFill>
                  <a:schemeClr val="tx1"/>
                </a:solidFill>
              </a:rPr>
              <a:t>double</a:t>
            </a:r>
            <a:r>
              <a:rPr lang="zh-CN" altLang="en-US" sz="1600">
                <a:solidFill>
                  <a:schemeClr val="tx1"/>
                </a:solidFill>
              </a:rPr>
              <a:t>、</a:t>
            </a:r>
            <a:r>
              <a:rPr lang="en-US" altLang="zh-CN" sz="1600">
                <a:solidFill>
                  <a:schemeClr val="tx1"/>
                </a:solidFill>
              </a:rPr>
              <a:t>char </a:t>
            </a:r>
            <a:r>
              <a:rPr lang="zh-CN" altLang="en-US" sz="1600">
                <a:solidFill>
                  <a:schemeClr val="tx1"/>
                </a:solidFill>
              </a:rPr>
              <a:t>等）。</a:t>
            </a:r>
            <a:endParaRPr lang="zh-CN" altLang="en-US" sz="16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chemeClr val="tx1"/>
                </a:solidFill>
              </a:rPr>
              <a:t>可见例：</a:t>
            </a:r>
            <a:r>
              <a:rPr lang="en-US" altLang="zh-CN" sz="1600">
                <a:solidFill>
                  <a:schemeClr val="tx1"/>
                </a:solidFill>
              </a:rPr>
              <a:t>GenericMethodTest.java</a:t>
            </a:r>
            <a:endParaRPr lang="en-US" altLang="zh-CN" sz="16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sym typeface="+mn-ea"/>
              </a:rPr>
              <a:t>java </a:t>
            </a:r>
            <a:r>
              <a:rPr lang="zh-CN" altLang="en-US" sz="1600">
                <a:sym typeface="+mn-ea"/>
              </a:rPr>
              <a:t>中泛型标记符：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ym typeface="+mn-ea"/>
              </a:rPr>
              <a:t>E - Element (</a:t>
            </a:r>
            <a:r>
              <a:rPr lang="zh-CN" altLang="en-US" sz="1600">
                <a:sym typeface="+mn-ea"/>
              </a:rPr>
              <a:t>在集合中使用，因为集合中存放的是元素</a:t>
            </a:r>
            <a:r>
              <a:rPr lang="en-US" altLang="zh-CN" sz="1600">
                <a:sym typeface="+mn-ea"/>
              </a:rPr>
              <a:t>)</a:t>
            </a:r>
            <a:endParaRPr lang="en-US" altLang="zh-CN" sz="16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chemeClr val="tx1"/>
                </a:solidFill>
              </a:rPr>
              <a:t>T - Type</a:t>
            </a:r>
            <a:r>
              <a:rPr lang="zh-CN" altLang="en-US" sz="1600">
                <a:solidFill>
                  <a:schemeClr val="tx1"/>
                </a:solidFill>
              </a:rPr>
              <a:t>（</a:t>
            </a:r>
            <a:r>
              <a:rPr lang="en-US" altLang="zh-CN" sz="1600">
                <a:solidFill>
                  <a:schemeClr val="tx1"/>
                </a:solidFill>
              </a:rPr>
              <a:t>Java </a:t>
            </a:r>
            <a:r>
              <a:rPr lang="zh-CN" altLang="en-US" sz="1600">
                <a:solidFill>
                  <a:schemeClr val="tx1"/>
                </a:solidFill>
              </a:rPr>
              <a:t>类）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chemeClr val="tx1"/>
                </a:solidFill>
              </a:rPr>
              <a:t>K - Key</a:t>
            </a:r>
            <a:r>
              <a:rPr lang="zh-CN" altLang="en-US" sz="1600">
                <a:solidFill>
                  <a:schemeClr val="tx1"/>
                </a:solidFill>
              </a:rPr>
              <a:t>（键</a:t>
            </a:r>
            <a:r>
              <a:rPr lang="zh-CN" altLang="en-US" sz="1600">
                <a:solidFill>
                  <a:schemeClr val="tx1"/>
                </a:solidFill>
              </a:rPr>
              <a:t>）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V - Value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（值）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N - Number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（数值类型）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？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- 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表示不确定的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java 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类型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chemeClr val="tx1"/>
                </a:solidFill>
              </a:rPr>
              <a:t>有界的类型参数：</a:t>
            </a:r>
            <a:r>
              <a:rPr lang="en-US" altLang="zh-CN" sz="1600">
                <a:solidFill>
                  <a:schemeClr val="tx1"/>
                </a:solidFill>
              </a:rPr>
              <a:t>MaximumTest.java</a:t>
            </a:r>
            <a:endParaRPr lang="en-US" altLang="zh-CN" sz="16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chemeClr val="tx1"/>
                </a:solidFill>
              </a:rPr>
              <a:t>要声明一个有界的类型参数，首先列出类型参数的名称，后跟</a:t>
            </a:r>
            <a:r>
              <a:rPr lang="en-US" altLang="zh-CN" sz="1600">
                <a:solidFill>
                  <a:schemeClr val="tx1"/>
                </a:solidFill>
              </a:rPr>
              <a:t>extends</a:t>
            </a:r>
            <a:r>
              <a:rPr lang="zh-CN" altLang="en-US" sz="1600">
                <a:solidFill>
                  <a:schemeClr val="tx1"/>
                </a:solidFill>
              </a:rPr>
              <a:t>关键字，最后紧跟它的上界。</a:t>
            </a:r>
            <a:endParaRPr lang="zh-CN" altLang="en-US" sz="16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泛型类：泛型类的声明和非泛型类的声明类似，除了在类名后面添加了类型参数声明部分。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和泛型方法一样，泛型类的类型参数声明部分也包含一个或多个类型参数，参数间用逗号隔开。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一个泛型参数，也被称为一个类型变量，是用于指定一个泛型类型名称的标识符。因为他们接受一个或多个参数，这些类被称为参数化的类或参数化的类型。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en-US" altLang="zh-CN" sz="16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415"/>
            <a:ext cx="8229600" cy="678751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类型通配符：</a:t>
            </a:r>
            <a:r>
              <a:rPr lang="en-US" altLang="zh-CN" sz="1600">
                <a:sym typeface="+mn-ea"/>
              </a:rPr>
              <a:t>GenericExample.java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类型通配符一般是</a:t>
            </a:r>
            <a:r>
              <a:rPr lang="zh-CN" altLang="en-US" sz="1600">
                <a:solidFill>
                  <a:srgbClr val="FF0000"/>
                </a:solidFill>
              </a:rPr>
              <a:t>使用</a:t>
            </a:r>
            <a:r>
              <a:rPr lang="en-US" altLang="zh-CN" sz="1600">
                <a:solidFill>
                  <a:srgbClr val="FF0000"/>
                </a:solidFill>
              </a:rPr>
              <a:t> ? </a:t>
            </a:r>
            <a:r>
              <a:rPr lang="zh-CN" altLang="en-US" sz="1600">
                <a:solidFill>
                  <a:srgbClr val="FF0000"/>
                </a:solidFill>
              </a:rPr>
              <a:t>代替具体的类型参数</a:t>
            </a:r>
            <a:r>
              <a:rPr lang="zh-CN" altLang="en-US" sz="1600"/>
              <a:t>。例如</a:t>
            </a:r>
            <a:r>
              <a:rPr lang="en-US" altLang="zh-CN" sz="1600"/>
              <a:t> List&lt;?&gt; </a:t>
            </a:r>
            <a:r>
              <a:rPr lang="zh-CN" altLang="en-US" sz="1600"/>
              <a:t>在逻辑上是</a:t>
            </a:r>
            <a:r>
              <a:rPr lang="en-US" altLang="zh-CN" sz="1600"/>
              <a:t>List&lt;String&gt;,List&lt;Integer&gt; </a:t>
            </a:r>
            <a:r>
              <a:rPr lang="zh-CN" altLang="en-US" sz="1600"/>
              <a:t>等所有</a:t>
            </a:r>
            <a:r>
              <a:rPr lang="en-US" altLang="zh-CN" sz="1600"/>
              <a:t> List&lt;</a:t>
            </a:r>
            <a:r>
              <a:rPr lang="zh-CN" altLang="en-US" sz="1600"/>
              <a:t>具体类型实参</a:t>
            </a:r>
            <a:r>
              <a:rPr lang="en-US" altLang="zh-CN" sz="1600"/>
              <a:t>&gt; </a:t>
            </a:r>
            <a:r>
              <a:rPr lang="zh-CN" altLang="en-US" sz="1600"/>
              <a:t>的父类。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类型通配符上限通过形如</a:t>
            </a:r>
            <a:r>
              <a:rPr lang="en-US" altLang="zh-CN" sz="1600"/>
              <a:t>List</a:t>
            </a:r>
            <a:r>
              <a:rPr lang="zh-CN" altLang="en-US" sz="1600"/>
              <a:t>来定义，如此定义就是通配符泛型值接受</a:t>
            </a:r>
            <a:r>
              <a:rPr lang="en-US" altLang="zh-CN" sz="1600"/>
              <a:t>Number</a:t>
            </a:r>
            <a:r>
              <a:rPr lang="zh-CN" altLang="en-US" sz="1600"/>
              <a:t>及其下层子类类型。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类型通配符下限通过形如</a:t>
            </a:r>
            <a:r>
              <a:rPr lang="en-US" altLang="zh-CN" sz="1600"/>
              <a:t> List&lt;? super Number&gt; </a:t>
            </a:r>
            <a:r>
              <a:rPr lang="zh-CN" altLang="en-US" sz="1600"/>
              <a:t>来定义，表示类型只能接受</a:t>
            </a:r>
            <a:r>
              <a:rPr lang="en-US" altLang="zh-CN" sz="1600"/>
              <a:t> Number </a:t>
            </a:r>
            <a:r>
              <a:rPr lang="zh-CN" altLang="en-US" sz="1600"/>
              <a:t>及其上层父类类型，如</a:t>
            </a:r>
            <a:r>
              <a:rPr lang="en-US" altLang="zh-CN" sz="1600"/>
              <a:t> Object </a:t>
            </a:r>
            <a:r>
              <a:rPr lang="zh-CN" altLang="en-US" sz="1600"/>
              <a:t>类型的实例。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序列化：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1600"/>
              <a:t>Java </a:t>
            </a:r>
            <a:r>
              <a:rPr lang="zh-CN" altLang="en-US" sz="1600"/>
              <a:t>序列化是一种将对象转换为字节流的过程，以便可以将对象保存到磁盘上，将其传输到网络上，或者将其存储在内存中，以后再进行反序列化，将字节流重新转换为对象。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序列化在</a:t>
            </a:r>
            <a:r>
              <a:rPr lang="en-US" altLang="zh-CN" sz="1600"/>
              <a:t> Java </a:t>
            </a:r>
            <a:r>
              <a:rPr lang="zh-CN" altLang="en-US" sz="1600"/>
              <a:t>中是通过</a:t>
            </a:r>
            <a:r>
              <a:rPr lang="en-US" altLang="zh-CN" sz="1600"/>
              <a:t> java.io.Serializable </a:t>
            </a:r>
            <a:r>
              <a:rPr lang="zh-CN" altLang="en-US" sz="1600"/>
              <a:t>接口来实现的，该接口没有任何方法，只是一个标记接口，用于标识类可以被序列化。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当你序列化对象时，你把它包装成一个特殊文件，可以保存、传输或存储。反序列化则是打开这个文件，读取序列化的数据，然后将其还原为对象，以便在程序中使用。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序列化是一种用于保存、传输和还原对象的方法，它使得对象可以在不同的计算机之间移动和共享，这对于分布式系统、数据存储和跨平台通信非常有用。</a:t>
            </a:r>
            <a:endParaRPr lang="zh-CN" altLang="en-US" sz="16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8260"/>
            <a:ext cx="8229600" cy="669480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序列化对象：</a:t>
            </a:r>
            <a:r>
              <a:rPr lang="en-US" altLang="zh-CN" sz="1600"/>
              <a:t> </a:t>
            </a:r>
            <a:r>
              <a:rPr lang="zh-CN" altLang="en-US" sz="1600"/>
              <a:t>使用</a:t>
            </a:r>
            <a:r>
              <a:rPr lang="en-US" altLang="zh-CN" sz="1600"/>
              <a:t> ObjectOutputStream </a:t>
            </a:r>
            <a:r>
              <a:rPr lang="zh-CN" altLang="en-US" sz="1600"/>
              <a:t>类来将对象序列化为字节流。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反序列化对象：</a:t>
            </a:r>
            <a:r>
              <a:rPr lang="en-US" altLang="zh-CN" sz="1600"/>
              <a:t> </a:t>
            </a:r>
            <a:r>
              <a:rPr lang="zh-CN" altLang="en-US" sz="1600"/>
              <a:t>使用</a:t>
            </a:r>
            <a:r>
              <a:rPr lang="en-US" altLang="zh-CN" sz="1600"/>
              <a:t> ObjectInputStream </a:t>
            </a:r>
            <a:r>
              <a:rPr lang="zh-CN" altLang="en-US" sz="1600"/>
              <a:t>类来从字节流中反序列化对象。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代码实例：</a:t>
            </a:r>
            <a:r>
              <a:rPr lang="en-US" altLang="zh-CN" sz="1600"/>
              <a:t>EmployeeExample.java &amp; SerializeDemo.java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网络协议：</a:t>
            </a:r>
            <a:r>
              <a:rPr lang="zh-CN" altLang="en-US" sz="2000">
                <a:hlinkClick r:id="rId1" action="ppaction://hlinkfile"/>
              </a:rPr>
              <a:t>点此查看网页</a:t>
            </a:r>
            <a:endParaRPr lang="zh-CN" altLang="en-US" sz="2000">
              <a:hlinkClick r:id="rId1" action="ppaction://hlinkfile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多线程</a:t>
            </a:r>
            <a:r>
              <a:rPr lang="zh-CN" altLang="en-US" sz="2000"/>
              <a:t>编程：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1600"/>
              <a:t>一条线程指的是进程中一个单一顺序的控制流，一个进程中可以并发多个线程，每条线程并行执行不同的任务。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多线程是多任务的一种特别的形式，但多线程使用了更小的资源开销。（多线程能满足程序员编写高效率的程序来达到充分利用</a:t>
            </a:r>
            <a:r>
              <a:rPr lang="en-US" altLang="zh-CN" sz="1600"/>
              <a:t> CPU </a:t>
            </a:r>
            <a:r>
              <a:rPr lang="zh-CN" altLang="en-US" sz="1600"/>
              <a:t>的目的）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进程：一个进程包括由操作系统分配的内存空间，包含一个或多个线程。一个线程</a:t>
            </a:r>
            <a:r>
              <a:rPr lang="zh-CN" altLang="en-US" sz="1600">
                <a:solidFill>
                  <a:srgbClr val="FF0000"/>
                </a:solidFill>
              </a:rPr>
              <a:t>不能独立存在</a:t>
            </a:r>
            <a:r>
              <a:rPr lang="zh-CN" altLang="en-US" sz="1600"/>
              <a:t>，它必须是进程的一部分。一个进程一直运行，直到所有的非守护线程都结束运行后才能结束。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线程</a:t>
            </a:r>
            <a:r>
              <a:rPr lang="zh-CN" altLang="en-US" sz="1600"/>
              <a:t>优先级：有助于操作系统确定线程的调度顺序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Java </a:t>
            </a:r>
            <a:r>
              <a:rPr lang="zh-CN" altLang="en-US" sz="1600"/>
              <a:t>线程的优先级是一个整数，其取值范围是</a:t>
            </a:r>
            <a:r>
              <a:rPr lang="en-US" altLang="zh-CN" sz="1600"/>
              <a:t> 1</a:t>
            </a:r>
            <a:r>
              <a:rPr lang="zh-CN" altLang="en-US" sz="1600"/>
              <a:t>（</a:t>
            </a:r>
            <a:r>
              <a:rPr lang="en-US" altLang="zh-CN" sz="1600"/>
              <a:t>Thread.MIN_PRIORITY </a:t>
            </a:r>
            <a:r>
              <a:rPr lang="zh-CN" altLang="en-US" sz="1600"/>
              <a:t>）</a:t>
            </a:r>
            <a:r>
              <a:rPr lang="en-US" altLang="zh-CN" sz="1600"/>
              <a:t>- 10</a:t>
            </a:r>
            <a:r>
              <a:rPr lang="zh-CN" altLang="en-US" sz="1600"/>
              <a:t>（</a:t>
            </a:r>
            <a:r>
              <a:rPr lang="en-US" altLang="zh-CN" sz="1600"/>
              <a:t>Thread.MAX_PRIORITY </a:t>
            </a:r>
            <a:r>
              <a:rPr lang="zh-CN" altLang="en-US" sz="1600"/>
              <a:t>）。默认情况下：都</a:t>
            </a:r>
            <a:r>
              <a:rPr lang="zh-CN" altLang="en-US" sz="1600"/>
              <a:t>分配优先级</a:t>
            </a:r>
            <a:r>
              <a:rPr lang="en-US" altLang="zh-CN" sz="1600"/>
              <a:t> NORM_PRIORITY</a:t>
            </a:r>
            <a:r>
              <a:rPr lang="zh-CN" altLang="en-US" sz="1600"/>
              <a:t>（</a:t>
            </a:r>
            <a:r>
              <a:rPr lang="en-US" altLang="zh-CN" sz="1600"/>
              <a:t>5</a:t>
            </a:r>
            <a:r>
              <a:rPr lang="zh-CN" altLang="en-US" sz="1600"/>
              <a:t>）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线程优先级不能保证线程执行的顺序，而且非常依赖于平台。</a:t>
            </a:r>
            <a:endParaRPr lang="zh-CN" altLang="en-US" sz="16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一个线程的生命</a:t>
            </a:r>
            <a:r>
              <a:rPr lang="zh-CN" altLang="en-US" sz="1600"/>
              <a:t>历程：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  <p:pic>
        <p:nvPicPr>
          <p:cNvPr id="4" name="图片 3" descr="屏幕截图 2026-03-21 1448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760095"/>
            <a:ext cx="8620125" cy="589216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解读：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新建状态：使用</a:t>
            </a:r>
            <a:r>
              <a:rPr lang="en-US" altLang="zh-CN" sz="1600"/>
              <a:t> new </a:t>
            </a:r>
            <a:r>
              <a:rPr lang="zh-CN" altLang="en-US" sz="1600"/>
              <a:t>关键字和</a:t>
            </a:r>
            <a:r>
              <a:rPr lang="en-US" altLang="zh-CN" sz="1600"/>
              <a:t> Thread </a:t>
            </a:r>
            <a:r>
              <a:rPr lang="zh-CN" altLang="en-US" sz="1600"/>
              <a:t>类或其子类建立一个线程对象后，该线程对象就处于新建状态。它保持这个状态直到程序</a:t>
            </a:r>
            <a:r>
              <a:rPr lang="en-US" altLang="zh-CN" sz="1600"/>
              <a:t> start() </a:t>
            </a:r>
            <a:r>
              <a:rPr lang="zh-CN" altLang="en-US" sz="1600"/>
              <a:t>这个线程。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就绪状态：当线程对象调用了</a:t>
            </a:r>
            <a:r>
              <a:rPr lang="en-US" altLang="zh-CN" sz="1600"/>
              <a:t>start()</a:t>
            </a:r>
            <a:r>
              <a:rPr lang="zh-CN" altLang="en-US" sz="1600"/>
              <a:t>方法之后，该线程就进入就绪状态。就绪状态的线程处于就绪队列中，要等待</a:t>
            </a:r>
            <a:r>
              <a:rPr lang="en-US" altLang="zh-CN" sz="1600"/>
              <a:t>JVM</a:t>
            </a:r>
            <a:r>
              <a:rPr lang="zh-CN" altLang="en-US" sz="1600"/>
              <a:t>里线程调度器的调度。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运行状态：如果就绪状态的线程获取</a:t>
            </a:r>
            <a:r>
              <a:rPr lang="en-US" altLang="zh-CN" sz="1600"/>
              <a:t> CPU </a:t>
            </a:r>
            <a:r>
              <a:rPr lang="zh-CN" altLang="en-US" sz="1600"/>
              <a:t>资源，就可以执行</a:t>
            </a:r>
            <a:r>
              <a:rPr lang="en-US" altLang="zh-CN" sz="1600"/>
              <a:t> run()</a:t>
            </a:r>
            <a:r>
              <a:rPr lang="zh-CN" altLang="en-US" sz="1600"/>
              <a:t>，此时线程便处于运行状态。处于运行状态的线程最为复杂，它可以变为阻塞状态、就绪状态和死亡状态。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阻塞状态：如果一个线程执行了</a:t>
            </a:r>
            <a:r>
              <a:rPr lang="en-US" altLang="zh-CN" sz="1600"/>
              <a:t>sleep</a:t>
            </a:r>
            <a:r>
              <a:rPr lang="zh-CN" altLang="en-US" sz="1600"/>
              <a:t>（睡眠）、</a:t>
            </a:r>
            <a:r>
              <a:rPr lang="en-US" altLang="zh-CN" sz="1600"/>
              <a:t>suspend</a:t>
            </a:r>
            <a:r>
              <a:rPr lang="zh-CN" altLang="en-US" sz="1600"/>
              <a:t>（挂起）等方法，失去所占用资源之后，该线程就从运行状态进入阻塞状态。在睡眠时间已到或获得设备资源后可以重新进入就绪状态。可以分为三种：</a:t>
            </a:r>
            <a:endParaRPr lang="zh-CN" altLang="en-US" sz="1600"/>
          </a:p>
          <a:p>
            <a:pPr lvl="1">
              <a:lnSpc>
                <a:spcPct val="150000"/>
              </a:lnSpc>
            </a:pPr>
            <a:r>
              <a:rPr lang="zh-CN" altLang="en-US" sz="1225">
                <a:sym typeface="+mn-ea"/>
              </a:rPr>
              <a:t>等待阻塞：运行状态中的线程执行</a:t>
            </a:r>
            <a:r>
              <a:rPr lang="en-US" altLang="zh-CN" sz="1225">
                <a:sym typeface="+mn-ea"/>
              </a:rPr>
              <a:t> wait() </a:t>
            </a:r>
            <a:r>
              <a:rPr lang="zh-CN" altLang="en-US" sz="1225">
                <a:sym typeface="+mn-ea"/>
              </a:rPr>
              <a:t>方法，使线程进入到等待阻塞状态。</a:t>
            </a:r>
            <a:endParaRPr lang="zh-CN" altLang="en-US" sz="1225"/>
          </a:p>
          <a:p>
            <a:pPr lvl="1">
              <a:lnSpc>
                <a:spcPct val="150000"/>
              </a:lnSpc>
            </a:pPr>
            <a:r>
              <a:rPr lang="zh-CN" altLang="en-US" sz="1225">
                <a:sym typeface="+mn-ea"/>
              </a:rPr>
              <a:t>同步阻塞：线程在获取</a:t>
            </a:r>
            <a:r>
              <a:rPr lang="en-US" altLang="zh-CN" sz="1225">
                <a:sym typeface="+mn-ea"/>
              </a:rPr>
              <a:t> synchronized </a:t>
            </a:r>
            <a:r>
              <a:rPr lang="zh-CN" altLang="en-US" sz="1225">
                <a:sym typeface="+mn-ea"/>
              </a:rPr>
              <a:t>同步锁失败</a:t>
            </a:r>
            <a:r>
              <a:rPr lang="en-US" altLang="zh-CN" sz="1225">
                <a:sym typeface="+mn-ea"/>
              </a:rPr>
              <a:t>(</a:t>
            </a:r>
            <a:r>
              <a:rPr lang="zh-CN" altLang="en-US" sz="1225">
                <a:sym typeface="+mn-ea"/>
              </a:rPr>
              <a:t>因为同步锁被其他线程占用</a:t>
            </a:r>
            <a:r>
              <a:rPr lang="en-US" altLang="zh-CN" sz="1225">
                <a:sym typeface="+mn-ea"/>
              </a:rPr>
              <a:t>)</a:t>
            </a:r>
            <a:r>
              <a:rPr lang="zh-CN" altLang="en-US" sz="1225">
                <a:sym typeface="+mn-ea"/>
              </a:rPr>
              <a:t>。</a:t>
            </a:r>
            <a:endParaRPr lang="zh-CN" altLang="en-US" sz="1225"/>
          </a:p>
          <a:p>
            <a:pPr lvl="1">
              <a:lnSpc>
                <a:spcPct val="150000"/>
              </a:lnSpc>
            </a:pPr>
            <a:r>
              <a:rPr lang="zh-CN" altLang="en-US" sz="1225">
                <a:sym typeface="+mn-ea"/>
              </a:rPr>
              <a:t>其他阻塞：通过调用线程的</a:t>
            </a:r>
            <a:r>
              <a:rPr lang="en-US" altLang="zh-CN" sz="1225">
                <a:sym typeface="+mn-ea"/>
              </a:rPr>
              <a:t> sleep() </a:t>
            </a:r>
            <a:r>
              <a:rPr lang="zh-CN" altLang="en-US" sz="1225">
                <a:sym typeface="+mn-ea"/>
              </a:rPr>
              <a:t>或</a:t>
            </a:r>
            <a:r>
              <a:rPr lang="en-US" altLang="zh-CN" sz="1225">
                <a:sym typeface="+mn-ea"/>
              </a:rPr>
              <a:t> join() </a:t>
            </a:r>
            <a:r>
              <a:rPr lang="zh-CN" altLang="en-US" sz="1225">
                <a:sym typeface="+mn-ea"/>
              </a:rPr>
              <a:t>发出了</a:t>
            </a:r>
            <a:r>
              <a:rPr lang="en-US" altLang="zh-CN" sz="1225">
                <a:sym typeface="+mn-ea"/>
              </a:rPr>
              <a:t> I/O </a:t>
            </a:r>
            <a:r>
              <a:rPr lang="zh-CN" altLang="en-US" sz="1225">
                <a:sym typeface="+mn-ea"/>
              </a:rPr>
              <a:t>请求时，线程就会进入到阻塞状态。当</a:t>
            </a:r>
            <a:r>
              <a:rPr lang="en-US" altLang="zh-CN" sz="1225">
                <a:sym typeface="+mn-ea"/>
              </a:rPr>
              <a:t>sleep() </a:t>
            </a:r>
            <a:r>
              <a:rPr lang="zh-CN" altLang="en-US" sz="1225">
                <a:sym typeface="+mn-ea"/>
              </a:rPr>
              <a:t>状态超时，</a:t>
            </a:r>
            <a:r>
              <a:rPr lang="en-US" altLang="zh-CN" sz="1225">
                <a:sym typeface="+mn-ea"/>
              </a:rPr>
              <a:t>join() </a:t>
            </a:r>
            <a:r>
              <a:rPr lang="zh-CN" altLang="en-US" sz="1225">
                <a:sym typeface="+mn-ea"/>
              </a:rPr>
              <a:t>等待线程终止或超时，或者</a:t>
            </a:r>
            <a:r>
              <a:rPr lang="en-US" altLang="zh-CN" sz="1225">
                <a:sym typeface="+mn-ea"/>
              </a:rPr>
              <a:t> I/O </a:t>
            </a:r>
            <a:r>
              <a:rPr lang="zh-CN" altLang="en-US" sz="1225">
                <a:sym typeface="+mn-ea"/>
              </a:rPr>
              <a:t>处理完毕，线程重新转入就绪状态。</a:t>
            </a:r>
            <a:endParaRPr lang="zh-CN" altLang="en-US" sz="1225"/>
          </a:p>
          <a:p>
            <a:pPr>
              <a:lnSpc>
                <a:spcPct val="150000"/>
              </a:lnSpc>
            </a:pPr>
            <a:r>
              <a:rPr lang="zh-CN" altLang="en-US" sz="1600"/>
              <a:t>死亡状态：一个运行状态的线程完成任务或者其他终止条件发生时，该线程就切换到终止状态。</a:t>
            </a:r>
            <a:endParaRPr lang="zh-CN" altLang="en-US" sz="1600"/>
          </a:p>
          <a:p>
            <a:pPr>
              <a:lnSpc>
                <a:spcPct val="150000"/>
              </a:lnSpc>
            </a:pPr>
            <a:endParaRPr lang="en-US" altLang="zh-CN" sz="12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如何创建</a:t>
            </a:r>
            <a:r>
              <a:rPr lang="zh-CN" altLang="en-US" sz="1600"/>
              <a:t>线程（三种创建线程的方法）：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通过实现</a:t>
            </a:r>
            <a:r>
              <a:rPr lang="en-US" altLang="zh-CN" sz="1600"/>
              <a:t> Runnable </a:t>
            </a:r>
            <a:r>
              <a:rPr lang="zh-CN" altLang="en-US" sz="1600"/>
              <a:t>接口；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通过继承</a:t>
            </a:r>
            <a:r>
              <a:rPr lang="en-US" altLang="zh-CN" sz="1600"/>
              <a:t> Thread </a:t>
            </a:r>
            <a:r>
              <a:rPr lang="zh-CN" altLang="en-US" sz="1600"/>
              <a:t>类本身；</a:t>
            </a:r>
            <a:endParaRPr lang="zh-CN" altLang="en-US" sz="1600"/>
          </a:p>
          <a:p>
            <a:pPr>
              <a:lnSpc>
                <a:spcPct val="150000"/>
              </a:lnSpc>
              <a:buAutoNum type="arabicPeriod"/>
            </a:pPr>
            <a:r>
              <a:rPr lang="zh-CN" altLang="en-US" sz="1600"/>
              <a:t>通过</a:t>
            </a:r>
            <a:r>
              <a:rPr lang="en-US" altLang="zh-CN" sz="1600"/>
              <a:t> Callable </a:t>
            </a:r>
            <a:r>
              <a:rPr lang="zh-CN" altLang="en-US" sz="1600"/>
              <a:t>和</a:t>
            </a:r>
            <a:r>
              <a:rPr lang="en-US" altLang="zh-CN" sz="1600"/>
              <a:t> Future </a:t>
            </a:r>
            <a:r>
              <a:rPr lang="zh-CN" altLang="en-US" sz="1600"/>
              <a:t>创建线程。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代码实例：</a:t>
            </a:r>
            <a:r>
              <a:rPr lang="en-US" altLang="zh-CN" sz="1600"/>
              <a:t>TestRunnable.java &amp; CallableFuture.</a:t>
            </a:r>
            <a:r>
              <a:rPr lang="en-US" altLang="zh-CN" sz="1600"/>
              <a:t>java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三种方法</a:t>
            </a:r>
            <a:r>
              <a:rPr lang="zh-CN" altLang="en-US" sz="1600"/>
              <a:t>对比：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采用实现</a:t>
            </a:r>
            <a:r>
              <a:rPr lang="en-US" altLang="zh-CN" sz="1600"/>
              <a:t> Runnable</a:t>
            </a:r>
            <a:r>
              <a:rPr lang="zh-CN" altLang="en-US" sz="1600"/>
              <a:t>、</a:t>
            </a:r>
            <a:r>
              <a:rPr lang="en-US" altLang="zh-CN" sz="1600"/>
              <a:t>Callable </a:t>
            </a:r>
            <a:r>
              <a:rPr lang="zh-CN" altLang="en-US" sz="1600"/>
              <a:t>接口的方式创建多线程时，线程类只是实现了</a:t>
            </a:r>
            <a:r>
              <a:rPr lang="en-US" altLang="zh-CN" sz="1600"/>
              <a:t> Runnable </a:t>
            </a:r>
            <a:r>
              <a:rPr lang="zh-CN" altLang="en-US" sz="1600"/>
              <a:t>接口或</a:t>
            </a:r>
            <a:r>
              <a:rPr lang="en-US" altLang="zh-CN" sz="1600"/>
              <a:t> Callable </a:t>
            </a:r>
            <a:r>
              <a:rPr lang="zh-CN" altLang="en-US" sz="1600"/>
              <a:t>接口，还可以继承其他类。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使用继承</a:t>
            </a:r>
            <a:r>
              <a:rPr lang="en-US" altLang="zh-CN" sz="1600"/>
              <a:t> Thread </a:t>
            </a:r>
            <a:r>
              <a:rPr lang="zh-CN" altLang="en-US" sz="1600"/>
              <a:t>类的方式创建多线程时，编写简单，如果需要访问当前线程，则无需使用</a:t>
            </a:r>
            <a:r>
              <a:rPr lang="en-US" altLang="zh-CN" sz="1600"/>
              <a:t> Thread.currentThread() </a:t>
            </a:r>
            <a:r>
              <a:rPr lang="zh-CN" altLang="en-US" sz="1600"/>
              <a:t>方法，直接使用</a:t>
            </a:r>
            <a:r>
              <a:rPr lang="en-US" altLang="zh-CN" sz="1600"/>
              <a:t> this </a:t>
            </a:r>
            <a:r>
              <a:rPr lang="zh-CN" altLang="en-US" sz="1600"/>
              <a:t>即可获得当前线程。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多线程的</a:t>
            </a:r>
            <a:r>
              <a:rPr lang="zh-CN" altLang="en-US" sz="1600"/>
              <a:t>使用：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有效利用多线程的关键是理解程序是并发执行而不是串行执行的。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通过对多线程的使用，可以编写出非常高效的程序。不过请注意，如果创建太多的线程，程序执行的效率实际上是降低了，而不是提升了。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上下文的切换开销也很重要，如果创建了太多的线程，</a:t>
            </a:r>
            <a:r>
              <a:rPr lang="en-US" altLang="zh-CN" sz="1600"/>
              <a:t>CPU </a:t>
            </a:r>
            <a:r>
              <a:rPr lang="zh-CN" altLang="en-US" sz="1600"/>
              <a:t>花费在上下文的切换的时间将多于执行程序的时间！</a:t>
            </a:r>
            <a:endParaRPr lang="zh-CN" altLang="en-US" sz="16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线程的几个主要</a:t>
            </a:r>
            <a:r>
              <a:rPr lang="zh-CN" altLang="en-US" sz="1600"/>
              <a:t>概念：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线程同步：当多个线程访问共享资源时，需要确保同一时刻只有一个线程能访问，避免数据不一致。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线程间通信：多个线程之间需要协调工作，通过等待</a:t>
            </a:r>
            <a:r>
              <a:rPr lang="en-US" altLang="zh-CN" sz="1600"/>
              <a:t>/</a:t>
            </a:r>
            <a:r>
              <a:rPr lang="zh-CN" altLang="en-US" sz="1600"/>
              <a:t>通知机制进行通信。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线程死锁：两个或多个线程互相等待对方释放资源，导致所有线程都无法继续执行。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线程控制：指对线程的生命周期进行管理和干预，包括启动、运行、暂停、恢复、停止等操作。注意：</a:t>
            </a:r>
            <a:r>
              <a:rPr lang="en-US" altLang="zh-CN" sz="1600"/>
              <a:t>stop()</a:t>
            </a:r>
            <a:r>
              <a:rPr lang="zh-CN" altLang="en-US" sz="1600"/>
              <a:t>、</a:t>
            </a:r>
            <a:r>
              <a:rPr lang="en-US" altLang="zh-CN" sz="1600"/>
              <a:t>suspend()</a:t>
            </a:r>
            <a:r>
              <a:rPr lang="zh-CN" altLang="en-US" sz="1600"/>
              <a:t>、</a:t>
            </a:r>
            <a:r>
              <a:rPr lang="en-US" altLang="zh-CN" sz="1600"/>
              <a:t>resume() </a:t>
            </a:r>
            <a:r>
              <a:rPr lang="zh-CN" altLang="en-US" sz="1600"/>
              <a:t>已废弃。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applet </a:t>
            </a:r>
            <a:r>
              <a:rPr lang="zh-CN" altLang="en-US" sz="2000"/>
              <a:t>基础：现已被</a:t>
            </a:r>
            <a:r>
              <a:rPr lang="en-US" altLang="zh-CN" sz="2000"/>
              <a:t> Flash</a:t>
            </a:r>
            <a:r>
              <a:rPr lang="zh-CN" altLang="en-US" sz="2000"/>
              <a:t>、</a:t>
            </a:r>
            <a:r>
              <a:rPr lang="en-US" altLang="zh-CN" sz="2000"/>
              <a:t>HTML5 </a:t>
            </a:r>
            <a:r>
              <a:rPr lang="zh-CN" altLang="en-US" sz="2000"/>
              <a:t>替代。（</a:t>
            </a:r>
            <a:r>
              <a:rPr lang="zh-CN" altLang="en-US" sz="1600">
                <a:hlinkClick r:id="rId1" tooltip="" action="ppaction://hlinkfile"/>
              </a:rPr>
              <a:t>点此前往查看</a:t>
            </a:r>
            <a:r>
              <a:rPr lang="zh-CN" altLang="en-US" sz="1600"/>
              <a:t>）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</a:t>
            </a:r>
            <a:r>
              <a:rPr lang="zh-CN" altLang="en-US" sz="2000"/>
              <a:t>注释以及</a:t>
            </a:r>
            <a:r>
              <a:rPr lang="en-US" altLang="zh-CN" sz="2000"/>
              <a:t> javadoc </a:t>
            </a:r>
            <a:r>
              <a:rPr lang="zh-CN" altLang="en-US" sz="2000"/>
              <a:t>标签：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Java </a:t>
            </a:r>
            <a:r>
              <a:rPr lang="zh-CN" altLang="en-US" sz="1600"/>
              <a:t>支持三种注释方式：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单行注释：</a:t>
            </a:r>
            <a:r>
              <a:rPr lang="en-US" altLang="zh-CN" sz="1600"/>
              <a:t>//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多行注释：以</a:t>
            </a:r>
            <a:r>
              <a:rPr lang="en-US" altLang="zh-CN" sz="1600"/>
              <a:t> /* </a:t>
            </a:r>
            <a:r>
              <a:rPr lang="zh-CN" altLang="en-US" sz="1600"/>
              <a:t>开始，以</a:t>
            </a:r>
            <a:r>
              <a:rPr lang="en-US" altLang="zh-CN" sz="1600"/>
              <a:t> */ </a:t>
            </a:r>
            <a:r>
              <a:rPr lang="zh-CN" altLang="en-US" sz="1600"/>
              <a:t>结束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文档注释：以</a:t>
            </a:r>
            <a:r>
              <a:rPr lang="en-US" altLang="zh-CN" sz="1600"/>
              <a:t> /** </a:t>
            </a:r>
            <a:r>
              <a:rPr lang="zh-CN" altLang="en-US" sz="1600"/>
              <a:t>开始，以</a:t>
            </a:r>
            <a:r>
              <a:rPr lang="en-US" altLang="zh-CN" sz="1600"/>
              <a:t> */ </a:t>
            </a:r>
            <a:r>
              <a:rPr lang="zh-CN" altLang="en-US" sz="1600"/>
              <a:t>结束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/>
              <a:t>javadoc </a:t>
            </a:r>
            <a:r>
              <a:rPr lang="zh-CN" altLang="en-US" sz="1600"/>
              <a:t>标签（</a:t>
            </a:r>
            <a:r>
              <a:rPr lang="zh-CN" altLang="en-US" sz="1600">
                <a:sym typeface="+mn-ea"/>
                <a:hlinkClick r:id="rId2" tooltip="" action="ppaction://hlinkfile"/>
              </a:rPr>
              <a:t>详情点此可见</a:t>
            </a:r>
            <a:r>
              <a:rPr lang="zh-CN" altLang="en-US" sz="1600"/>
              <a:t>）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</a:t>
            </a:r>
            <a:r>
              <a:rPr lang="zh-CN" altLang="en-US" sz="2000"/>
              <a:t>实例：</a:t>
            </a:r>
            <a:r>
              <a:rPr lang="zh-CN" altLang="en-US" sz="2000">
                <a:hlinkClick r:id="rId3" tooltip="" action="ppaction://hlinkfile"/>
              </a:rPr>
              <a:t>点此查看</a:t>
            </a:r>
            <a:endParaRPr lang="zh-CN" altLang="en-US" sz="20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8 </a:t>
            </a:r>
            <a:r>
              <a:rPr lang="zh-CN" altLang="en-US" sz="2000"/>
              <a:t>新特性：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1600" b="1"/>
              <a:t>Lambda </a:t>
            </a:r>
            <a:r>
              <a:rPr lang="zh-CN" altLang="en-US" sz="1600" b="1"/>
              <a:t>表达式</a:t>
            </a:r>
            <a:r>
              <a:rPr lang="en-US" altLang="zh-CN" sz="1600"/>
              <a:t> − Lambda </a:t>
            </a:r>
            <a:r>
              <a:rPr lang="zh-CN" altLang="en-US" sz="1600"/>
              <a:t>允许把函数作为一个方法的参数（函数作为参数传递到方法中）。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1600" b="1"/>
              <a:t>方法引用</a:t>
            </a:r>
            <a:r>
              <a:rPr lang="en-US" altLang="zh-CN" sz="1600"/>
              <a:t> − </a:t>
            </a:r>
            <a:r>
              <a:rPr lang="zh-CN" altLang="en-US" sz="1600"/>
              <a:t>方法引用提供了非常有用的语法，可以直接引用已有</a:t>
            </a:r>
            <a:r>
              <a:rPr lang="en-US" altLang="zh-CN" sz="1600"/>
              <a:t>Java</a:t>
            </a:r>
            <a:r>
              <a:rPr lang="zh-CN" altLang="en-US" sz="1600"/>
              <a:t>类或对象（实例）的方法或构造器。与</a:t>
            </a:r>
            <a:r>
              <a:rPr lang="en-US" altLang="zh-CN" sz="1600"/>
              <a:t>lambda</a:t>
            </a:r>
            <a:r>
              <a:rPr lang="zh-CN" altLang="en-US" sz="1600"/>
              <a:t>联合使用，方法引用可以使语言的构造更紧凑简洁，减少冗余代码。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 b="1"/>
              <a:t>默认方法</a:t>
            </a:r>
            <a:r>
              <a:rPr lang="en-US" altLang="zh-CN" sz="1600"/>
              <a:t> − </a:t>
            </a:r>
            <a:r>
              <a:rPr lang="zh-CN" altLang="en-US" sz="1600"/>
              <a:t>默认方法就是一个在接口里面有了一个实现的方法。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 b="1"/>
              <a:t>新工具</a:t>
            </a:r>
            <a:r>
              <a:rPr lang="en-US" altLang="zh-CN" sz="1600"/>
              <a:t> − </a:t>
            </a:r>
            <a:r>
              <a:rPr lang="zh-CN" altLang="en-US" sz="1600"/>
              <a:t>新的编译工具，如：</a:t>
            </a:r>
            <a:r>
              <a:rPr lang="en-US" altLang="zh-CN" sz="1600"/>
              <a:t>Nashorn</a:t>
            </a:r>
            <a:r>
              <a:rPr lang="zh-CN" altLang="en-US" sz="1600"/>
              <a:t>引擎</a:t>
            </a:r>
            <a:r>
              <a:rPr lang="en-US" altLang="zh-CN" sz="1600"/>
              <a:t> jjs</a:t>
            </a:r>
            <a:r>
              <a:rPr lang="zh-CN" altLang="en-US" sz="1600"/>
              <a:t>、</a:t>
            </a:r>
            <a:r>
              <a:rPr lang="en-US" altLang="zh-CN" sz="1600"/>
              <a:t> </a:t>
            </a:r>
            <a:r>
              <a:rPr lang="zh-CN" altLang="en-US" sz="1600"/>
              <a:t>类依赖分析器</a:t>
            </a:r>
            <a:r>
              <a:rPr lang="en-US" altLang="zh-CN" sz="1600"/>
              <a:t>jdeps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 b="1"/>
              <a:t>Stream API</a:t>
            </a:r>
            <a:r>
              <a:rPr lang="en-US" altLang="zh-CN" sz="1600"/>
              <a:t> −</a:t>
            </a:r>
            <a:r>
              <a:rPr lang="zh-CN" altLang="en-US" sz="1600"/>
              <a:t>新添加的</a:t>
            </a:r>
            <a:r>
              <a:rPr lang="en-US" altLang="zh-CN" sz="1600"/>
              <a:t>Stream API</a:t>
            </a:r>
            <a:r>
              <a:rPr lang="zh-CN" altLang="en-US" sz="1600"/>
              <a:t>（</a:t>
            </a:r>
            <a:r>
              <a:rPr lang="en-US" altLang="zh-CN" sz="1600"/>
              <a:t>java.util.stream</a:t>
            </a:r>
            <a:r>
              <a:rPr lang="zh-CN" altLang="en-US" sz="1600"/>
              <a:t>）</a:t>
            </a:r>
            <a:r>
              <a:rPr lang="en-US" altLang="zh-CN" sz="1600"/>
              <a:t> </a:t>
            </a:r>
            <a:r>
              <a:rPr lang="zh-CN" altLang="en-US" sz="1600"/>
              <a:t>把真正的函数式编程风格引入到</a:t>
            </a:r>
            <a:r>
              <a:rPr lang="en-US" altLang="zh-CN" sz="1600"/>
              <a:t>Java</a:t>
            </a:r>
            <a:r>
              <a:rPr lang="zh-CN" altLang="en-US" sz="1600"/>
              <a:t>中。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 b="1"/>
              <a:t>Date Time API</a:t>
            </a:r>
            <a:r>
              <a:rPr lang="en-US" altLang="zh-CN" sz="1600"/>
              <a:t> − </a:t>
            </a:r>
            <a:r>
              <a:rPr lang="zh-CN" altLang="en-US" sz="1600"/>
              <a:t>加强对日期与时间的处理。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 b="1"/>
              <a:t>Optional </a:t>
            </a:r>
            <a:r>
              <a:rPr lang="zh-CN" altLang="en-US" sz="1600" b="1"/>
              <a:t>类</a:t>
            </a:r>
            <a:r>
              <a:rPr lang="en-US" altLang="zh-CN" sz="1600"/>
              <a:t> − Optional </a:t>
            </a:r>
            <a:r>
              <a:rPr lang="zh-CN" altLang="en-US" sz="1600"/>
              <a:t>类已经成为</a:t>
            </a:r>
            <a:r>
              <a:rPr lang="en-US" altLang="zh-CN" sz="1600"/>
              <a:t> Java 8 </a:t>
            </a:r>
            <a:r>
              <a:rPr lang="zh-CN" altLang="en-US" sz="1600"/>
              <a:t>类库的一部分，用来解决空指针异常。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 b="1"/>
              <a:t>Nashorn</a:t>
            </a:r>
            <a:r>
              <a:rPr lang="zh-CN" altLang="en-US" sz="1600" b="1"/>
              <a:t>，</a:t>
            </a:r>
            <a:r>
              <a:rPr lang="en-US" altLang="zh-CN" sz="1600" b="1"/>
              <a:t> JavaScript </a:t>
            </a:r>
            <a:r>
              <a:rPr lang="zh-CN" altLang="en-US" sz="1600" b="1"/>
              <a:t>引擎</a:t>
            </a:r>
            <a:r>
              <a:rPr lang="en-US" altLang="zh-CN" sz="1600"/>
              <a:t> − Java 8</a:t>
            </a:r>
            <a:r>
              <a:rPr lang="zh-CN" altLang="en-US" sz="1600"/>
              <a:t>提供了一个新的</a:t>
            </a:r>
            <a:r>
              <a:rPr lang="en-US" altLang="zh-CN" sz="1600"/>
              <a:t>Nashorn javascript</a:t>
            </a:r>
            <a:r>
              <a:rPr lang="zh-CN" altLang="en-US" sz="1600"/>
              <a:t>引擎，它允许我们在</a:t>
            </a:r>
            <a:r>
              <a:rPr lang="en-US" altLang="zh-CN" sz="1600"/>
              <a:t>JVM</a:t>
            </a:r>
            <a:r>
              <a:rPr lang="zh-CN" altLang="en-US" sz="1600"/>
              <a:t>上运行特定的</a:t>
            </a:r>
            <a:r>
              <a:rPr lang="en-US" altLang="zh-CN" sz="1600"/>
              <a:t>javascript</a:t>
            </a:r>
            <a:r>
              <a:rPr lang="zh-CN" altLang="en-US" sz="1600"/>
              <a:t>应用。</a:t>
            </a:r>
            <a:endParaRPr lang="zh-CN" alt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/>
              <a:t>更多特性可见官网：</a:t>
            </a:r>
            <a:r>
              <a:rPr lang="en-US" altLang="zh-CN" sz="1600">
                <a:hlinkClick r:id="rId1" tooltip="" action="ppaction://hlinkfile"/>
              </a:rPr>
              <a:t>JDK8</a:t>
            </a:r>
            <a:r>
              <a:rPr lang="zh-CN" altLang="en-US" sz="1600">
                <a:hlinkClick r:id="rId1" tooltip="" action="ppaction://hlinkfile"/>
              </a:rPr>
              <a:t>的新情况</a:t>
            </a:r>
            <a:endParaRPr lang="zh-CN" altLang="en-US" sz="16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Java MySQL </a:t>
            </a:r>
            <a:r>
              <a:rPr lang="zh-CN" altLang="en-US" sz="2000"/>
              <a:t>连接：</a:t>
            </a: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endParaRPr lang="en-US" altLang="zh-CN" sz="20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229600" cy="647065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endParaRPr lang="zh-CN" alt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25069</Words>
  <Application>WPS 演示</Application>
  <PresentationFormat/>
  <Paragraphs>786</Paragraphs>
  <Slides>81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81</vt:i4>
      </vt:variant>
    </vt:vector>
  </HeadingPairs>
  <TitlesOfParts>
    <vt:vector size="89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1_默认设计模板</vt:lpstr>
      <vt:lpstr>Java教程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Java面向对象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Java高级教程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Java基础语法</dc:title>
  <dc:creator>asus</dc:creator>
  <cp:lastModifiedBy>ℳ๓诗情</cp:lastModifiedBy>
  <cp:revision>252</cp:revision>
  <dcterms:created xsi:type="dcterms:W3CDTF">2026-02-05T07:20:00Z</dcterms:created>
  <dcterms:modified xsi:type="dcterms:W3CDTF">2026-03-23T12:58:14Z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52D5A3ECC9164E8FA6E0D786A8D58348_12</vt:lpwstr>
  </property>
</Properties>
</file>